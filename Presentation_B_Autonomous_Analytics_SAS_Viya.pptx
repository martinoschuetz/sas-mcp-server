
<file path=[Content_Types].xml><?xml version="1.0" encoding="utf-8"?>
<Types xmlns="http://schemas.openxmlformats.org/package/2006/content-types">
  <Default Extension="emf" ContentType="image/x-emf"/>
  <Default Extension="fntdata" ContentType="application/x-fontdata"/>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handoutMasters/handoutMaster1.xml" ContentType="application/vnd.openxmlformats-officedocument.presentationml.handoutMaster+xml"/>
  <Override PartName="/ppt/media/image1.svg" ContentType="image/svg+xml"/>
  <Override PartName="/ppt/media/image3.svg" ContentType="image/svg+xml"/>
  <Override PartName="/ppt/media/image4.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816" r:id="rId4"/>
    <p:sldMasterId id="2147483839" r:id="rId5"/>
  </p:sldMasterIdLst>
  <p:notesMasterIdLst>
    <p:notesMasterId r:id="rId18"/>
  </p:notesMasterIdLst>
  <p:handoutMasterIdLst>
    <p:handoutMasterId r:id="rId19"/>
  </p:handoutMasterIdLst>
  <p:sldIdLst>
    <p:sldId id="256" r:id="rId17"/>
    <p:sldId id="257" r:id="rId16"/>
    <p:sldId id="258" r:id="rId15"/>
    <p:sldId id="259" r:id="rId14"/>
    <p:sldId id="260" r:id="rId13"/>
    <p:sldId id="261" r:id="rId12"/>
    <p:sldId id="262" r:id="rId11"/>
    <p:sldId id="263" r:id="rId10"/>
    <p:sldId id="264" r:id="rId9"/>
    <p:sldId id="265" r:id="rId8"/>
    <p:sldId id="266" r:id="rId7"/>
    <p:sldId id="267" r:id="rId6"/>
    <p:sldId id="268" r:id="rId30"/>
    <p:sldId id="269" r:id="rId31"/>
    <p:sldId id="270" r:id="rId32"/>
    <p:sldId id="271" r:id="rId33"/>
  </p:sldIdLst>
  <p:sldSz cx="18288000" cy="10287000"/>
  <p:notesSz cx="6858000" cy="9144000"/>
  <p:embeddedFontLst>
    <p:embeddedFont>
      <p:font typeface="Anova Bold" panose="020B0604020202020204" charset="0"/>
      <p:bold r:id="rId20"/>
      <p:boldItalic r:id="rId21"/>
    </p:embeddedFont>
    <p:embeddedFont>
      <p:font typeface="Anova Light" panose="020B0604020202020204" charset="0"/>
      <p:regular r:id="rId22"/>
      <p:italic r:id="rId23"/>
    </p:embeddedFont>
  </p:embeddedFontLst>
  <p:custDataLst>
    <p:tags r:id="rId24"/>
  </p:custDataLst>
  <p:defaultTextStyle>
    <a:defPPr>
      <a:defRPr lang="en-US"/>
    </a:defPPr>
    <a:lvl1pPr marL="0" algn="l" defTabSz="914400" rtl="0" eaLnBrk="1" latinLnBrk="0" hangingPunct="1">
      <a:defRPr sz="3600" kern="1200">
        <a:solidFill>
          <a:schemeClr val="tx1"/>
        </a:solidFill>
        <a:latin typeface="+mn-lt"/>
        <a:ea typeface="+mn-ea"/>
        <a:cs typeface="+mn-cs"/>
      </a:defRPr>
    </a:lvl1pPr>
    <a:lvl2pPr marL="914400" algn="l" defTabSz="914400" rtl="0" eaLnBrk="1" latinLnBrk="0" hangingPunct="1">
      <a:defRPr sz="3600" kern="1200">
        <a:solidFill>
          <a:schemeClr val="tx1"/>
        </a:solidFill>
        <a:latin typeface="+mn-lt"/>
        <a:ea typeface="+mn-ea"/>
        <a:cs typeface="+mn-cs"/>
      </a:defRPr>
    </a:lvl2pPr>
    <a:lvl3pPr marL="1828800" algn="l" defTabSz="914400" rtl="0" eaLnBrk="1" latinLnBrk="0" hangingPunct="1">
      <a:defRPr sz="3600" kern="1200">
        <a:solidFill>
          <a:schemeClr val="tx1"/>
        </a:solidFill>
        <a:latin typeface="+mn-lt"/>
        <a:ea typeface="+mn-ea"/>
        <a:cs typeface="+mn-cs"/>
      </a:defRPr>
    </a:lvl3pPr>
    <a:lvl4pPr marL="2743200" algn="l" defTabSz="914400" rtl="0" eaLnBrk="1" latinLnBrk="0" hangingPunct="1">
      <a:defRPr sz="3600" kern="1200">
        <a:solidFill>
          <a:schemeClr val="tx1"/>
        </a:solidFill>
        <a:latin typeface="+mn-lt"/>
        <a:ea typeface="+mn-ea"/>
        <a:cs typeface="+mn-cs"/>
      </a:defRPr>
    </a:lvl4pPr>
    <a:lvl5pPr marL="3657600" algn="l" defTabSz="914400" rtl="0" eaLnBrk="1" latinLnBrk="0" hangingPunct="1">
      <a:defRPr sz="3600" kern="1200">
        <a:solidFill>
          <a:schemeClr val="tx1"/>
        </a:solidFill>
        <a:latin typeface="+mn-lt"/>
        <a:ea typeface="+mn-ea"/>
        <a:cs typeface="+mn-cs"/>
      </a:defRPr>
    </a:lvl5pPr>
    <a:lvl6pPr marL="4572000" algn="l" defTabSz="914400" rtl="0" eaLnBrk="1" latinLnBrk="0" hangingPunct="1">
      <a:defRPr sz="3600" kern="1200">
        <a:solidFill>
          <a:schemeClr val="tx1"/>
        </a:solidFill>
        <a:latin typeface="+mn-lt"/>
        <a:ea typeface="+mn-ea"/>
        <a:cs typeface="+mn-cs"/>
      </a:defRPr>
    </a:lvl6pPr>
    <a:lvl7pPr marL="5486400" algn="l" defTabSz="914400" rtl="0" eaLnBrk="1" latinLnBrk="0" hangingPunct="1">
      <a:defRPr sz="3600" kern="1200">
        <a:solidFill>
          <a:schemeClr val="tx1"/>
        </a:solidFill>
        <a:latin typeface="+mn-lt"/>
        <a:ea typeface="+mn-ea"/>
        <a:cs typeface="+mn-cs"/>
      </a:defRPr>
    </a:lvl7pPr>
    <a:lvl8pPr marL="6400800" algn="l" defTabSz="914400" rtl="0" eaLnBrk="1" latinLnBrk="0" hangingPunct="1">
      <a:defRPr sz="3600" kern="1200">
        <a:solidFill>
          <a:schemeClr val="tx1"/>
        </a:solidFill>
        <a:latin typeface="+mn-lt"/>
        <a:ea typeface="+mn-ea"/>
        <a:cs typeface="+mn-cs"/>
      </a:defRPr>
    </a:lvl8pPr>
    <a:lvl9pPr marL="7315200" algn="l" defTabSz="914400" rtl="0" eaLnBrk="1" latinLnBrk="0" hangingPunct="1">
      <a:defRPr sz="3600" kern="1200">
        <a:solidFill>
          <a:schemeClr val="tx1"/>
        </a:solidFill>
        <a:latin typeface="+mn-lt"/>
        <a:ea typeface="+mn-ea"/>
        <a:cs typeface="+mn-cs"/>
      </a:defRPr>
    </a:lvl9pPr>
  </p:defaultTextStyle>
  <p:extLst>
    <p:ext uri="{521415D9-36F7-43E2-AB2F-B90AF26B5E84}">
      <p14:sectionLst xmlns:p14="http://schemas.microsoft.com/office/powerpoint/2010/main">
        <p14:section name="Usage Instructions" id="{23B92DC1-C143-40B4-B271-9B765ADE1D33}">
          <p14:sldIdLst>
            <p14:sldId id="2147477435"/>
            <p14:sldId id="2147483610"/>
            <p14:sldId id="2147483611"/>
            <p14:sldId id="2147483612"/>
            <p14:sldId id="2147483613"/>
            <p14:sldId id="2147483614"/>
          </p14:sldIdLst>
        </p14:section>
        <p14:section name="Default Section" id="{E9C3829F-2C56-4915-AA34-5F93EE359221}">
          <p14:sldIdLst>
            <p14:sldId id="2147477424"/>
            <p14:sldId id="2147477425"/>
            <p14:sldId id="2147477426"/>
            <p14:sldId id="2147477430"/>
            <p14:sldId id="2147477429"/>
            <p14:sldId id="2147477427"/>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B708D14-BD54-920F-18BB-8395E60AE589}" name="Alice McClure" initials="AM" userId="S::alice.mcclure@sas.com::6210c489-566a-4639-8da1-84bcfd842f43" providerId="AD"/>
  <p188:author id="{6DFEA739-C4EE-3CDE-94E6-A95954A908DE}" name="Tine Haaber" initials="TH" userId="S::Tine.Haaber@SAS.COM::b28dffea-6139-4081-9090-e82e8f843744"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6247" autoAdjust="0"/>
  </p:normalViewPr>
  <p:slideViewPr>
    <p:cSldViewPr snapToGrid="0">
      <p:cViewPr varScale="1">
        <p:scale>
          <a:sx n="74" d="100"/>
          <a:sy n="74" d="100"/>
        </p:scale>
        <p:origin x="570" y="84"/>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81" d="100"/>
          <a:sy n="81" d="100"/>
        </p:scale>
        <p:origin x="2784" y="108"/>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 Target="slides/slide12.xml"/><Relationship Id="rId7" Type="http://schemas.openxmlformats.org/officeDocument/2006/relationships/slide" Target="slides/slide11.xml"/><Relationship Id="rId8" Type="http://schemas.openxmlformats.org/officeDocument/2006/relationships/slide" Target="slides/slide10.xml"/><Relationship Id="rId9" Type="http://schemas.openxmlformats.org/officeDocument/2006/relationships/slide" Target="slides/slide9.xml"/><Relationship Id="rId10" Type="http://schemas.openxmlformats.org/officeDocument/2006/relationships/slide" Target="slides/slide8.xml"/><Relationship Id="rId11" Type="http://schemas.openxmlformats.org/officeDocument/2006/relationships/slide" Target="slides/slide7.xml"/><Relationship Id="rId12" Type="http://schemas.openxmlformats.org/officeDocument/2006/relationships/slide" Target="slides/slide6.xml"/><Relationship Id="rId13" Type="http://schemas.openxmlformats.org/officeDocument/2006/relationships/slide" Target="slides/slide5.xml"/><Relationship Id="rId14" Type="http://schemas.openxmlformats.org/officeDocument/2006/relationships/slide" Target="slides/slide4.xml"/><Relationship Id="rId15" Type="http://schemas.openxmlformats.org/officeDocument/2006/relationships/slide" Target="slides/slide3.xml"/><Relationship Id="rId16" Type="http://schemas.openxmlformats.org/officeDocument/2006/relationships/slide" Target="slides/slide2.xml"/><Relationship Id="rId17" Type="http://schemas.openxmlformats.org/officeDocument/2006/relationships/slide" Target="slides/slide1.xml"/><Relationship Id="rId18" Type="http://schemas.openxmlformats.org/officeDocument/2006/relationships/notesMaster" Target="notesMasters/notesMaster1.xml"/><Relationship Id="rId19" Type="http://schemas.openxmlformats.org/officeDocument/2006/relationships/handoutMaster" Target="handoutMasters/handoutMaster1.xml"/><Relationship Id="rId20" Type="http://schemas.openxmlformats.org/officeDocument/2006/relationships/font" Target="fonts/font1.fntdata"/><Relationship Id="rId21" Type="http://schemas.openxmlformats.org/officeDocument/2006/relationships/font" Target="fonts/font2.fntdata"/><Relationship Id="rId22" Type="http://schemas.openxmlformats.org/officeDocument/2006/relationships/font" Target="fonts/font3.fntdata"/><Relationship Id="rId23" Type="http://schemas.openxmlformats.org/officeDocument/2006/relationships/font" Target="fonts/font4.fntdata"/><Relationship Id="rId24" Type="http://schemas.openxmlformats.org/officeDocument/2006/relationships/tags" Target="tags/tag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29" Type="http://schemas.microsoft.com/office/2018/10/relationships/authors" Target="authors.xml"/><Relationship Id="rId30" Type="http://schemas.openxmlformats.org/officeDocument/2006/relationships/slide" Target="slides/slide13.xml"/><Relationship Id="rId31" Type="http://schemas.openxmlformats.org/officeDocument/2006/relationships/slide" Target="slides/slide14.xml"/><Relationship Id="rId32" Type="http://schemas.openxmlformats.org/officeDocument/2006/relationships/slide" Target="slides/slide15.xml"/><Relationship Id="rId33" Type="http://schemas.openxmlformats.org/officeDocument/2006/relationships/slide" Target="slides/slide1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 Id="rId2" Type="http://schemas.openxmlformats.org/officeDocument/2006/relationships/tags" Target="../tags/tag26.xml"/><Relationship Id="rId3" Type="http://schemas.openxmlformats.org/officeDocument/2006/relationships/image" Target="../media/image1.svg"/></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E01A56FA-0DF4-15B7-A216-DB01CF5CEB6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5CE34E3-7E5C-436A-9E6D-2FFC8FFCFCBF}" type="datetimeFigureOut">
              <a:rPr lang="en-US" smtClean="0">
                <a:latin typeface="Anova Light" panose="020B0403020203020204" pitchFamily="34" charset="0"/>
              </a:rPr>
              <a:t>10/12/2026</a:t>
            </a:fld>
            <a:endParaRPr lang="en-US" dirty="0">
              <a:latin typeface="Anova Light" panose="020B0403020203020204" pitchFamily="34" charset="0"/>
            </a:endParaRPr>
          </a:p>
        </p:txBody>
      </p:sp>
      <p:sp>
        <p:nvSpPr>
          <p:cNvPr id="5" name="Slide Number Placeholder 4">
            <a:extLst>
              <a:ext uri="{FF2B5EF4-FFF2-40B4-BE49-F238E27FC236}">
                <a16:creationId xmlns:a16="http://schemas.microsoft.com/office/drawing/2014/main" id="{BA52EC1A-046B-DC8F-4AAC-4BB03667CCC0}"/>
              </a:ext>
            </a:extLst>
          </p:cNvPr>
          <p:cNvSpPr>
            <a:spLocks noGrp="1"/>
          </p:cNvSpPr>
          <p:nvPr>
            <p:ph type="sldNum" sz="quarter" idx="3"/>
          </p:nvPr>
        </p:nvSpPr>
        <p:spPr>
          <a:xfrm>
            <a:off x="0" y="0"/>
            <a:ext cx="2971800" cy="458787"/>
          </a:xfrm>
          <a:prstGeom prst="rect">
            <a:avLst/>
          </a:prstGeom>
        </p:spPr>
        <p:txBody>
          <a:bodyPr vert="horz" lIns="91440" tIns="45720" rIns="91440" bIns="45720" rtlCol="0" anchor="b"/>
          <a:lstStyle>
            <a:lvl1pPr algn="r">
              <a:defRPr sz="1200"/>
            </a:lvl1pPr>
          </a:lstStyle>
          <a:p>
            <a:pPr algn="l"/>
            <a:fld id="{C4EF46A2-9381-4C51-8277-3C7F2938E9F9}" type="slidenum">
              <a:rPr lang="en-US" smtClean="0">
                <a:latin typeface="Anova Light" panose="020B0403020203020204" pitchFamily="34" charset="0"/>
              </a:rPr>
              <a:pPr algn="l"/>
              <a:t>‹#›</a:t>
            </a:fld>
            <a:endParaRPr lang="en-US" dirty="0">
              <a:latin typeface="Anova Light" panose="020B0403020203020204" pitchFamily="34" charset="0"/>
            </a:endParaRPr>
          </a:p>
        </p:txBody>
      </p:sp>
      <p:sp>
        <p:nvSpPr>
          <p:cNvPr id="2" name="TextBox 4">
            <a:extLst>
              <a:ext uri="{FF2B5EF4-FFF2-40B4-BE49-F238E27FC236}">
                <a16:creationId xmlns:a16="http://schemas.microsoft.com/office/drawing/2014/main" id="{7A8A3785-BF0E-6C8B-8B7B-0521D7696A29}"/>
              </a:ext>
            </a:extLst>
          </p:cNvPr>
          <p:cNvSpPr txBox="1"/>
          <p:nvPr/>
        </p:nvSpPr>
        <p:spPr>
          <a:xfrm>
            <a:off x="685800" y="8879554"/>
            <a:ext cx="2514600" cy="169277"/>
          </a:xfrm>
          <a:prstGeom prst="rect">
            <a:avLst/>
          </a:prstGeom>
          <a:noFill/>
        </p:spPr>
        <p:txBody>
          <a:bodyPr wrap="square" lIns="0" anchor="b" anchorCtr="0">
            <a:spAutoFit/>
          </a:bodyPr>
          <a:lstStyle/>
          <a:p>
            <a:pPr marL="0" marR="0" lvl="0" indent="0" algn="l" defTabSz="274313" rtl="0" eaLnBrk="0" fontAlgn="auto" latinLnBrk="0" hangingPunct="0">
              <a:lnSpc>
                <a:spcPct val="100000"/>
              </a:lnSpc>
              <a:spcBef>
                <a:spcPts val="0"/>
              </a:spcBef>
              <a:spcAft>
                <a:spcPts val="0"/>
              </a:spcAft>
              <a:buClrTx/>
              <a:buSzTx/>
              <a:buFontTx/>
              <a:buNone/>
              <a:tabLst/>
              <a:defRPr/>
            </a:pPr>
            <a:r>
              <a:rPr kumimoji="0" lang="en-US" sz="500" b="0" i="0" u="none" strike="noStrike" kern="300" cap="none" spc="50" normalizeH="0" baseline="0" noProof="0" dirty="0">
                <a:ln>
                  <a:noFill/>
                </a:ln>
                <a:solidFill>
                  <a:schemeClr val="accent5">
                    <a:lumMod val="60000"/>
                    <a:lumOff val="40000"/>
                  </a:schemeClr>
                </a:solidFill>
                <a:effectLst/>
                <a:uLnTx/>
                <a:uFillTx/>
                <a:latin typeface="Anova Light" panose="020B0403020203020204" pitchFamily="34" charset="0"/>
                <a:ea typeface="Anova Bold" panose="020B0703020203020204" pitchFamily="34" charset="0"/>
                <a:cs typeface="Anova Light" panose="020B0403020203020204" pitchFamily="34" charset="0"/>
              </a:rPr>
              <a:t>Copyright © SAS Institute Inc. All rights reserved.</a:t>
            </a:r>
          </a:p>
        </p:txBody>
      </p:sp>
      <p:pic>
        <p:nvPicPr>
          <p:cNvPr id="4" name="Picture 6">
            <a:extLst>
              <a:ext uri="{FF2B5EF4-FFF2-40B4-BE49-F238E27FC236}">
                <a16:creationId xmlns:a16="http://schemas.microsoft.com/office/drawing/2014/main" id="{3F6C63C1-B02C-0586-DDA1-7B0EB003F6D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5992336" y="8788172"/>
            <a:ext cx="627951" cy="260659"/>
          </a:xfrm>
          <a:prstGeom prst="rect">
            <a:avLst/>
          </a:prstGeom>
        </p:spPr>
      </p:pic>
      <p:sp>
        <p:nvSpPr>
          <p:cNvPr id="6" name="TextBox 2">
            <a:extLst>
              <a:ext uri="{FF2B5EF4-FFF2-40B4-BE49-F238E27FC236}">
                <a16:creationId xmlns:a16="http://schemas.microsoft.com/office/drawing/2014/main" id="{FDEF6B2A-6211-F846-C47F-DC10CAA8C891}"/>
              </a:ext>
            </a:extLst>
          </p:cNvPr>
          <p:cNvSpPr txBox="1"/>
          <p:nvPr/>
        </p:nvSpPr>
        <p:spPr>
          <a:xfrm>
            <a:off x="2493335" y="8732520"/>
            <a:ext cx="1871330" cy="215444"/>
          </a:xfrm>
          <a:prstGeom prst="rect">
            <a:avLst/>
          </a:prstGeom>
          <a:noFill/>
        </p:spPr>
        <p:txBody>
          <a:bodyPr wrap="square" rtlCol="0" anchor="ctr">
            <a:spAutoFit/>
          </a:bodyPr>
          <a:lstStyle/>
          <a:p>
            <a:pPr algn="ctr" defTabSz="182880"/>
            <a:r>
              <a:rPr lang="en-US" sz="800" dirty="0">
                <a:solidFill>
                  <a:schemeClr val="accent4"/>
                </a:solidFill>
                <a:latin typeface="Anova Light" panose="020B0403020203020204" pitchFamily="34" charset="0"/>
              </a:rPr>
              <a:t>sas.com</a:t>
            </a:r>
          </a:p>
        </p:txBody>
      </p:sp>
    </p:spTree>
    <p:custDataLst>
      <p:tags r:id="rId2"/>
    </p:custDataLst>
    <p:extLst>
      <p:ext uri="{BB962C8B-B14F-4D97-AF65-F5344CB8AC3E}">
        <p14:creationId xmlns:p14="http://schemas.microsoft.com/office/powerpoint/2010/main" val="26268924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1.svg"/></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solidFill>
                  <a:schemeClr val="tx1"/>
                </a:solidFill>
                <a:latin typeface="Anova Light" panose="020B0403020203020204" pitchFamily="34" charset="0"/>
              </a:defRPr>
            </a:lvl1pPr>
          </a:lstStyle>
          <a:p>
            <a:fld id="{D46682E9-A1D3-F04F-A14F-ABAA4D2618F2}" type="datetimeFigureOut">
              <a:rPr lang="en-US" smtClean="0"/>
              <a:pPr/>
              <a:t>10/12/2026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TextBox 4">
            <a:extLst>
              <a:ext uri="{FF2B5EF4-FFF2-40B4-BE49-F238E27FC236}">
                <a16:creationId xmlns:a16="http://schemas.microsoft.com/office/drawing/2014/main" id="{CFAEC8D7-15A6-6F9F-E0B7-CB248431A52A}"/>
              </a:ext>
            </a:extLst>
          </p:cNvPr>
          <p:cNvSpPr txBox="1"/>
          <p:nvPr/>
        </p:nvSpPr>
        <p:spPr>
          <a:xfrm>
            <a:off x="685800" y="8879554"/>
            <a:ext cx="2514600" cy="169277"/>
          </a:xfrm>
          <a:prstGeom prst="rect">
            <a:avLst/>
          </a:prstGeom>
          <a:noFill/>
        </p:spPr>
        <p:txBody>
          <a:bodyPr wrap="square" lIns="0" anchor="b" anchorCtr="0">
            <a:spAutoFit/>
          </a:bodyPr>
          <a:lstStyle/>
          <a:p>
            <a:pPr marL="0" marR="0" lvl="0" indent="0" algn="l" defTabSz="274313" rtl="0" eaLnBrk="0" fontAlgn="auto" latinLnBrk="0" hangingPunct="0">
              <a:lnSpc>
                <a:spcPct val="100000"/>
              </a:lnSpc>
              <a:spcBef>
                <a:spcPts val="0"/>
              </a:spcBef>
              <a:spcAft>
                <a:spcPts val="0"/>
              </a:spcAft>
              <a:buClrTx/>
              <a:buSzTx/>
              <a:buFontTx/>
              <a:buNone/>
              <a:tabLst/>
              <a:defRPr/>
            </a:pPr>
            <a:r>
              <a:rPr kumimoji="0" lang="en-US" sz="500" b="0" i="0" u="none" strike="noStrike" kern="300" cap="none" spc="50" normalizeH="0" baseline="0" noProof="0" dirty="0">
                <a:ln>
                  <a:noFill/>
                </a:ln>
                <a:solidFill>
                  <a:schemeClr val="accent5">
                    <a:lumMod val="60000"/>
                    <a:lumOff val="40000"/>
                  </a:schemeClr>
                </a:solidFill>
                <a:effectLst/>
                <a:uLnTx/>
                <a:uFillTx/>
                <a:latin typeface="Anova Light" panose="020B0403020203020204" pitchFamily="34" charset="0"/>
                <a:ea typeface="Anova Bold" panose="020B0703020203020204" pitchFamily="34" charset="0"/>
                <a:cs typeface="Anova Light" panose="020B0403020203020204" pitchFamily="34" charset="0"/>
              </a:rPr>
              <a:t>Copyright © SAS Institute Inc. All rights reserved.</a:t>
            </a:r>
          </a:p>
        </p:txBody>
      </p:sp>
      <p:sp>
        <p:nvSpPr>
          <p:cNvPr id="10" name="Slide Number Placeholder 4">
            <a:extLst>
              <a:ext uri="{FF2B5EF4-FFF2-40B4-BE49-F238E27FC236}">
                <a16:creationId xmlns:a16="http://schemas.microsoft.com/office/drawing/2014/main" id="{9DE3AD8C-AE96-943C-8DAF-3D5594863A36}"/>
              </a:ext>
            </a:extLst>
          </p:cNvPr>
          <p:cNvSpPr>
            <a:spLocks noGrp="1"/>
          </p:cNvSpPr>
          <p:nvPr>
            <p:ph type="sldNum" sz="quarter" idx="5"/>
          </p:nvPr>
        </p:nvSpPr>
        <p:spPr>
          <a:xfrm>
            <a:off x="0" y="0"/>
            <a:ext cx="2971800" cy="458787"/>
          </a:xfrm>
          <a:prstGeom prst="rect">
            <a:avLst/>
          </a:prstGeom>
        </p:spPr>
        <p:txBody>
          <a:bodyPr vert="horz" lIns="91440" tIns="45720" rIns="91440" bIns="45720" rtlCol="0" anchor="b"/>
          <a:lstStyle>
            <a:lvl1pPr algn="r">
              <a:defRPr sz="1200" b="0" i="0">
                <a:solidFill>
                  <a:schemeClr val="tx1"/>
                </a:solidFill>
                <a:latin typeface="Anova Light" panose="020B0403020203020204" pitchFamily="34" charset="0"/>
              </a:defRPr>
            </a:lvl1pPr>
          </a:lstStyle>
          <a:p>
            <a:pPr algn="l"/>
            <a:fld id="{C4EF46A2-9381-4C51-8277-3C7F2938E9F9}" type="slidenum">
              <a:rPr lang="en-US" smtClean="0"/>
              <a:pPr algn="l"/>
              <a:t>‹#›</a:t>
            </a:fld>
            <a:endParaRPr lang="en-US" dirty="0"/>
          </a:p>
        </p:txBody>
      </p:sp>
      <p:pic>
        <p:nvPicPr>
          <p:cNvPr id="2" name="Picture 6">
            <a:extLst>
              <a:ext uri="{FF2B5EF4-FFF2-40B4-BE49-F238E27FC236}">
                <a16:creationId xmlns:a16="http://schemas.microsoft.com/office/drawing/2014/main" id="{D7A2D390-EEAD-C632-F276-85D15BA57F0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p:blipFill>
        <p:spPr>
          <a:xfrm>
            <a:off x="5992336" y="8788172"/>
            <a:ext cx="627951" cy="260659"/>
          </a:xfrm>
          <a:prstGeom prst="rect">
            <a:avLst/>
          </a:prstGeom>
        </p:spPr>
      </p:pic>
      <p:sp>
        <p:nvSpPr>
          <p:cNvPr id="6" name="TextBox 2">
            <a:extLst>
              <a:ext uri="{FF2B5EF4-FFF2-40B4-BE49-F238E27FC236}">
                <a16:creationId xmlns:a16="http://schemas.microsoft.com/office/drawing/2014/main" id="{F607DE50-086C-7432-5C71-ADF401D86D53}"/>
              </a:ext>
            </a:extLst>
          </p:cNvPr>
          <p:cNvSpPr txBox="1"/>
          <p:nvPr/>
        </p:nvSpPr>
        <p:spPr>
          <a:xfrm>
            <a:off x="2493335" y="8732520"/>
            <a:ext cx="1871330" cy="215444"/>
          </a:xfrm>
          <a:prstGeom prst="rect">
            <a:avLst/>
          </a:prstGeom>
          <a:noFill/>
        </p:spPr>
        <p:txBody>
          <a:bodyPr wrap="square" rtlCol="0" anchor="ctr">
            <a:spAutoFit/>
          </a:bodyPr>
          <a:lstStyle/>
          <a:p>
            <a:pPr algn="ctr" defTabSz="182880"/>
            <a:r>
              <a:rPr lang="en-US" sz="800" dirty="0">
                <a:solidFill>
                  <a:schemeClr val="tx1"/>
                </a:solidFill>
                <a:latin typeface="Anova Light" panose="020B0403020203020204" pitchFamily="34" charset="0"/>
              </a:rPr>
              <a:t>sas.com</a:t>
            </a:r>
          </a:p>
        </p:txBody>
      </p:sp>
    </p:spTree>
    <p:extLst>
      <p:ext uri="{BB962C8B-B14F-4D97-AF65-F5344CB8AC3E}">
        <p14:creationId xmlns:p14="http://schemas.microsoft.com/office/powerpoint/2010/main" val="3625376775"/>
      </p:ext>
    </p:extLst>
  </p:cSld>
  <p:clrMap bg1="lt1" tx1="dk1" bg2="lt2" tx2="dk2" accent1="accent1" accent2="accent2" accent3="accent3" accent4="accent4" accent5="accent5" accent6="accent6" hlink="hlink" folHlink="folHlink"/>
  <p:notesStyle>
    <a:lvl1pPr marL="342900" indent="-342900" algn="l" defTabSz="1828800" rtl="0" eaLnBrk="1" latinLnBrk="0" hangingPunct="1">
      <a:buClr>
        <a:schemeClr val="accent5"/>
      </a:buClr>
      <a:buFont typeface="Anova Light" panose="020B0403020203020204" pitchFamily="34" charset="0"/>
      <a:buChar char="•"/>
      <a:defRPr sz="2400" b="0" i="0" kern="1200">
        <a:solidFill>
          <a:schemeClr val="tx1"/>
        </a:solidFill>
        <a:latin typeface="Calibri" panose="020F0502020204030204" pitchFamily="34" charset="0"/>
        <a:ea typeface="Calibri" panose="020F0502020204030204" pitchFamily="34" charset="0"/>
        <a:cs typeface="Calibri" panose="020F0502020204030204" pitchFamily="34" charset="0"/>
      </a:defRPr>
    </a:lvl1pPr>
    <a:lvl2pPr marL="1257300" indent="-342900" algn="l" defTabSz="1828800" rtl="0" eaLnBrk="1" latinLnBrk="0" hangingPunct="1">
      <a:buClr>
        <a:schemeClr val="accent5"/>
      </a:buClr>
      <a:buFont typeface="Anova Light" panose="020B0403020203020204" pitchFamily="34" charset="0"/>
      <a:buChar char="–"/>
      <a:defRPr sz="2400" b="0" i="0" kern="1200">
        <a:solidFill>
          <a:schemeClr val="tx1"/>
        </a:solidFill>
        <a:latin typeface="Calibri" panose="020F0502020204030204" pitchFamily="34" charset="0"/>
        <a:ea typeface="Calibri" panose="020F0502020204030204" pitchFamily="34" charset="0"/>
        <a:cs typeface="Calibri" panose="020F0502020204030204" pitchFamily="34" charset="0"/>
      </a:defRPr>
    </a:lvl2pPr>
    <a:lvl3pPr marL="2171700" indent="-342900" algn="l" defTabSz="1828800" rtl="0" eaLnBrk="1" latinLnBrk="0" hangingPunct="1">
      <a:buClr>
        <a:schemeClr val="accent5"/>
      </a:buClr>
      <a:buFont typeface="Anova Light" panose="020B0403020203020204" pitchFamily="34" charset="0"/>
      <a:buChar char="•"/>
      <a:defRPr sz="2400" b="0" i="0" kern="1200">
        <a:solidFill>
          <a:schemeClr val="tx1"/>
        </a:solidFill>
        <a:latin typeface="Calibri" panose="020F0502020204030204" pitchFamily="34" charset="0"/>
        <a:ea typeface="Calibri" panose="020F0502020204030204" pitchFamily="34" charset="0"/>
        <a:cs typeface="Calibri" panose="020F0502020204030204" pitchFamily="34" charset="0"/>
      </a:defRPr>
    </a:lvl3pPr>
    <a:lvl4pPr marL="3086100" indent="-342900" algn="l" defTabSz="1828800" rtl="0" eaLnBrk="1" latinLnBrk="0" hangingPunct="1">
      <a:buClr>
        <a:schemeClr val="accent5"/>
      </a:buClr>
      <a:buFont typeface="Anova Light" panose="020B0403020203020204" pitchFamily="34" charset="0"/>
      <a:buChar char="–"/>
      <a:defRPr sz="2400" b="0" i="0" kern="1200">
        <a:solidFill>
          <a:schemeClr val="tx1"/>
        </a:solidFill>
        <a:latin typeface="Calibri" panose="020F0502020204030204" pitchFamily="34" charset="0"/>
        <a:ea typeface="Calibri" panose="020F0502020204030204" pitchFamily="34" charset="0"/>
        <a:cs typeface="Calibri" panose="020F0502020204030204" pitchFamily="34" charset="0"/>
      </a:defRPr>
    </a:lvl4pPr>
    <a:lvl5pPr marL="4000500" indent="-342900" algn="l" defTabSz="1828800" rtl="0" eaLnBrk="1" latinLnBrk="0" hangingPunct="1">
      <a:buClr>
        <a:schemeClr val="accent5"/>
      </a:buClr>
      <a:buFont typeface="Anova Light" panose="020B0403020203020204" pitchFamily="34" charset="0"/>
      <a:buChar char="•"/>
      <a:defRPr sz="2400" b="0" i="0" kern="1200">
        <a:solidFill>
          <a:schemeClr val="tx1"/>
        </a:solidFill>
        <a:latin typeface="Calibri" panose="020F0502020204030204" pitchFamily="34" charset="0"/>
        <a:ea typeface="Calibri" panose="020F0502020204030204" pitchFamily="34" charset="0"/>
        <a:cs typeface="Calibri" panose="020F0502020204030204" pitchFamily="34" charset="0"/>
      </a:defRPr>
    </a:lvl5pPr>
    <a:lvl6pPr marL="4572000" algn="l" defTabSz="1828800" rtl="0" eaLnBrk="1" latinLnBrk="0" hangingPunct="1">
      <a:defRPr sz="2400" kern="1200">
        <a:solidFill>
          <a:schemeClr val="tx1"/>
        </a:solidFill>
        <a:latin typeface="+mn-lt"/>
        <a:ea typeface="+mn-ea"/>
        <a:cs typeface="+mn-cs"/>
      </a:defRPr>
    </a:lvl6pPr>
    <a:lvl7pPr marL="5486400" algn="l" defTabSz="1828800" rtl="0" eaLnBrk="1" latinLnBrk="0" hangingPunct="1">
      <a:defRPr sz="2400" kern="1200">
        <a:solidFill>
          <a:schemeClr val="tx1"/>
        </a:solidFill>
        <a:latin typeface="+mn-lt"/>
        <a:ea typeface="+mn-ea"/>
        <a:cs typeface="+mn-cs"/>
      </a:defRPr>
    </a:lvl7pPr>
    <a:lvl8pPr marL="6400800" algn="l" defTabSz="1828800" rtl="0" eaLnBrk="1" latinLnBrk="0" hangingPunct="1">
      <a:defRPr sz="2400" kern="1200">
        <a:solidFill>
          <a:schemeClr val="tx1"/>
        </a:solidFill>
        <a:latin typeface="+mn-lt"/>
        <a:ea typeface="+mn-ea"/>
        <a:cs typeface="+mn-cs"/>
      </a:defRPr>
    </a:lvl8pPr>
    <a:lvl9pPr marL="7315200" algn="l" defTabSz="1828800" rtl="0" eaLnBrk="1" latinLnBrk="0" hangingPunct="1">
      <a:defRPr sz="24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Today we are presenting a comprehensive architectural and practical overview of autonomous industrial analytics on SAS Viya.</a:t>
            </a:r>
          </a:p>
          <a:p/>
          <a:p>
            <a:r>
              <a:t>Over the past year, we have tackled a critical challenge: How do you bridge modern Large Language Model agents with heavy, deterministic enterprise analytics? Too often, AI demos stop at toy chatbots generating unverified python scripts. In industrial manufacturing, pharmaceutical fermentation, warranty quality, and supply chain forecasting, you cannot afford hallucinations, and you cannot afford unverified numbers.</a:t>
            </a:r>
          </a:p>
          <a:p/>
          <a:p>
            <a:r>
              <a:t>This presentation covers how we used the open Model Context Protocol (MCP) to turn SAS Viya into an agent-driven analytical engine across four major domains: Event Stream Processing (ESP), the Custom Analysis Framework (CAF) for IoT, SAS Field Quality Analytics (FQA), and Distributed Hierarchical Forecasting with ATSM. We will walk through the business motivation, the production architecture, the code-level implementations, and how this runs in live environments.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sets the foundation for our entire approach.</a:t>
            </a:r>
          </a:p>
          <a:p/>
          <a:p>
            <a:r>
              <a:t>On the left, we look honestly at LLMs today. They have incredible general reasoning, coding, and synthesis capabilities. But in high-stakes environments—like automotive safety recalls or biologics fermentation—an LLM cannot be trusted to do mental math or invent statistical metrics. If an LLM tells you that a warranty failure rate increased by 23%, but hallucinated the denominator, you have an engineering crisis.</a:t>
            </a:r>
          </a:p>
          <a:p/>
          <a:p>
            <a:r>
              <a:t>In the center, SAS Viya represents the gold standard of deterministic computation. CAS handles terabytes in memory, ESP crunches thousands of sensor events per second, and ATSM runs proven time series algorithms.</a:t>
            </a:r>
          </a:p>
          <a:p/>
          <a:p>
            <a:r>
              <a:t>On the right is the breakthrough: Model Context Protocol. By exposing SAS Viya capabilities through typed, governed MCP tool contracts, we give AI agents the ability to operate SAS as their analytical brain. Our golden rule is: 'Numbers come from SAS, words come from you.'</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let's examine the technical architecture of the SAS MCP Server.</a:t>
            </a:r>
          </a:p>
          <a:p/>
          <a:p>
            <a:r>
              <a:t>The server is implemented in modern Python 3.12 on top of FastMCP. We use structured concurrency with anyio, meaning the server can handle multiple concurrent agent requests without blocking.</a:t>
            </a:r>
          </a:p>
          <a:p/>
          <a:p>
            <a:r>
              <a:t>Notice the timeout handling: standard HTTP timeouts of 30 or 60 seconds fail immediately when running large CAS analytical jobs or complex ATSM forecasting tournaments. We engineered the server with VIYA_CLIENT_TIMEOUT set to 1800 seconds (30 minutes), enabling heavy industrial workflows.</a:t>
            </a:r>
          </a:p>
          <a:p/>
          <a:p>
            <a:r>
              <a:t>The tools are partitioned into 15 logical tiers. An agent working on warranty only loads Tier 10 tools; an agent authoring IoT analyses loads Tier 13. Furthermore, we package the server into a hardened Docker container published to Azure Container Registry for SAS Retrieval Agent Manager (RAM), allowing seamless deployment across enterprise AI platforms.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addresses the most critical question any enterprise architect will ask: 'How do you ensure the agent doesn't do something crazy?'</a:t>
            </a:r>
          </a:p>
          <a:p/>
          <a:p>
            <a:r>
              <a:t>We codified a strict governance contract into the agent's system prompt and skill definitions:</a:t>
            </a:r>
          </a:p>
          <a:p>
            <a:r>
              <a:t>First, 'Numbers come from SAS, words come from you.' If an agent is investigating a warranty claim or a bioreactor sensor drift, it cannot summarize numbers it didn't pull directly from a SAS output table.</a:t>
            </a:r>
          </a:p>
          <a:p/>
          <a:p>
            <a:r>
              <a:t>Second, Preflight checks. In traditional UI environments, an analyst might configure a decision tree on a dataset with zero events or 50,000 distinct categorical levels, causing the compute pod to grind to a halt or crash. Our agent runs programmatic preflights: it measures event counts and cardinality first. If the data isn't viable, it tells the user immediately without firing the heavy CAS action.</a:t>
            </a:r>
          </a:p>
          <a:p/>
          <a:p>
            <a:r>
              <a:t>Third, workspace hygiene and security. The agent automatically redacts PII from technician comments and cleans up all temporary CAS tables and data selection nodes.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let's examine our first major domain: Real-time event streaming with SAS Event Stream Processing (ESP).</a:t>
            </a:r>
          </a:p>
          <a:p/>
          <a:p>
            <a:r>
              <a:t>Our case study is with Celivion Therapeutics on the C&amp;F Unified Namespace (UNS) platform, monitoring a train of commercial mammalian cell culture bioreactors.</a:t>
            </a:r>
          </a:p>
          <a:p/>
          <a:p>
            <a:r>
              <a:t>In biomanufacturing, living cells produce therapeutic proteins over a 10 to 14-day fermentation cycle. Even brief disruptions in pH, dissolved oxygen, or temperature can lead to batch collapse, costing millions of dollars.</a:t>
            </a:r>
          </a:p>
          <a:p/>
          <a:p>
            <a:r>
              <a:t>We are streaming 14 continuous sensor tags across units bio01, bio02, and bio03. Our analytical objectives are fourfold: Predicting viability drop-offs, forecasting remaining time-to-harvest based on glucose depletion, preventing catastrophic foam-outs, and detecting multivariate anomalies.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shows the exact technical pipeline we built in SAS ESP and CAS.</a:t>
            </a:r>
          </a:p>
          <a:p/>
          <a:p>
            <a:r>
              <a:t>First, Kafka ingestion: Confluent Cloud streams telemetry as JSON CloudEvents. If you use a rigid ESP XML schema, a single extra field from an upstream sensor will crash the parser. We used the opaquestring pattern in the w_source window, treating the payload as a raw string and delegating parsing to an embedded Python window (w_flatten).</a:t>
            </a:r>
          </a:p>
          <a:p/>
          <a:p>
            <a:r>
              <a:t>Second, the Python window extracts all 14 sensor tags, converts timestamps to microsecond precision, and validates quality flags.</a:t>
            </a:r>
          </a:p>
          <a:p/>
          <a:p>
            <a:r>
              <a:t>Third, the w_to_cas adapter pipes data directly into CAS memory without touching disk, landing in PUBLIC.BMC_RAW.</a:t>
            </a:r>
          </a:p>
          <a:p/>
          <a:p>
            <a:r>
              <a:t>Fourth, the analytical base table (ABT) creation. Bioreactor sensors publish asynchronously. We wrote a SAS DATA step that performs Last Observation Carried Forward (LOCF) and uses a glucose spike rule (jumping from near 0 to &gt;8 g/L) to dynamically detect batch boundaries. This fixed a critical issue where time-to-harvest models previously measured against the end of the entire dataset instead of the active batch.</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let's examine our second major domain: The Custom Analysis Framework (CAF) in SAS Analytics for IoT.</a:t>
            </a:r>
          </a:p>
          <a:p/>
          <a:p>
            <a:r>
              <a:t>SAS Analytics for IoT is a premier enterprise solution, but historically it had a major bottleneck: creating a custom analysis type required clicking through a GUI wizard. You couldn't store an analysis type in Git. You couldn't run a diff on a pull request. And if a parameter name was mistyped, the Visual Analytics report failed silently with a blank screen.</a:t>
            </a:r>
          </a:p>
          <a:p/>
          <a:p>
            <a:r>
              <a:t>We undertook a systematic reverse-engineering project, analyzing 34 standard and custom CAF packages. We decoded the exact structure of input.xml, the embedded SAS CDATA execution blocks, and the Visual Analytics BIRD XML templates.</a:t>
            </a:r>
          </a:p>
          <a:p/>
          <a:p>
            <a:r>
              <a:t>This transformed CAF into 'Analysis-as-Code'. Data scientists can now write algorithms like SVDD (Support Vector Data Description) in Python or SAS, package them programmatically, and deploy them directly to Viya via the MCP server.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breaks down the three architectural layers that make up a Custom Analysis Framework package.</a:t>
            </a:r>
          </a:p>
          <a:p/>
          <a:p>
            <a:r>
              <a:t>Layer 1 is input.xml. This is a declarative schema specifying the UI form. It defines parameter containers, validation ranges, cascading lookups, and conditional interaction rules. Crucially, it also houses the SAS driver code in a CDATA block.</a:t>
            </a:r>
          </a:p>
          <a:p/>
          <a:p>
            <a:r>
              <a:t>Layer 2 is Compute. When the user or agent clicks 'Run', the Viya backend substitutes the form parameters into the SAS code and executes it in CAS. In our SVDD implementation, it calls the svm.svddTrain action set, finding the minimal enclosing hypersphere around normal operating data to detect outliers.</a:t>
            </a:r>
          </a:p>
          <a:p/>
          <a:p>
            <a:r>
              <a:t>Layer 3 is the Visual Analytics output template (BIRD XML). Generating BIRD XML by hand is notoriously difficult. Instead, we design a beautiful report in the Visual Analytics UI, and then use our automated MCP tools to templatize the XML, replacing hardcoded table references with dynamic tokens.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highlights the specialized MCP tools we engineered specifically for CAF authoring in Tier 13.</a:t>
            </a:r>
          </a:p>
          <a:p/>
          <a:p>
            <a:r>
              <a:t>First, describe_caf_schema. LLM context windows are precious. You don't want to load thousands of lines of XML schema into every prompt. This tool enables progressive disclosure: the agent asks for the parameter schema, then the lookup schema, then the interaction rules, authoring each piece with precision.</a:t>
            </a:r>
          </a:p>
          <a:p/>
          <a:p>
            <a:r>
              <a:t>Second, validate_analysis_type_spec. The Viya backend API will silently accept a zip with an invalid report token, but the user will see a broken report. Our validator catches these errors locally before uploading, verifying that every token in the report has a matching producer in the input XML.</a:t>
            </a:r>
          </a:p>
          <a:p/>
          <a:p>
            <a:r>
              <a:t>Third, templatize_va_report. Rather than hand-crafting complex XML reports, a business analyst designs the chart in Visual Analytics, and this tool converts it into a CAF template automatically. Then create_analysis_type deploys it straight to Viya.</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we arrive at our third domain: SAS Field Quality Analytics (FQA).</a:t>
            </a:r>
          </a:p>
          <a:p/>
          <a:p>
            <a:r>
              <a:t>In industries like automotive and commercial vehicles (for instance, MAN Truck &amp; Bus), warranty management is a multi-million-dollar challenge. Warranty costs routinely represent 2 to 4 percent of revenue. If a defect in a turbocharger, transmission, or battery module goes undetected for three extra months, thousands of additional defective vehicles leave the factory floor, multiplying recall costs exponentially.</a:t>
            </a:r>
          </a:p>
          <a:p/>
          <a:p>
            <a:r>
              <a:t>The operational problem is not lack of data—it's data overload. Quality engineers receive hundreds of statistical alerts every month, buried under thousands of diagnostic trouble codes and noisy dealership notes. Furthermore, reporting lag means recent vehicle builds appear healthy simply because claims haven't been filed yet.</a:t>
            </a:r>
          </a:p>
          <a:p/>
          <a:p>
            <a:r>
              <a:t>We built a specialized FQA Agent with 14 analytical tools that automates the entire investigation funnel, turning a 6-hour manual investigation into a 3-minute verified triage.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illustrates the 4-phase investigation funnel codified into the FQA Agent's knowledge base.</a:t>
            </a:r>
          </a:p>
          <a:p/>
          <a:p>
            <a:r>
              <a:t>Phase 0 is Triage: The agent scans early warning runs. It distinguishes between diagonal patterns (which indicate external calendar shocks like winter freeze) and horizontal patterns (which indicate defective build lots).</a:t>
            </a:r>
          </a:p>
          <a:p/>
          <a:p>
            <a:r>
              <a:t>Phase 1 is Descriptive: Running Pareto analyses on labor and part codes to pinpoint the physical component, followed by geographic and platform breakdowns.</a:t>
            </a:r>
          </a:p>
          <a:p/>
          <a:p>
            <a:r>
              <a:t>Phase 4 is Normalization, which our playbook mandates running EARLY: You cannot evaluate raw claim counts because older vehicles naturally accumulate more claims. The agent normalizes by Time in Service (TIS) and fits a Weibull reliability distribution. If the Weibull shape parameter beta is less than 1, you have an infant mortality defect from the factory floor; if beta is greater than 1, you have a wear-out issue.</a:t>
            </a:r>
          </a:p>
          <a:p/>
          <a:p>
            <a:r>
              <a:t>Phase 2 is Segmentation: Running Statistical Drivers and Decision Trees to isolate the precise vehicle configuration, assembly line, and supplier batch responsible for the excess claims.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let's examine our fourth domain: Enterprise Hierarchical Forecasting on SAS Viya.</a:t>
            </a:r>
          </a:p>
          <a:p/>
          <a:p>
            <a:r>
              <a:t>In supply chain and consumer packaged goods (CPG)—such as our work benchmarking retail forecasting on the famous Walmart M5 dataset—organizations must forecast demand across millions of item-store combinations. These series exhibit extreme intermittency, seasonal spikes, and hierarchical constraints.</a:t>
            </a:r>
          </a:p>
          <a:p/>
          <a:p>
            <a:r>
              <a:t>Traditionally, organizations use SAS Model Studio, which is a wonderful visual UI. But modern engineering teams need automated, headless, code-first pipelines that can be triggered by APIs, scheduled via CI/CD, and orchestrated by AI agents.</a:t>
            </a:r>
          </a:p>
          <a:p/>
          <a:p>
            <a:r>
              <a:t>We built a pure-code architecture that runs a massive hybrid forecasting tournament on SAS Viya. We pit SAS Visual Forecasting (PROC TSMODEL with the ATSM package) directly against the Nixtla open-source ecosystem—StatsForecast, MLForecast, Meta Prophet, and deep learning foundation models like Chronos.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reveals the deep engineering required to run distributed forecasting on modern Kubernetes clusters.</a:t>
            </a:r>
          </a:p>
          <a:p/>
          <a:p>
            <a:r>
              <a:t>First, CAS EXTLANG. How do you run Python models like Prophet or LightGBM on hundreds of thousands of series? We used the EXTLANG framework inside PROC TSMODEL. CAS distributes the time series data across its worker nodes, and each node launches Python threads locally in parallel. There is zero network data shuffling.</a:t>
            </a:r>
          </a:p>
          <a:p/>
          <a:p>
            <a:r>
              <a:t>Second, MinT reconciliation. If the bottom-level item forecasts don't sum to the store-level forecasts, procurement breaks down. We implemented Trace Minimization (MinT) in PROC IML, calculating the optimal shrinkage matrix to make the entire retail hierarchy mathematically coherent.</a:t>
            </a:r>
          </a:p>
          <a:p/>
          <a:p>
            <a:r>
              <a:t>Third, Kubernetes resilience. In enterprise clusters, compute pods are strictly capped—in our case, 4 CPUs and a 32Gi memory ceiling. Standard HTTP REST file uploads choke on large datasets. We engineered a streaming architecture using compressed ZIP payloads, SAS binary fcopy, and runtime telemetry that monitors memory per series to prevent cluster crashes.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brings our entire story together into a unified operational loop.</a:t>
            </a:r>
          </a:p>
          <a:p/>
          <a:p>
            <a:r>
              <a:t>In traditional organizations, these four departments operate in total isolation: the IoT engineering team uses ESP; the plant analytics team uses CAF; the warranty team uses FQA; and the supply chain team uses Forecasting. Hand-offs take weeks of emails, spreadsheets, and meetings.</a:t>
            </a:r>
          </a:p>
          <a:p/>
          <a:p>
            <a:r>
              <a:t>With the SAS MCP Server, an autonomous AI agent acts as the cross-departmental orchestrator:</a:t>
            </a:r>
          </a:p>
          <a:p>
            <a:r>
              <a:t>Step 1: ESP flags a continuous streaming vibration anomaly on the assembly line.</a:t>
            </a:r>
          </a:p>
          <a:p>
            <a:r>
              <a:t>Step 2: The agent triggers a CAF SVDD model to confirm the multivariate boundary breach.</a:t>
            </a:r>
          </a:p>
          <a:p>
            <a:r>
              <a:t>Step 3: The agent cross-references warranty data in FQA, identifying an emerging infant-mortality defect in the same component lot.</a:t>
            </a:r>
          </a:p>
          <a:p>
            <a:r>
              <a:t>Step 4: The agent executes our ATSM forecasting tournament to adjust demand forecasts for replacement spare parts across the regional dealer network.</a:t>
            </a:r>
          </a:p>
          <a:p/>
          <a:p>
            <a:r>
              <a:t>This is not science fiction—it is the direct result of connecting SAS Viya's analytical engines via MCP.</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 serves as our live demonstration transition or playbook.</a:t>
            </a:r>
          </a:p>
          <a:p/>
          <a:p>
            <a:r>
              <a:t>We walk through a 4-act live demonstration of the MCP server connected to Claude Code or SAS RAM:</a:t>
            </a:r>
          </a:p>
          <a:p>
            <a:r>
              <a:t>In Act 1, we prompt the agent to discover active CAS tables and FQA data selections. The agent calls list_castables and list_data_selections_tool, giving an immediate environmental overview.</a:t>
            </a:r>
          </a:p>
          <a:p>
            <a:r>
              <a:t>In Act 2, we ask the agent to triage recent early warning alerts. It executes list_alerts_for_run_tool, performs preflight checks, runs a Pareto analysis, and isolates the failing component.</a:t>
            </a:r>
          </a:p>
          <a:p>
            <a:r>
              <a:t>In Act 3, we demonstrate Analysis-as-Code: the agent lints an SVDD anomaly analysis package using validate_analysis_type_spec and deploys it live to the AIoT service.</a:t>
            </a:r>
          </a:p>
          <a:p>
            <a:r>
              <a:t>In Act 4, the agent generates an executive briefing where every single number is hyperlinked to verified SAS CAS tables and procedure logs.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close: What we have demonstrated today is that SAS Viya is not just a legacy statistical platform—it is the ultimate high-performance analytical engine for the AI agent era.</a:t>
            </a:r>
          </a:p>
          <a:p/>
          <a:p>
            <a:r>
              <a:t>By building the SAS MCP Server with structured concurrency, strict statistical guardrails, and deep integrations across ESP, CAF, FQA, and ATSM, we have unlocked autonomous, verified industrial analytics.</a:t>
            </a:r>
          </a:p>
          <a:p/>
          <a:p>
            <a:r>
              <a:t>The server is containerized, published on Azure Container Registry for SAS RAM, and ready for deployment. Thank you for your time, and I welcome any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tags" Target="../tags/tag3.xml"/><Relationship Id="rId2" Type="http://schemas.openxmlformats.org/officeDocument/2006/relationships/slideMaster" Target="../slideMasters/slideMaster1.xml"/><Relationship Id="rId3" Type="http://schemas.openxmlformats.org/officeDocument/2006/relationships/image" Target="../media/image2.emf"/></Relationships>
</file>

<file path=ppt/slideLayouts/_rels/slideLayout2.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slideMaster" Target="../slideMasters/slideMaster1.xml"/><Relationship Id="rId3" Type="http://schemas.openxmlformats.org/officeDocument/2006/relationships/image" Target="../media/image3.svg"/></Relationships>
</file>

<file path=ppt/slideLayouts/_rels/slideLayout3.xml.rels><?xml version='1.0' encoding='UTF-8' standalone='yes'?>
<Relationships xmlns="http://schemas.openxmlformats.org/package/2006/relationships"><Relationship Id="rId1" Type="http://schemas.openxmlformats.org/officeDocument/2006/relationships/tags" Target="../tags/tag5.xml"/><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tags" Target="../tags/tag6.xml"/><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tags" Target="../tags/tag7.xml"/><Relationship Id="rId2"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tags" Target="../tags/tag8.xml"/><Relationship Id="rId2"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tags" Target="../tags/tag9.xml"/><Relationship Id="rId2"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tags" Target="../tags/tag10.xml"/><Relationship Id="rId2"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tags" Target="../tags/tag11.xml"/><Relationship Id="rId2" Type="http://schemas.openxmlformats.org/officeDocument/2006/relationships/slideMaster" Target="../slideMasters/slideMaster1.xml"/><Relationship Id="rId3" Type="http://schemas.openxmlformats.org/officeDocument/2006/relationships/image" Target="../media/image2.emf"/></Relationships>
</file>

<file path=ppt/slideLayouts/_rels/slideLayout10.xml.rels><?xml version='1.0' encoding='UTF-8' standalone='yes'?>
<Relationships xmlns="http://schemas.openxmlformats.org/package/2006/relationships"><Relationship Id="rId1" Type="http://schemas.openxmlformats.org/officeDocument/2006/relationships/tags" Target="../tags/tag12.xml"/><Relationship Id="rId2"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tags" Target="../tags/tag13.xml"/><Relationship Id="rId2" Type="http://schemas.openxmlformats.org/officeDocument/2006/relationships/slideMaster" Target="../slideMasters/slideMaster1.xml"/><Relationship Id="rId3" Type="http://schemas.openxmlformats.org/officeDocument/2006/relationships/image" Target="../media/image4.svg"/></Relationships>
</file>

<file path=ppt/slideLayouts/_rels/slideLayout12.xml.rels><?xml version='1.0' encoding='UTF-8' standalone='yes'?>
<Relationships xmlns="http://schemas.openxmlformats.org/package/2006/relationships"><Relationship Id="rId1" Type="http://schemas.openxmlformats.org/officeDocument/2006/relationships/tags" Target="../tags/tag15.xml"/><Relationship Id="rId2" Type="http://schemas.openxmlformats.org/officeDocument/2006/relationships/slideMaster" Target="../slideMasters/slideMaster2.xml"/><Relationship Id="rId3" Type="http://schemas.openxmlformats.org/officeDocument/2006/relationships/image" Target="../media/image2.emf"/></Relationships>
</file>

<file path=ppt/slideLayouts/_rels/slideLayout13.xml.rels><?xml version='1.0' encoding='UTF-8' standalone='yes'?>
<Relationships xmlns="http://schemas.openxmlformats.org/package/2006/relationships"><Relationship Id="rId1" Type="http://schemas.openxmlformats.org/officeDocument/2006/relationships/tags" Target="../tags/tag16.xml"/><Relationship Id="rId2" Type="http://schemas.openxmlformats.org/officeDocument/2006/relationships/slideMaster" Target="../slideMasters/slideMaster2.xml"/><Relationship Id="rId3" Type="http://schemas.openxmlformats.org/officeDocument/2006/relationships/image" Target="../media/image3.svg"/></Relationships>
</file>

<file path=ppt/slideLayouts/_rels/slideLayout14.xml.rels><?xml version='1.0' encoding='UTF-8' standalone='yes'?>
<Relationships xmlns="http://schemas.openxmlformats.org/package/2006/relationships"><Relationship Id="rId1" Type="http://schemas.openxmlformats.org/officeDocument/2006/relationships/tags" Target="../tags/tag17.xml"/><Relationship Id="rId2"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tags" Target="../tags/tag18.xml"/><Relationship Id="rId2"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tags" Target="../tags/tag19.xml"/><Relationship Id="rId2"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tags" Target="../tags/tag20.xml"/><Relationship Id="rId2"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tags" Target="../tags/tag21.xml"/><Relationship Id="rId2"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tags" Target="../tags/tag22.xml"/><Relationship Id="rId2"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tags" Target="../tags/tag23.xml"/><Relationship Id="rId2" Type="http://schemas.openxmlformats.org/officeDocument/2006/relationships/slideMaster" Target="../slideMasters/slideMaster2.xml"/><Relationship Id="rId3" Type="http://schemas.openxmlformats.org/officeDocument/2006/relationships/image" Target="../media/image2.emf"/></Relationships>
</file>

<file path=ppt/slideLayouts/_rels/slideLayout21.xml.rels><?xml version='1.0' encoding='UTF-8' standalone='yes'?>
<Relationships xmlns="http://schemas.openxmlformats.org/package/2006/relationships"><Relationship Id="rId1" Type="http://schemas.openxmlformats.org/officeDocument/2006/relationships/tags" Target="../tags/tag24.xml"/><Relationship Id="rId2"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tags" Target="../tags/tag25.xml"/><Relationship Id="rId2"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SAS - Title">
    <p:bg>
      <p:bgPr>
        <a:solidFill>
          <a:schemeClr val="bg2"/>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1F1FD6A3-53F9-5AA7-7099-CFD8CF29E43C}"/>
              </a:ext>
            </a:extLst>
          </p:cNvPr>
          <p:cNvPicPr>
            <a:picLocks noChangeAspect="1"/>
          </p:cNvPicPr>
          <p:nvPr userDrawn="1"/>
        </p:nvPicPr>
        <p:blipFill>
          <a:blip r:embed="rId3"/>
          <a:stretch>
            <a:fillRect/>
          </a:stretch>
        </p:blipFill>
        <p:spPr>
          <a:xfrm>
            <a:off x="14463799" y="8276976"/>
            <a:ext cx="2566902" cy="1057524"/>
          </a:xfrm>
          <a:prstGeom prst="rect">
            <a:avLst/>
          </a:prstGeom>
        </p:spPr>
      </p:pic>
      <p:sp>
        <p:nvSpPr>
          <p:cNvPr id="7" name="Title Placeholder 1">
            <a:extLst>
              <a:ext uri="{FF2B5EF4-FFF2-40B4-BE49-F238E27FC236}">
                <a16:creationId xmlns:a16="http://schemas.microsoft.com/office/drawing/2014/main" id="{0B679E91-B2F1-7013-ED34-D7763B653081}"/>
              </a:ext>
            </a:extLst>
          </p:cNvPr>
          <p:cNvSpPr>
            <a:spLocks noGrp="1"/>
          </p:cNvSpPr>
          <p:nvPr>
            <p:ph type="title" hasCustomPrompt="1"/>
          </p:nvPr>
        </p:nvSpPr>
        <p:spPr>
          <a:xfrm>
            <a:off x="1252431" y="2927508"/>
            <a:ext cx="15778269" cy="1292662"/>
          </a:xfrm>
          <a:prstGeom prst="rect">
            <a:avLst/>
          </a:prstGeom>
        </p:spPr>
        <p:txBody>
          <a:bodyPr vert="horz" wrap="square" lIns="0" tIns="0" rIns="0" bIns="182880" rtlCol="0" anchor="b" anchorCtr="0">
            <a:spAutoFit/>
          </a:bodyPr>
          <a:lstStyle>
            <a:lvl1pPr>
              <a:lnSpc>
                <a:spcPct val="100000"/>
              </a:lnSpc>
              <a:spcBef>
                <a:spcPts val="600"/>
              </a:spcBef>
              <a:defRPr sz="7200">
                <a:solidFill>
                  <a:schemeClr val="bg1"/>
                </a:solidFill>
              </a:defRPr>
            </a:lvl1pPr>
          </a:lstStyle>
          <a:p>
            <a:r>
              <a:rPr lang="en-US" dirty="0"/>
              <a:t>Click to Add Slideshow Title</a:t>
            </a:r>
          </a:p>
        </p:txBody>
      </p:sp>
      <p:sp>
        <p:nvSpPr>
          <p:cNvPr id="14" name="Text Placeholder 13">
            <a:extLst>
              <a:ext uri="{FF2B5EF4-FFF2-40B4-BE49-F238E27FC236}">
                <a16:creationId xmlns:a16="http://schemas.microsoft.com/office/drawing/2014/main" id="{2A390F57-72E5-BAC5-624C-175BE96B8516}"/>
              </a:ext>
            </a:extLst>
          </p:cNvPr>
          <p:cNvSpPr>
            <a:spLocks noGrp="1"/>
          </p:cNvSpPr>
          <p:nvPr>
            <p:ph type="body" sz="quarter" idx="10" hasCustomPrompt="1"/>
          </p:nvPr>
        </p:nvSpPr>
        <p:spPr>
          <a:xfrm>
            <a:off x="1252431" y="4220170"/>
            <a:ext cx="15778269" cy="923330"/>
          </a:xfrm>
        </p:spPr>
        <p:txBody>
          <a:bodyPr wrap="square">
            <a:noAutofit/>
          </a:bodyPr>
          <a:lstStyle>
            <a:lvl1pPr marL="0" indent="0">
              <a:lnSpc>
                <a:spcPct val="100000"/>
              </a:lnSpc>
              <a:spcBef>
                <a:spcPts val="600"/>
              </a:spcBef>
              <a:buNone/>
              <a:defRPr sz="4800">
                <a:solidFill>
                  <a:schemeClr val="accent3"/>
                </a:solidFill>
              </a:defRPr>
            </a:lvl1pPr>
            <a:lvl2pPr marL="365760" indent="0">
              <a:buNone/>
              <a:defRPr>
                <a:solidFill>
                  <a:schemeClr val="accent3"/>
                </a:solidFill>
              </a:defRPr>
            </a:lvl2pPr>
            <a:lvl3pPr marL="731520" indent="0">
              <a:buNone/>
              <a:defRPr>
                <a:solidFill>
                  <a:schemeClr val="accent3"/>
                </a:solidFill>
              </a:defRPr>
            </a:lvl3pPr>
            <a:lvl4pPr marL="2057400" indent="0">
              <a:buNone/>
              <a:defRPr>
                <a:solidFill>
                  <a:schemeClr val="accent3"/>
                </a:solidFill>
              </a:defRPr>
            </a:lvl4pPr>
            <a:lvl5pPr marL="2743200" indent="0">
              <a:buNone/>
              <a:defRPr>
                <a:solidFill>
                  <a:schemeClr val="accent3"/>
                </a:solidFill>
              </a:defRPr>
            </a:lvl5pPr>
          </a:lstStyle>
          <a:p>
            <a:pPr lvl="0"/>
            <a:r>
              <a:rPr lang="en-US" dirty="0"/>
              <a:t>Click to Add Slideshow Subtitle</a:t>
            </a:r>
          </a:p>
        </p:txBody>
      </p:sp>
      <p:sp>
        <p:nvSpPr>
          <p:cNvPr id="16" name="Text Placeholder 15">
            <a:extLst>
              <a:ext uri="{FF2B5EF4-FFF2-40B4-BE49-F238E27FC236}">
                <a16:creationId xmlns:a16="http://schemas.microsoft.com/office/drawing/2014/main" id="{30273A50-3E84-0E24-0D4A-64F939D590FA}"/>
              </a:ext>
            </a:extLst>
          </p:cNvPr>
          <p:cNvSpPr>
            <a:spLocks noGrp="1"/>
          </p:cNvSpPr>
          <p:nvPr>
            <p:ph type="body" sz="quarter" idx="11" hasCustomPrompt="1"/>
          </p:nvPr>
        </p:nvSpPr>
        <p:spPr>
          <a:xfrm>
            <a:off x="1252432" y="8276977"/>
            <a:ext cx="12123722" cy="1057522"/>
          </a:xfrm>
        </p:spPr>
        <p:txBody>
          <a:bodyPr wrap="square" anchor="ctr" anchorCtr="0">
            <a:noAutofit/>
          </a:bodyPr>
          <a:lstStyle>
            <a:lvl1pPr marL="0" indent="0">
              <a:lnSpc>
                <a:spcPct val="100000"/>
              </a:lnSpc>
              <a:spcBef>
                <a:spcPts val="600"/>
              </a:spcBef>
              <a:buNone/>
              <a:defRPr sz="2800">
                <a:solidFill>
                  <a:schemeClr val="accent3"/>
                </a:solidFill>
              </a:defRPr>
            </a:lvl1pPr>
            <a:lvl2pPr marL="365760" indent="0">
              <a:buNone/>
              <a:defRPr sz="2200">
                <a:solidFill>
                  <a:schemeClr val="accent3"/>
                </a:solidFill>
              </a:defRPr>
            </a:lvl2pPr>
            <a:lvl3pPr marL="731520" indent="0">
              <a:buNone/>
              <a:defRPr sz="2100">
                <a:solidFill>
                  <a:schemeClr val="accent3"/>
                </a:solidFill>
              </a:defRPr>
            </a:lvl3pPr>
            <a:lvl4pPr marL="2057400" indent="0">
              <a:buNone/>
              <a:defRPr sz="2000">
                <a:solidFill>
                  <a:schemeClr val="accent3"/>
                </a:solidFill>
              </a:defRPr>
            </a:lvl4pPr>
            <a:lvl5pPr marL="2743200" indent="0">
              <a:buNone/>
              <a:defRPr sz="2000">
                <a:solidFill>
                  <a:schemeClr val="accent3"/>
                </a:solidFill>
              </a:defRPr>
            </a:lvl5pPr>
          </a:lstStyle>
          <a:p>
            <a:pPr lvl="0"/>
            <a:r>
              <a:rPr lang="en-US" dirty="0"/>
              <a:t>Click to Add Presenter Info</a:t>
            </a:r>
          </a:p>
        </p:txBody>
      </p:sp>
      <p:sp>
        <p:nvSpPr>
          <p:cNvPr id="2" name="TextBox 4">
            <a:extLst>
              <a:ext uri="{FF2B5EF4-FFF2-40B4-BE49-F238E27FC236}">
                <a16:creationId xmlns:a16="http://schemas.microsoft.com/office/drawing/2014/main" id="{7F487846-7C90-09E0-AF50-CA2DB82BFEFD}"/>
              </a:ext>
            </a:extLst>
          </p:cNvPr>
          <p:cNvSpPr txBox="1"/>
          <p:nvPr userDrawn="1"/>
        </p:nvSpPr>
        <p:spPr>
          <a:xfrm>
            <a:off x="1252432" y="9855354"/>
            <a:ext cx="5029200" cy="246221"/>
          </a:xfrm>
          <a:prstGeom prst="rect">
            <a:avLst/>
          </a:prstGeom>
          <a:noFill/>
        </p:spPr>
        <p:txBody>
          <a:bodyPr wrap="square" lIns="0" anchor="b" anchorCtr="0">
            <a:spAutoFit/>
          </a:bodyPr>
          <a:lstStyle/>
          <a:p>
            <a:pPr marL="0" marR="0" lvl="0" indent="0" algn="l" defTabSz="548626" rtl="0" eaLnBrk="0" fontAlgn="auto" latinLnBrk="0" hangingPunct="0">
              <a:lnSpc>
                <a:spcPct val="100000"/>
              </a:lnSpc>
              <a:spcBef>
                <a:spcPts val="0"/>
              </a:spcBef>
              <a:spcAft>
                <a:spcPts val="0"/>
              </a:spcAft>
              <a:buClrTx/>
              <a:buSzTx/>
              <a:buFontTx/>
              <a:buNone/>
              <a:tabLst/>
              <a:defRPr/>
            </a:pPr>
            <a:r>
              <a:rPr kumimoji="0" lang="en-US" sz="1000" b="0" i="0" u="none" strike="noStrike" kern="300" cap="none" spc="100" normalizeH="0" baseline="0" noProof="0" dirty="0">
                <a:ln>
                  <a:noFill/>
                </a:ln>
                <a:solidFill>
                  <a:schemeClr val="accent3"/>
                </a:solidFill>
                <a:effectLst/>
                <a:uLnTx/>
                <a:uFillTx/>
                <a:latin typeface="Anova Light" panose="020B0403020203020204" pitchFamily="34" charset="0"/>
                <a:ea typeface="Anova Bold" panose="020B0703020203020204" pitchFamily="34" charset="0"/>
                <a:cs typeface="Anova Light" panose="020B0403020203020204" pitchFamily="34" charset="0"/>
              </a:rPr>
              <a:t>Copyright © SAS Institute Inc. All rights reserved.</a:t>
            </a:r>
          </a:p>
        </p:txBody>
      </p:sp>
    </p:spTree>
    <p:custDataLst>
      <p:tags r:id="rId1"/>
    </p:custDataLst>
    <p:extLst>
      <p:ext uri="{BB962C8B-B14F-4D97-AF65-F5344CB8AC3E}">
        <p14:creationId xmlns:p14="http://schemas.microsoft.com/office/powerpoint/2010/main" val="32841899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SAS - Section">
    <p:bg>
      <p:bgPr>
        <a:solidFill>
          <a:schemeClr val="accent5"/>
        </a:solidFill>
        <a:effectLst/>
      </p:bgPr>
    </p:bg>
    <p:spTree>
      <p:nvGrpSpPr>
        <p:cNvPr id="1" name=""/>
        <p:cNvGrpSpPr/>
        <p:nvPr/>
      </p:nvGrpSpPr>
      <p:grpSpPr>
        <a:xfrm>
          <a:off x="0" y="0"/>
          <a:ext cx="0" cy="0"/>
          <a:chOff x="0" y="0"/>
          <a:chExt cx="0" cy="0"/>
        </a:xfrm>
      </p:grpSpPr>
      <p:sp>
        <p:nvSpPr>
          <p:cNvPr id="7" name="Title Placeholder 1">
            <a:extLst>
              <a:ext uri="{FF2B5EF4-FFF2-40B4-BE49-F238E27FC236}">
                <a16:creationId xmlns:a16="http://schemas.microsoft.com/office/drawing/2014/main" id="{0B679E91-B2F1-7013-ED34-D7763B653081}"/>
              </a:ext>
            </a:extLst>
          </p:cNvPr>
          <p:cNvSpPr>
            <a:spLocks noGrp="1"/>
          </p:cNvSpPr>
          <p:nvPr>
            <p:ph type="title" hasCustomPrompt="1"/>
          </p:nvPr>
        </p:nvSpPr>
        <p:spPr>
          <a:xfrm>
            <a:off x="1252432" y="3850838"/>
            <a:ext cx="12123722" cy="1292662"/>
          </a:xfrm>
          <a:prstGeom prst="rect">
            <a:avLst/>
          </a:prstGeom>
        </p:spPr>
        <p:txBody>
          <a:bodyPr vert="horz" wrap="square" lIns="0" tIns="0" rIns="0" bIns="182880" rtlCol="0" anchor="b" anchorCtr="0">
            <a:spAutoFit/>
          </a:bodyPr>
          <a:lstStyle>
            <a:lvl1pPr>
              <a:lnSpc>
                <a:spcPct val="100000"/>
              </a:lnSpc>
              <a:spcBef>
                <a:spcPts val="600"/>
              </a:spcBef>
              <a:defRPr sz="7200">
                <a:solidFill>
                  <a:schemeClr val="bg1"/>
                </a:solidFill>
              </a:defRPr>
            </a:lvl1pPr>
          </a:lstStyle>
          <a:p>
            <a:r>
              <a:rPr lang="en-US" dirty="0"/>
              <a:t>Click to Add Section Title</a:t>
            </a:r>
          </a:p>
        </p:txBody>
      </p:sp>
      <p:sp>
        <p:nvSpPr>
          <p:cNvPr id="14" name="Text Placeholder 13">
            <a:extLst>
              <a:ext uri="{FF2B5EF4-FFF2-40B4-BE49-F238E27FC236}">
                <a16:creationId xmlns:a16="http://schemas.microsoft.com/office/drawing/2014/main" id="{2A390F57-72E5-BAC5-624C-175BE96B8516}"/>
              </a:ext>
            </a:extLst>
          </p:cNvPr>
          <p:cNvSpPr>
            <a:spLocks noGrp="1"/>
          </p:cNvSpPr>
          <p:nvPr>
            <p:ph type="body" sz="quarter" idx="10" hasCustomPrompt="1"/>
          </p:nvPr>
        </p:nvSpPr>
        <p:spPr>
          <a:xfrm>
            <a:off x="1252432" y="5342753"/>
            <a:ext cx="12123722" cy="923330"/>
          </a:xfrm>
        </p:spPr>
        <p:txBody>
          <a:bodyPr wrap="square" anchor="t" anchorCtr="0">
            <a:noAutofit/>
          </a:bodyPr>
          <a:lstStyle>
            <a:lvl1pPr marL="0" indent="0">
              <a:lnSpc>
                <a:spcPct val="100000"/>
              </a:lnSpc>
              <a:spcBef>
                <a:spcPts val="600"/>
              </a:spcBef>
              <a:buNone/>
              <a:defRPr sz="4800">
                <a:solidFill>
                  <a:schemeClr val="bg1"/>
                </a:solidFill>
              </a:defRPr>
            </a:lvl1pPr>
            <a:lvl2pPr marL="365760" indent="0">
              <a:buNone/>
              <a:defRPr>
                <a:solidFill>
                  <a:schemeClr val="accent3"/>
                </a:solidFill>
              </a:defRPr>
            </a:lvl2pPr>
            <a:lvl3pPr marL="731520" indent="0">
              <a:buNone/>
              <a:defRPr>
                <a:solidFill>
                  <a:schemeClr val="accent3"/>
                </a:solidFill>
              </a:defRPr>
            </a:lvl3pPr>
            <a:lvl4pPr marL="2057400" indent="0">
              <a:buNone/>
              <a:defRPr>
                <a:solidFill>
                  <a:schemeClr val="accent3"/>
                </a:solidFill>
              </a:defRPr>
            </a:lvl4pPr>
            <a:lvl5pPr marL="2743200" indent="0">
              <a:buNone/>
              <a:defRPr>
                <a:solidFill>
                  <a:schemeClr val="accent3"/>
                </a:solidFill>
              </a:defRPr>
            </a:lvl5pPr>
          </a:lstStyle>
          <a:p>
            <a:pPr lvl="0"/>
            <a:r>
              <a:rPr lang="en-US" dirty="0"/>
              <a:t>Click to Add Section Subtitle</a:t>
            </a:r>
          </a:p>
        </p:txBody>
      </p:sp>
      <p:sp>
        <p:nvSpPr>
          <p:cNvPr id="2" name="TextBox 4">
            <a:extLst>
              <a:ext uri="{FF2B5EF4-FFF2-40B4-BE49-F238E27FC236}">
                <a16:creationId xmlns:a16="http://schemas.microsoft.com/office/drawing/2014/main" id="{BBE5A171-53B6-5D64-1680-262B90DACFE5}"/>
              </a:ext>
            </a:extLst>
          </p:cNvPr>
          <p:cNvSpPr txBox="1"/>
          <p:nvPr userDrawn="1"/>
        </p:nvSpPr>
        <p:spPr>
          <a:xfrm>
            <a:off x="1252432" y="9855354"/>
            <a:ext cx="5029200" cy="246221"/>
          </a:xfrm>
          <a:prstGeom prst="rect">
            <a:avLst/>
          </a:prstGeom>
          <a:noFill/>
        </p:spPr>
        <p:txBody>
          <a:bodyPr wrap="square" lIns="0" anchor="b" anchorCtr="0">
            <a:spAutoFit/>
          </a:bodyPr>
          <a:lstStyle/>
          <a:p>
            <a:pPr marL="0" marR="0" lvl="0" indent="0" algn="l" defTabSz="548626" rtl="0" eaLnBrk="0" fontAlgn="auto" latinLnBrk="0" hangingPunct="0">
              <a:lnSpc>
                <a:spcPct val="100000"/>
              </a:lnSpc>
              <a:spcBef>
                <a:spcPts val="0"/>
              </a:spcBef>
              <a:spcAft>
                <a:spcPts val="0"/>
              </a:spcAft>
              <a:buClrTx/>
              <a:buSzTx/>
              <a:buFontTx/>
              <a:buNone/>
              <a:tabLst/>
              <a:defRPr/>
            </a:pPr>
            <a:r>
              <a:rPr kumimoji="0" lang="en-US" sz="1000" b="0" i="0" u="none" strike="noStrike" kern="300" cap="none" spc="100" normalizeH="0" baseline="0" noProof="0" dirty="0">
                <a:ln>
                  <a:noFill/>
                </a:ln>
                <a:solidFill>
                  <a:schemeClr val="accent5">
                    <a:lumMod val="20000"/>
                    <a:lumOff val="80000"/>
                  </a:schemeClr>
                </a:solidFill>
                <a:effectLst/>
                <a:uLnTx/>
                <a:uFillTx/>
                <a:latin typeface="Anova Light" panose="020B0403020203020204" pitchFamily="34" charset="0"/>
                <a:ea typeface="Anova Bold" panose="020B0703020203020204" pitchFamily="34" charset="0"/>
                <a:cs typeface="Anova Light" panose="020B0403020203020204" pitchFamily="34" charset="0"/>
              </a:rPr>
              <a:t>Copyright © SAS Institute Inc. All rights reserved.</a:t>
            </a:r>
          </a:p>
        </p:txBody>
      </p:sp>
      <p:pic>
        <p:nvPicPr>
          <p:cNvPr id="3" name="Picture 6">
            <a:extLst>
              <a:ext uri="{FF2B5EF4-FFF2-40B4-BE49-F238E27FC236}">
                <a16:creationId xmlns:a16="http://schemas.microsoft.com/office/drawing/2014/main" id="{27780B26-6E86-E2AF-35C7-7B8BF24892A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6826158" y="9516543"/>
            <a:ext cx="1112812" cy="461922"/>
          </a:xfrm>
          <a:prstGeom prst="rect">
            <a:avLst/>
          </a:prstGeom>
        </p:spPr>
      </p:pic>
    </p:spTree>
    <p:custDataLst>
      <p:tags r:id="rId1"/>
    </p:custDataLst>
    <p:extLst>
      <p:ext uri="{BB962C8B-B14F-4D97-AF65-F5344CB8AC3E}">
        <p14:creationId xmlns:p14="http://schemas.microsoft.com/office/powerpoint/2010/main" val="9352162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a14="http://schemas.microsoft.com/office/drawing/2010/main" xmlns:asvg="http://schemas.microsoft.com/office/drawing/2016/SVG/main"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AS - Title Only">
    <p:spTree>
      <p:nvGrpSpPr>
        <p:cNvPr id="1" name=""/>
        <p:cNvGrpSpPr/>
        <p:nvPr/>
      </p:nvGrpSpPr>
      <p:grpSpPr>
        <a:xfrm>
          <a:off x="0" y="0"/>
          <a:ext cx="0" cy="0"/>
          <a:chOff x="0" y="0"/>
          <a:chExt cx="0" cy="0"/>
        </a:xfrm>
      </p:grpSpPr>
      <p:sp>
        <p:nvSpPr>
          <p:cNvPr id="12" name="Title Placeholder 1">
            <a:extLst>
              <a:ext uri="{FF2B5EF4-FFF2-40B4-BE49-F238E27FC236}">
                <a16:creationId xmlns:a16="http://schemas.microsoft.com/office/drawing/2014/main" id="{6F060396-EEE3-A20F-EF3B-666AF65526C8}"/>
              </a:ext>
            </a:extLst>
          </p:cNvPr>
          <p:cNvSpPr>
            <a:spLocks noGrp="1"/>
          </p:cNvSpPr>
          <p:nvPr>
            <p:ph type="title" hasCustomPrompt="1"/>
          </p:nvPr>
        </p:nvSpPr>
        <p:spPr>
          <a:xfrm>
            <a:off x="1257300" y="710304"/>
            <a:ext cx="15773400" cy="775596"/>
          </a:xfrm>
          <a:prstGeom prst="rect">
            <a:avLst/>
          </a:prstGeom>
        </p:spPr>
        <p:txBody>
          <a:bodyPr vert="horz" lIns="0" tIns="0" rIns="0" bIns="0" rtlCol="0" anchor="ctr">
            <a:spAutoFit/>
          </a:bodyPr>
          <a:lstStyle/>
          <a:p>
            <a:r>
              <a:rPr lang="en-US" dirty="0"/>
              <a:t>Click to Add Slide Title</a:t>
            </a:r>
          </a:p>
        </p:txBody>
      </p:sp>
    </p:spTree>
    <p:custDataLst>
      <p:tags r:id="rId1"/>
    </p:custDataLst>
    <p:extLst>
      <p:ext uri="{BB962C8B-B14F-4D97-AF65-F5344CB8AC3E}">
        <p14:creationId xmlns:p14="http://schemas.microsoft.com/office/powerpoint/2010/main" val="9861200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AS - Title &amp; Subtitl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normAutofit/>
          </a:bodyPr>
          <a:lstStyle>
            <a:lvl1pPr algn="l">
              <a:defRPr>
                <a:solidFill>
                  <a:schemeClr val="accent5"/>
                </a:solidFill>
              </a:defRPr>
            </a:lvl1pPr>
          </a:lstStyle>
          <a:p>
            <a:r>
              <a:rPr lang="en-US" dirty="0"/>
              <a:t>Click to Add Slide Title</a:t>
            </a:r>
          </a:p>
        </p:txBody>
      </p:sp>
      <p:sp>
        <p:nvSpPr>
          <p:cNvPr id="5" name="Text Placeholder 4">
            <a:extLst>
              <a:ext uri="{FF2B5EF4-FFF2-40B4-BE49-F238E27FC236}">
                <a16:creationId xmlns:a16="http://schemas.microsoft.com/office/drawing/2014/main" id="{0040EF35-062A-4CF7-B99A-D6EF688F370B}"/>
              </a:ext>
            </a:extLst>
          </p:cNvPr>
          <p:cNvSpPr>
            <a:spLocks noGrp="1"/>
          </p:cNvSpPr>
          <p:nvPr>
            <p:ph type="body" sz="quarter" idx="10" hasCustomPrompt="1"/>
          </p:nvPr>
        </p:nvSpPr>
        <p:spPr>
          <a:xfrm>
            <a:off x="1257300" y="1562100"/>
            <a:ext cx="15773400" cy="549382"/>
          </a:xfrm>
          <a:prstGeom prst="rect">
            <a:avLst/>
          </a:prstGeom>
        </p:spPr>
        <p:txBody>
          <a:bodyPr anchor="t">
            <a:normAutofit/>
          </a:bodyPr>
          <a:lstStyle>
            <a:lvl1pPr marL="0" indent="0" algn="l">
              <a:buNone/>
              <a:defRPr>
                <a:solidFill>
                  <a:schemeClr val="bg2"/>
                </a:solidFill>
              </a:defRPr>
            </a:lvl1pPr>
            <a:lvl2pPr marL="365760" indent="0">
              <a:buNone/>
              <a:defRPr/>
            </a:lvl2pPr>
            <a:lvl3pPr marL="731520" indent="0">
              <a:buNone/>
              <a:defRPr/>
            </a:lvl3pPr>
            <a:lvl4pPr marL="2057400" indent="0">
              <a:buNone/>
              <a:defRPr/>
            </a:lvl4pPr>
            <a:lvl5pPr marL="2743200" indent="0">
              <a:buNone/>
              <a:defRPr/>
            </a:lvl5pPr>
          </a:lstStyle>
          <a:p>
            <a:pPr lvl="0"/>
            <a:r>
              <a:rPr lang="en-US" dirty="0"/>
              <a:t>Click to Add Subtitle</a:t>
            </a:r>
          </a:p>
        </p:txBody>
      </p:sp>
    </p:spTree>
    <p:custDataLst>
      <p:tags r:id="rId1"/>
    </p:custDataLst>
    <p:extLst>
      <p:ext uri="{BB962C8B-B14F-4D97-AF65-F5344CB8AC3E}">
        <p14:creationId xmlns:p14="http://schemas.microsoft.com/office/powerpoint/2010/main" val="18989030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AS -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normAutofit/>
          </a:bodyPr>
          <a:lstStyle>
            <a:lvl1pPr>
              <a:defRPr>
                <a:solidFill>
                  <a:schemeClr val="accent5"/>
                </a:solidFill>
              </a:defRPr>
            </a:lvl1pPr>
          </a:lstStyle>
          <a:p>
            <a:r>
              <a:rPr lang="en-US" dirty="0"/>
              <a:t>Click to Add Slide Title</a:t>
            </a:r>
          </a:p>
        </p:txBody>
      </p:sp>
      <p:sp>
        <p:nvSpPr>
          <p:cNvPr id="4" name="Text Placeholder 2">
            <a:extLst>
              <a:ext uri="{FF2B5EF4-FFF2-40B4-BE49-F238E27FC236}">
                <a16:creationId xmlns:a16="http://schemas.microsoft.com/office/drawing/2014/main" id="{94E85CBA-188F-58DF-65B2-BD90C57AB500}"/>
              </a:ext>
            </a:extLst>
          </p:cNvPr>
          <p:cNvSpPr>
            <a:spLocks noGrp="1"/>
          </p:cNvSpPr>
          <p:nvPr>
            <p:ph idx="1"/>
          </p:nvPr>
        </p:nvSpPr>
        <p:spPr>
          <a:xfrm>
            <a:off x="1257300" y="2400300"/>
            <a:ext cx="15773400" cy="6865146"/>
          </a:xfrm>
          <a:prstGeom prst="rect">
            <a:avLst/>
          </a:prstGeom>
        </p:spPr>
        <p:txBody>
          <a:bodyPr vert="horz" lIns="0" tIns="0" rIns="0" bIns="0" rtlCol="0">
            <a:normAutofit/>
          </a:bodyPr>
          <a:lstStyle>
            <a:lvl1pPr>
              <a:defRPr sz="3600"/>
            </a:lvl1pPr>
            <a:lvl2pPr>
              <a:defRPr sz="2800"/>
            </a:lvl2pPr>
            <a:lvl3pPr>
              <a:defRPr sz="2400">
                <a:latin typeface="+mn-lt"/>
              </a:defRPr>
            </a:lvl3pPr>
          </a:lstStyle>
          <a:p>
            <a:pPr lvl="0"/>
            <a:r>
              <a:rPr lang="en-US"/>
              <a:t>Click to edit Master text styles</a:t>
            </a:r>
          </a:p>
          <a:p>
            <a:pPr lvl="1"/>
            <a:r>
              <a:rPr lang="en-US"/>
              <a:t>Second level</a:t>
            </a:r>
          </a:p>
          <a:p>
            <a:pPr lvl="2"/>
            <a:r>
              <a:rPr lang="en-US"/>
              <a:t>Third level</a:t>
            </a:r>
          </a:p>
        </p:txBody>
      </p:sp>
      <p:sp>
        <p:nvSpPr>
          <p:cNvPr id="8" name="Text Placeholder 4">
            <a:extLst>
              <a:ext uri="{FF2B5EF4-FFF2-40B4-BE49-F238E27FC236}">
                <a16:creationId xmlns:a16="http://schemas.microsoft.com/office/drawing/2014/main" id="{9A71ABFD-7D9E-8B81-8F10-AD3B259CD532}"/>
              </a:ext>
            </a:extLst>
          </p:cNvPr>
          <p:cNvSpPr>
            <a:spLocks noGrp="1"/>
          </p:cNvSpPr>
          <p:nvPr>
            <p:ph type="body" sz="quarter" idx="10" hasCustomPrompt="1"/>
          </p:nvPr>
        </p:nvSpPr>
        <p:spPr>
          <a:xfrm>
            <a:off x="1257300" y="1562100"/>
            <a:ext cx="15773400" cy="549382"/>
          </a:xfrm>
          <a:prstGeom prst="rect">
            <a:avLst/>
          </a:prstGeom>
        </p:spPr>
        <p:txBody>
          <a:bodyPr anchor="t">
            <a:normAutofit/>
          </a:bodyPr>
          <a:lstStyle>
            <a:lvl1pPr marL="0" indent="0" algn="l">
              <a:buNone/>
              <a:defRPr>
                <a:solidFill>
                  <a:schemeClr val="bg2"/>
                </a:solidFill>
              </a:defRPr>
            </a:lvl1pPr>
            <a:lvl2pPr marL="365760" indent="0">
              <a:buNone/>
              <a:defRPr/>
            </a:lvl2pPr>
            <a:lvl3pPr marL="731520" indent="0">
              <a:buNone/>
              <a:defRPr/>
            </a:lvl3pPr>
            <a:lvl4pPr marL="2057400" indent="0">
              <a:buNone/>
              <a:defRPr/>
            </a:lvl4pPr>
            <a:lvl5pPr marL="2743200" indent="0">
              <a:buNone/>
              <a:defRPr/>
            </a:lvl5pPr>
          </a:lstStyle>
          <a:p>
            <a:pPr lvl="0"/>
            <a:r>
              <a:rPr lang="en-US" dirty="0"/>
              <a:t>Click to Add Subtitle</a:t>
            </a:r>
          </a:p>
        </p:txBody>
      </p:sp>
    </p:spTree>
    <p:custDataLst>
      <p:tags r:id="rId1"/>
    </p:custDataLst>
    <p:extLst>
      <p:ext uri="{BB962C8B-B14F-4D97-AF65-F5344CB8AC3E}">
        <p14:creationId xmlns:p14="http://schemas.microsoft.com/office/powerpoint/2010/main" val="29023313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AS - Comparison">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normAutofit/>
          </a:bodyPr>
          <a:lstStyle>
            <a:lvl1pPr>
              <a:defRPr>
                <a:solidFill>
                  <a:schemeClr val="accent5"/>
                </a:solidFill>
              </a:defRPr>
            </a:lvl1pPr>
          </a:lstStyle>
          <a:p>
            <a:r>
              <a:rPr lang="en-US" dirty="0"/>
              <a:t>Click to Add Slide Title</a:t>
            </a:r>
          </a:p>
        </p:txBody>
      </p:sp>
      <p:sp>
        <p:nvSpPr>
          <p:cNvPr id="5" name="Text Placeholder 2">
            <a:extLst>
              <a:ext uri="{FF2B5EF4-FFF2-40B4-BE49-F238E27FC236}">
                <a16:creationId xmlns:a16="http://schemas.microsoft.com/office/drawing/2014/main" id="{B37A3D09-8DDB-0D78-49A3-63D553286BAA}"/>
              </a:ext>
            </a:extLst>
          </p:cNvPr>
          <p:cNvSpPr>
            <a:spLocks noGrp="1"/>
          </p:cNvSpPr>
          <p:nvPr>
            <p:ph idx="1"/>
          </p:nvPr>
        </p:nvSpPr>
        <p:spPr>
          <a:xfrm>
            <a:off x="1257299" y="2400300"/>
            <a:ext cx="7741846" cy="6865145"/>
          </a:xfrm>
          <a:prstGeom prst="rect">
            <a:avLst/>
          </a:prstGeom>
        </p:spPr>
        <p:txBody>
          <a:bodyPr vert="horz" lIns="0" tIns="0" rIns="0" bIns="0" rtlCol="0">
            <a:normAutofit/>
          </a:bodyPr>
          <a:lstStyle>
            <a:lvl1pPr>
              <a:defRPr sz="3600"/>
            </a:lvl1pPr>
            <a:lvl2pPr>
              <a:defRPr sz="2800">
                <a:latin typeface="+mn-lt"/>
              </a:defRPr>
            </a:lvl2pPr>
            <a:lvl3pPr>
              <a:defRPr sz="2400">
                <a:latin typeface="+mn-lt"/>
              </a:defRPr>
            </a:lvl3pPr>
          </a:lstStyle>
          <a:p>
            <a:pPr lvl="0"/>
            <a:r>
              <a:rPr lang="en-US"/>
              <a:t>Click to edit Master text styles</a:t>
            </a:r>
          </a:p>
          <a:p>
            <a:pPr lvl="1"/>
            <a:r>
              <a:rPr lang="en-US"/>
              <a:t>Second level</a:t>
            </a:r>
          </a:p>
          <a:p>
            <a:pPr lvl="2"/>
            <a:r>
              <a:rPr lang="en-US"/>
              <a:t>Third level</a:t>
            </a:r>
          </a:p>
        </p:txBody>
      </p:sp>
      <p:sp>
        <p:nvSpPr>
          <p:cNvPr id="7" name="Text Placeholder 2">
            <a:extLst>
              <a:ext uri="{FF2B5EF4-FFF2-40B4-BE49-F238E27FC236}">
                <a16:creationId xmlns:a16="http://schemas.microsoft.com/office/drawing/2014/main" id="{9EB0C531-8D77-DB91-D733-89B75593C437}"/>
              </a:ext>
            </a:extLst>
          </p:cNvPr>
          <p:cNvSpPr>
            <a:spLocks noGrp="1"/>
          </p:cNvSpPr>
          <p:nvPr>
            <p:ph idx="11"/>
          </p:nvPr>
        </p:nvSpPr>
        <p:spPr>
          <a:xfrm>
            <a:off x="9288856" y="2400300"/>
            <a:ext cx="7741848" cy="6865145"/>
          </a:xfrm>
          <a:prstGeom prst="rect">
            <a:avLst/>
          </a:prstGeom>
        </p:spPr>
        <p:txBody>
          <a:bodyPr vert="horz" lIns="0" tIns="0" rIns="0" bIns="0" rtlCol="0">
            <a:normAutofit/>
          </a:bodyPr>
          <a:lstStyle>
            <a:lvl1pPr>
              <a:defRPr sz="3600"/>
            </a:lvl1pPr>
            <a:lvl2pPr>
              <a:defRPr sz="2800">
                <a:latin typeface="+mn-lt"/>
              </a:defRPr>
            </a:lvl2pPr>
            <a:lvl3pPr>
              <a:defRPr sz="2400">
                <a:latin typeface="+mn-lt"/>
              </a:defRPr>
            </a:lvl3pPr>
          </a:lstStyle>
          <a:p>
            <a:pPr lvl="0"/>
            <a:r>
              <a:rPr lang="en-US"/>
              <a:t>Click to edit Master text styles</a:t>
            </a:r>
          </a:p>
          <a:p>
            <a:pPr lvl="1"/>
            <a:r>
              <a:rPr lang="en-US"/>
              <a:t>Second level</a:t>
            </a:r>
          </a:p>
          <a:p>
            <a:pPr lvl="2"/>
            <a:r>
              <a:rPr lang="en-US"/>
              <a:t>Third level</a:t>
            </a:r>
          </a:p>
        </p:txBody>
      </p:sp>
      <p:sp>
        <p:nvSpPr>
          <p:cNvPr id="9" name="Text Placeholder 4">
            <a:extLst>
              <a:ext uri="{FF2B5EF4-FFF2-40B4-BE49-F238E27FC236}">
                <a16:creationId xmlns:a16="http://schemas.microsoft.com/office/drawing/2014/main" id="{528E5A1D-0F7C-C89E-926C-359A1E6C4B96}"/>
              </a:ext>
            </a:extLst>
          </p:cNvPr>
          <p:cNvSpPr>
            <a:spLocks noGrp="1"/>
          </p:cNvSpPr>
          <p:nvPr>
            <p:ph type="body" sz="quarter" idx="10" hasCustomPrompt="1"/>
          </p:nvPr>
        </p:nvSpPr>
        <p:spPr>
          <a:xfrm>
            <a:off x="1257300" y="1562100"/>
            <a:ext cx="15773400" cy="549382"/>
          </a:xfrm>
          <a:prstGeom prst="rect">
            <a:avLst/>
          </a:prstGeom>
        </p:spPr>
        <p:txBody>
          <a:bodyPr anchor="t">
            <a:normAutofit/>
          </a:bodyPr>
          <a:lstStyle>
            <a:lvl1pPr marL="0" indent="0" algn="l">
              <a:buNone/>
              <a:defRPr>
                <a:solidFill>
                  <a:schemeClr val="bg2"/>
                </a:solidFill>
              </a:defRPr>
            </a:lvl1pPr>
            <a:lvl2pPr marL="365760" indent="0">
              <a:buNone/>
              <a:defRPr/>
            </a:lvl2pPr>
            <a:lvl3pPr marL="731520" indent="0">
              <a:buNone/>
              <a:defRPr/>
            </a:lvl3pPr>
            <a:lvl4pPr marL="2057400" indent="0">
              <a:buNone/>
              <a:defRPr/>
            </a:lvl4pPr>
            <a:lvl5pPr marL="2743200" indent="0">
              <a:buNone/>
              <a:defRPr/>
            </a:lvl5pPr>
          </a:lstStyle>
          <a:p>
            <a:pPr lvl="0"/>
            <a:r>
              <a:rPr lang="en-US" dirty="0"/>
              <a:t>Click to Add Subtitle</a:t>
            </a:r>
          </a:p>
        </p:txBody>
      </p:sp>
    </p:spTree>
    <p:custDataLst>
      <p:tags r:id="rId1"/>
    </p:custDataLst>
    <p:extLst>
      <p:ext uri="{BB962C8B-B14F-4D97-AF65-F5344CB8AC3E}">
        <p14:creationId xmlns:p14="http://schemas.microsoft.com/office/powerpoint/2010/main" val="30410571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AS - Title Only Right">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7932B69-D114-4F04-8825-FD80DE780B3F}"/>
              </a:ext>
            </a:extLst>
          </p:cNvPr>
          <p:cNvSpPr>
            <a:spLocks noGrp="1"/>
          </p:cNvSpPr>
          <p:nvPr>
            <p:ph type="title" hasCustomPrompt="1"/>
          </p:nvPr>
        </p:nvSpPr>
        <p:spPr>
          <a:xfrm>
            <a:off x="1257300" y="4367905"/>
            <a:ext cx="4428276" cy="1551194"/>
          </a:xfrm>
          <a:prstGeom prst="rect">
            <a:avLst/>
          </a:prstGeom>
        </p:spPr>
        <p:txBody>
          <a:bodyPr vert="horz" wrap="square" lIns="0" tIns="0" rIns="0" bIns="0" rtlCol="0" anchor="ctr">
            <a:spAutoFit/>
          </a:bodyPr>
          <a:lstStyle/>
          <a:p>
            <a:r>
              <a:rPr lang="en-US" dirty="0"/>
              <a:t>Click to Add Slide Title</a:t>
            </a:r>
          </a:p>
        </p:txBody>
      </p:sp>
    </p:spTree>
    <p:custDataLst>
      <p:tags r:id="rId1"/>
    </p:custDataLst>
    <p:extLst>
      <p:ext uri="{BB962C8B-B14F-4D97-AF65-F5344CB8AC3E}">
        <p14:creationId xmlns:p14="http://schemas.microsoft.com/office/powerpoint/2010/main" val="41217007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AS - Title &amp; Subtitle Right">
    <p:bg>
      <p:bgPr>
        <a:solidFill>
          <a:schemeClr val="bg1"/>
        </a:solidFill>
        <a:effectLst/>
      </p:bgPr>
    </p:bg>
    <p:spTree>
      <p:nvGrpSpPr>
        <p:cNvPr id="1" name=""/>
        <p:cNvGrpSpPr/>
        <p:nvPr/>
      </p:nvGrpSpPr>
      <p:grpSpPr>
        <a:xfrm>
          <a:off x="0" y="0"/>
          <a:ext cx="0" cy="0"/>
          <a:chOff x="0" y="0"/>
          <a:chExt cx="0" cy="0"/>
        </a:xfrm>
      </p:grpSpPr>
      <p:sp>
        <p:nvSpPr>
          <p:cNvPr id="2" name="Text Placeholder 4">
            <a:extLst>
              <a:ext uri="{FF2B5EF4-FFF2-40B4-BE49-F238E27FC236}">
                <a16:creationId xmlns:a16="http://schemas.microsoft.com/office/drawing/2014/main" id="{DCB0DC36-25B4-46CA-542D-A6308DDA0A46}"/>
              </a:ext>
            </a:extLst>
          </p:cNvPr>
          <p:cNvSpPr>
            <a:spLocks noGrp="1"/>
          </p:cNvSpPr>
          <p:nvPr>
            <p:ph type="body" sz="quarter" idx="10" hasCustomPrompt="1"/>
          </p:nvPr>
        </p:nvSpPr>
        <p:spPr>
          <a:xfrm>
            <a:off x="1257299" y="5920995"/>
            <a:ext cx="5004350" cy="549382"/>
          </a:xfrm>
          <a:prstGeom prst="rect">
            <a:avLst/>
          </a:prstGeom>
        </p:spPr>
        <p:txBody>
          <a:bodyPr wrap="square" anchor="t">
            <a:noAutofit/>
          </a:bodyPr>
          <a:lstStyle>
            <a:lvl1pPr marL="0" indent="0" algn="l">
              <a:buNone/>
              <a:defRPr>
                <a:solidFill>
                  <a:schemeClr val="bg2"/>
                </a:solidFill>
              </a:defRPr>
            </a:lvl1pPr>
            <a:lvl2pPr marL="365760" indent="0">
              <a:buNone/>
              <a:defRPr/>
            </a:lvl2pPr>
            <a:lvl3pPr marL="731520" indent="0">
              <a:buNone/>
              <a:defRPr/>
            </a:lvl3pPr>
            <a:lvl4pPr marL="2057400" indent="0">
              <a:buNone/>
              <a:defRPr/>
            </a:lvl4pPr>
            <a:lvl5pPr marL="2743200" indent="0">
              <a:buNone/>
              <a:defRPr/>
            </a:lvl5pPr>
          </a:lstStyle>
          <a:p>
            <a:pPr lvl="0"/>
            <a:r>
              <a:rPr lang="en-US" dirty="0"/>
              <a:t>Click to Add Subtitle</a:t>
            </a:r>
          </a:p>
        </p:txBody>
      </p:sp>
      <p:sp>
        <p:nvSpPr>
          <p:cNvPr id="3" name="Title 2">
            <a:extLst>
              <a:ext uri="{FF2B5EF4-FFF2-40B4-BE49-F238E27FC236}">
                <a16:creationId xmlns:a16="http://schemas.microsoft.com/office/drawing/2014/main" id="{E84AF2B1-1A71-31A3-C679-D3E1148BD910}"/>
              </a:ext>
            </a:extLst>
          </p:cNvPr>
          <p:cNvSpPr>
            <a:spLocks noGrp="1"/>
          </p:cNvSpPr>
          <p:nvPr>
            <p:ph type="title" hasCustomPrompt="1"/>
          </p:nvPr>
        </p:nvSpPr>
        <p:spPr>
          <a:xfrm>
            <a:off x="1252432" y="4150330"/>
            <a:ext cx="5001768" cy="1554480"/>
          </a:xfrm>
        </p:spPr>
        <p:txBody>
          <a:bodyPr vert="horz" wrap="square" lIns="0" tIns="0" rIns="0" bIns="0" rtlCol="0" anchor="b" anchorCtr="0">
            <a:spAutoFit/>
          </a:bodyPr>
          <a:lstStyle>
            <a:lvl1pPr>
              <a:defRPr lang="en-US"/>
            </a:lvl1pPr>
          </a:lstStyle>
          <a:p>
            <a:pPr marL="0" lvl="0">
              <a:lnSpc>
                <a:spcPct val="90000"/>
              </a:lnSpc>
              <a:spcBef>
                <a:spcPct val="0"/>
              </a:spcBef>
              <a:buNone/>
            </a:pPr>
            <a:r>
              <a:rPr lang="en-US" dirty="0"/>
              <a:t>Click to Add Slide Title</a:t>
            </a:r>
          </a:p>
        </p:txBody>
      </p:sp>
    </p:spTree>
    <p:custDataLst>
      <p:tags r:id="rId1"/>
    </p:custDataLst>
    <p:extLst>
      <p:ext uri="{BB962C8B-B14F-4D97-AF65-F5344CB8AC3E}">
        <p14:creationId xmlns:p14="http://schemas.microsoft.com/office/powerpoint/2010/main" val="38121799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SAS - Closing">
    <p:bg>
      <p:bgPr>
        <a:solidFill>
          <a:schemeClr val="bg2"/>
        </a:solidFill>
        <a:effectLst/>
      </p:bgPr>
    </p:bg>
    <p:spTree>
      <p:nvGrpSpPr>
        <p:cNvPr id="1" name=""/>
        <p:cNvGrpSpPr/>
        <p:nvPr/>
      </p:nvGrpSpPr>
      <p:grpSpPr>
        <a:xfrm>
          <a:off x="0" y="0"/>
          <a:ext cx="0" cy="0"/>
          <a:chOff x="0" y="0"/>
          <a:chExt cx="0" cy="0"/>
        </a:xfrm>
      </p:grpSpPr>
      <p:sp>
        <p:nvSpPr>
          <p:cNvPr id="7" name="Title Placeholder 1">
            <a:extLst>
              <a:ext uri="{FF2B5EF4-FFF2-40B4-BE49-F238E27FC236}">
                <a16:creationId xmlns:a16="http://schemas.microsoft.com/office/drawing/2014/main" id="{0B679E91-B2F1-7013-ED34-D7763B653081}"/>
              </a:ext>
            </a:extLst>
          </p:cNvPr>
          <p:cNvSpPr>
            <a:spLocks noGrp="1"/>
          </p:cNvSpPr>
          <p:nvPr>
            <p:ph type="title" hasCustomPrompt="1"/>
          </p:nvPr>
        </p:nvSpPr>
        <p:spPr>
          <a:xfrm>
            <a:off x="1252432" y="4497169"/>
            <a:ext cx="13063133" cy="1292662"/>
          </a:xfrm>
          <a:prstGeom prst="rect">
            <a:avLst/>
          </a:prstGeom>
        </p:spPr>
        <p:txBody>
          <a:bodyPr vert="horz" wrap="square" lIns="0" tIns="0" rIns="0" bIns="182880" rtlCol="0" anchor="ctr" anchorCtr="0">
            <a:spAutoFit/>
          </a:bodyPr>
          <a:lstStyle>
            <a:lvl1pPr>
              <a:lnSpc>
                <a:spcPct val="100000"/>
              </a:lnSpc>
              <a:spcBef>
                <a:spcPts val="600"/>
              </a:spcBef>
              <a:defRPr sz="7200">
                <a:solidFill>
                  <a:schemeClr val="bg1"/>
                </a:solidFill>
              </a:defRPr>
            </a:lvl1pPr>
          </a:lstStyle>
          <a:p>
            <a:r>
              <a:rPr lang="en-US" dirty="0"/>
              <a:t>Click to Add Slideshow Closing</a:t>
            </a:r>
          </a:p>
        </p:txBody>
      </p:sp>
      <p:pic>
        <p:nvPicPr>
          <p:cNvPr id="9" name="Picture 8">
            <a:extLst>
              <a:ext uri="{FF2B5EF4-FFF2-40B4-BE49-F238E27FC236}">
                <a16:creationId xmlns:a16="http://schemas.microsoft.com/office/drawing/2014/main" id="{F6D7352C-47D5-1179-1891-95A57F7DA1B0}"/>
              </a:ext>
            </a:extLst>
          </p:cNvPr>
          <p:cNvPicPr>
            <a:picLocks noChangeAspect="1"/>
          </p:cNvPicPr>
          <p:nvPr userDrawn="1"/>
        </p:nvPicPr>
        <p:blipFill>
          <a:blip r:embed="rId3"/>
          <a:stretch>
            <a:fillRect/>
          </a:stretch>
        </p:blipFill>
        <p:spPr>
          <a:xfrm>
            <a:off x="14463799" y="8276976"/>
            <a:ext cx="2566902" cy="1057524"/>
          </a:xfrm>
          <a:prstGeom prst="rect">
            <a:avLst/>
          </a:prstGeom>
        </p:spPr>
      </p:pic>
      <p:sp>
        <p:nvSpPr>
          <p:cNvPr id="2" name="Text Placeholder 15">
            <a:extLst>
              <a:ext uri="{FF2B5EF4-FFF2-40B4-BE49-F238E27FC236}">
                <a16:creationId xmlns:a16="http://schemas.microsoft.com/office/drawing/2014/main" id="{514B8423-CFFD-1921-7480-8BEC78F05FFD}"/>
              </a:ext>
            </a:extLst>
          </p:cNvPr>
          <p:cNvSpPr>
            <a:spLocks noGrp="1"/>
          </p:cNvSpPr>
          <p:nvPr>
            <p:ph type="body" sz="quarter" idx="11" hasCustomPrompt="1"/>
          </p:nvPr>
        </p:nvSpPr>
        <p:spPr>
          <a:xfrm>
            <a:off x="1252432" y="8276977"/>
            <a:ext cx="12123722" cy="1057522"/>
          </a:xfrm>
        </p:spPr>
        <p:txBody>
          <a:bodyPr wrap="square" anchor="ctr" anchorCtr="0">
            <a:noAutofit/>
          </a:bodyPr>
          <a:lstStyle>
            <a:lvl1pPr marL="0" indent="0">
              <a:lnSpc>
                <a:spcPct val="100000"/>
              </a:lnSpc>
              <a:spcBef>
                <a:spcPts val="600"/>
              </a:spcBef>
              <a:buNone/>
              <a:defRPr sz="2800">
                <a:solidFill>
                  <a:schemeClr val="accent3"/>
                </a:solidFill>
              </a:defRPr>
            </a:lvl1pPr>
            <a:lvl2pPr marL="365760" indent="0">
              <a:buNone/>
              <a:defRPr sz="2200">
                <a:solidFill>
                  <a:schemeClr val="accent3"/>
                </a:solidFill>
              </a:defRPr>
            </a:lvl2pPr>
            <a:lvl3pPr marL="731520" indent="0">
              <a:buNone/>
              <a:defRPr sz="2100">
                <a:solidFill>
                  <a:schemeClr val="accent3"/>
                </a:solidFill>
              </a:defRPr>
            </a:lvl3pPr>
            <a:lvl4pPr marL="2057400" indent="0">
              <a:buNone/>
              <a:defRPr sz="2000">
                <a:solidFill>
                  <a:schemeClr val="accent3"/>
                </a:solidFill>
              </a:defRPr>
            </a:lvl4pPr>
            <a:lvl5pPr marL="2743200" indent="0">
              <a:buNone/>
              <a:defRPr sz="2000">
                <a:solidFill>
                  <a:schemeClr val="accent3"/>
                </a:solidFill>
              </a:defRPr>
            </a:lvl5pPr>
          </a:lstStyle>
          <a:p>
            <a:pPr lvl="0"/>
            <a:r>
              <a:rPr lang="en-US" dirty="0"/>
              <a:t>Click to add a website or email</a:t>
            </a:r>
          </a:p>
        </p:txBody>
      </p:sp>
      <p:sp>
        <p:nvSpPr>
          <p:cNvPr id="3" name="TextBox 4">
            <a:extLst>
              <a:ext uri="{FF2B5EF4-FFF2-40B4-BE49-F238E27FC236}">
                <a16:creationId xmlns:a16="http://schemas.microsoft.com/office/drawing/2014/main" id="{50615BBA-3709-50D7-A61C-9CF9B79E7B6F}"/>
              </a:ext>
            </a:extLst>
          </p:cNvPr>
          <p:cNvSpPr txBox="1"/>
          <p:nvPr userDrawn="1"/>
        </p:nvSpPr>
        <p:spPr>
          <a:xfrm>
            <a:off x="1252432" y="9855354"/>
            <a:ext cx="5029200" cy="246221"/>
          </a:xfrm>
          <a:prstGeom prst="rect">
            <a:avLst/>
          </a:prstGeom>
          <a:noFill/>
        </p:spPr>
        <p:txBody>
          <a:bodyPr wrap="square" lIns="0" anchor="b" anchorCtr="0">
            <a:spAutoFit/>
          </a:bodyPr>
          <a:lstStyle/>
          <a:p>
            <a:pPr marL="0" marR="0" lvl="0" indent="0" algn="l" defTabSz="548626" rtl="0" eaLnBrk="0" fontAlgn="auto" latinLnBrk="0" hangingPunct="0">
              <a:lnSpc>
                <a:spcPct val="100000"/>
              </a:lnSpc>
              <a:spcBef>
                <a:spcPts val="0"/>
              </a:spcBef>
              <a:spcAft>
                <a:spcPts val="0"/>
              </a:spcAft>
              <a:buClrTx/>
              <a:buSzTx/>
              <a:buFontTx/>
              <a:buNone/>
              <a:tabLst/>
              <a:defRPr/>
            </a:pPr>
            <a:r>
              <a:rPr kumimoji="0" lang="en-US" sz="1000" b="0" i="0" u="none" strike="noStrike" kern="300" cap="none" spc="100" normalizeH="0" baseline="0" noProof="0" dirty="0">
                <a:ln>
                  <a:noFill/>
                </a:ln>
                <a:solidFill>
                  <a:schemeClr val="accent3"/>
                </a:solidFill>
                <a:effectLst/>
                <a:uLnTx/>
                <a:uFillTx/>
                <a:latin typeface="Anova Light" panose="020B0403020203020204" pitchFamily="34" charset="0"/>
                <a:ea typeface="Anova Bold" panose="020B0703020203020204" pitchFamily="34" charset="0"/>
                <a:cs typeface="Anova Light" panose="020B0403020203020204" pitchFamily="34" charset="0"/>
              </a:rPr>
              <a:t>Copyright © SAS Institute Inc. All rights reserved.</a:t>
            </a:r>
          </a:p>
        </p:txBody>
      </p:sp>
    </p:spTree>
    <p:custDataLst>
      <p:tags r:id="rId1"/>
    </p:custDataLst>
    <p:extLst>
      <p:ext uri="{BB962C8B-B14F-4D97-AF65-F5344CB8AC3E}">
        <p14:creationId xmlns:p14="http://schemas.microsoft.com/office/powerpoint/2010/main" val="33026811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SAS - Blank - White">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24842788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SAS - Video Only">
    <p:bg>
      <p:bgPr>
        <a:solidFill>
          <a:schemeClr val="tx1"/>
        </a:solidFill>
        <a:effectLst/>
      </p:bgPr>
    </p:bg>
    <p:spTree>
      <p:nvGrpSpPr>
        <p:cNvPr id="1" name=""/>
        <p:cNvGrpSpPr/>
        <p:nvPr/>
      </p:nvGrpSpPr>
      <p:grpSpPr>
        <a:xfrm>
          <a:off x="0" y="0"/>
          <a:ext cx="0" cy="0"/>
          <a:chOff x="0" y="0"/>
          <a:chExt cx="0" cy="0"/>
        </a:xfrm>
      </p:grpSpPr>
      <p:sp>
        <p:nvSpPr>
          <p:cNvPr id="3" name="TextBox 4">
            <a:extLst>
              <a:ext uri="{FF2B5EF4-FFF2-40B4-BE49-F238E27FC236}">
                <a16:creationId xmlns:a16="http://schemas.microsoft.com/office/drawing/2014/main" id="{D68E8285-3BE2-9990-FA54-E6AF741CC812}"/>
              </a:ext>
            </a:extLst>
          </p:cNvPr>
          <p:cNvSpPr txBox="1"/>
          <p:nvPr userDrawn="1"/>
        </p:nvSpPr>
        <p:spPr>
          <a:xfrm>
            <a:off x="1252432" y="9855354"/>
            <a:ext cx="5029200" cy="246221"/>
          </a:xfrm>
          <a:prstGeom prst="rect">
            <a:avLst/>
          </a:prstGeom>
          <a:noFill/>
        </p:spPr>
        <p:txBody>
          <a:bodyPr wrap="square" lIns="0" anchor="b" anchorCtr="0">
            <a:spAutoFit/>
          </a:bodyPr>
          <a:lstStyle/>
          <a:p>
            <a:pPr marL="0" marR="0" lvl="0" indent="0" algn="l" defTabSz="548626" rtl="0" eaLnBrk="0" fontAlgn="auto" latinLnBrk="0" hangingPunct="0">
              <a:lnSpc>
                <a:spcPct val="100000"/>
              </a:lnSpc>
              <a:spcBef>
                <a:spcPts val="0"/>
              </a:spcBef>
              <a:spcAft>
                <a:spcPts val="0"/>
              </a:spcAft>
              <a:buClrTx/>
              <a:buSzTx/>
              <a:buFontTx/>
              <a:buNone/>
              <a:tabLst/>
              <a:defRPr/>
            </a:pPr>
            <a:r>
              <a:rPr kumimoji="0" lang="en-US" sz="1000" b="0" i="0" u="none" strike="noStrike" kern="300" cap="none" spc="100" normalizeH="0" baseline="0" noProof="0" dirty="0">
                <a:ln>
                  <a:noFill/>
                </a:ln>
                <a:solidFill>
                  <a:schemeClr val="accent5"/>
                </a:solidFill>
                <a:effectLst/>
                <a:uLnTx/>
                <a:uFillTx/>
                <a:latin typeface="Anova Light" panose="020B0403020203020204" pitchFamily="34" charset="0"/>
                <a:ea typeface="Anova Bold" panose="020B0703020203020204" pitchFamily="34" charset="0"/>
                <a:cs typeface="Anova Light" panose="020B0403020203020204" pitchFamily="34" charset="0"/>
              </a:rPr>
              <a:t>Copyright © SAS Institute Inc. All rights reserved.</a:t>
            </a:r>
          </a:p>
        </p:txBody>
      </p:sp>
      <p:pic>
        <p:nvPicPr>
          <p:cNvPr id="2" name="Picture 6">
            <a:extLst>
              <a:ext uri="{FF2B5EF4-FFF2-40B4-BE49-F238E27FC236}">
                <a16:creationId xmlns:a16="http://schemas.microsoft.com/office/drawing/2014/main" id="{9DCBE7B6-1449-C2E2-1508-3F2B78AA27F6}"/>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6826158" y="9516543"/>
            <a:ext cx="1112812" cy="461922"/>
          </a:xfrm>
          <a:prstGeom prst="rect">
            <a:avLst/>
          </a:prstGeom>
        </p:spPr>
      </p:pic>
    </p:spTree>
    <p:custDataLst>
      <p:tags r:id="rId1"/>
    </p:custDataLst>
    <p:extLst>
      <p:ext uri="{BB962C8B-B14F-4D97-AF65-F5344CB8AC3E}">
        <p14:creationId xmlns:p14="http://schemas.microsoft.com/office/powerpoint/2010/main" val="42166214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a14="http://schemas.microsoft.com/office/drawing/2010/main" xmlns:asvg="http://schemas.microsoft.com/office/drawing/2016/SVG/main"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SAS - Title">
    <p:bg>
      <p:bgPr>
        <a:solidFill>
          <a:schemeClr val="bg2"/>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1F1FD6A3-53F9-5AA7-7099-CFD8CF29E43C}"/>
              </a:ext>
            </a:extLst>
          </p:cNvPr>
          <p:cNvPicPr>
            <a:picLocks noChangeAspect="1"/>
          </p:cNvPicPr>
          <p:nvPr userDrawn="1"/>
        </p:nvPicPr>
        <p:blipFill>
          <a:blip r:embed="rId3"/>
          <a:stretch>
            <a:fillRect/>
          </a:stretch>
        </p:blipFill>
        <p:spPr>
          <a:xfrm>
            <a:off x="14463799" y="8276976"/>
            <a:ext cx="2566902" cy="1057524"/>
          </a:xfrm>
          <a:prstGeom prst="rect">
            <a:avLst/>
          </a:prstGeom>
        </p:spPr>
      </p:pic>
      <p:sp>
        <p:nvSpPr>
          <p:cNvPr id="7" name="Title Placeholder 1">
            <a:extLst>
              <a:ext uri="{FF2B5EF4-FFF2-40B4-BE49-F238E27FC236}">
                <a16:creationId xmlns:a16="http://schemas.microsoft.com/office/drawing/2014/main" id="{0B679E91-B2F1-7013-ED34-D7763B653081}"/>
              </a:ext>
            </a:extLst>
          </p:cNvPr>
          <p:cNvSpPr>
            <a:spLocks noGrp="1"/>
          </p:cNvSpPr>
          <p:nvPr>
            <p:ph type="title" hasCustomPrompt="1"/>
          </p:nvPr>
        </p:nvSpPr>
        <p:spPr>
          <a:xfrm>
            <a:off x="1252432" y="2927508"/>
            <a:ext cx="15782544" cy="1292662"/>
          </a:xfrm>
          <a:prstGeom prst="rect">
            <a:avLst/>
          </a:prstGeom>
        </p:spPr>
        <p:txBody>
          <a:bodyPr vert="horz" wrap="square" lIns="0" tIns="0" rIns="0" bIns="182880" rtlCol="0" anchor="b" anchorCtr="0">
            <a:spAutoFit/>
          </a:bodyPr>
          <a:lstStyle>
            <a:lvl1pPr>
              <a:lnSpc>
                <a:spcPct val="100000"/>
              </a:lnSpc>
              <a:spcBef>
                <a:spcPts val="600"/>
              </a:spcBef>
              <a:defRPr sz="7200">
                <a:solidFill>
                  <a:schemeClr val="bg1"/>
                </a:solidFill>
              </a:defRPr>
            </a:lvl1pPr>
          </a:lstStyle>
          <a:p>
            <a:r>
              <a:rPr lang="en-US" dirty="0"/>
              <a:t>Click to Add Slideshow Title</a:t>
            </a:r>
          </a:p>
        </p:txBody>
      </p:sp>
      <p:sp>
        <p:nvSpPr>
          <p:cNvPr id="14" name="Text Placeholder 13">
            <a:extLst>
              <a:ext uri="{FF2B5EF4-FFF2-40B4-BE49-F238E27FC236}">
                <a16:creationId xmlns:a16="http://schemas.microsoft.com/office/drawing/2014/main" id="{2A390F57-72E5-BAC5-624C-175BE96B8516}"/>
              </a:ext>
            </a:extLst>
          </p:cNvPr>
          <p:cNvSpPr>
            <a:spLocks noGrp="1"/>
          </p:cNvSpPr>
          <p:nvPr>
            <p:ph type="body" sz="quarter" idx="10" hasCustomPrompt="1"/>
          </p:nvPr>
        </p:nvSpPr>
        <p:spPr>
          <a:xfrm>
            <a:off x="1252432" y="4220170"/>
            <a:ext cx="15782544" cy="923330"/>
          </a:xfrm>
        </p:spPr>
        <p:txBody>
          <a:bodyPr wrap="square">
            <a:noAutofit/>
          </a:bodyPr>
          <a:lstStyle>
            <a:lvl1pPr marL="0" indent="0">
              <a:lnSpc>
                <a:spcPct val="100000"/>
              </a:lnSpc>
              <a:spcBef>
                <a:spcPts val="600"/>
              </a:spcBef>
              <a:buNone/>
              <a:defRPr sz="4800">
                <a:solidFill>
                  <a:schemeClr val="accent3"/>
                </a:solidFill>
              </a:defRPr>
            </a:lvl1pPr>
            <a:lvl2pPr marL="365760" indent="0">
              <a:buNone/>
              <a:defRPr>
                <a:solidFill>
                  <a:schemeClr val="accent3"/>
                </a:solidFill>
              </a:defRPr>
            </a:lvl2pPr>
            <a:lvl3pPr marL="731520" indent="0">
              <a:buNone/>
              <a:defRPr>
                <a:solidFill>
                  <a:schemeClr val="accent3"/>
                </a:solidFill>
              </a:defRPr>
            </a:lvl3pPr>
            <a:lvl4pPr marL="2057400" indent="0">
              <a:buNone/>
              <a:defRPr>
                <a:solidFill>
                  <a:schemeClr val="accent3"/>
                </a:solidFill>
              </a:defRPr>
            </a:lvl4pPr>
            <a:lvl5pPr marL="2743200" indent="0">
              <a:buNone/>
              <a:defRPr>
                <a:solidFill>
                  <a:schemeClr val="accent3"/>
                </a:solidFill>
              </a:defRPr>
            </a:lvl5pPr>
          </a:lstStyle>
          <a:p>
            <a:pPr lvl="0"/>
            <a:r>
              <a:rPr lang="en-US" dirty="0"/>
              <a:t>Click to Add Slideshow Subtitle</a:t>
            </a:r>
          </a:p>
        </p:txBody>
      </p:sp>
      <p:sp>
        <p:nvSpPr>
          <p:cNvPr id="16" name="Text Placeholder 15">
            <a:extLst>
              <a:ext uri="{FF2B5EF4-FFF2-40B4-BE49-F238E27FC236}">
                <a16:creationId xmlns:a16="http://schemas.microsoft.com/office/drawing/2014/main" id="{30273A50-3E84-0E24-0D4A-64F939D590FA}"/>
              </a:ext>
            </a:extLst>
          </p:cNvPr>
          <p:cNvSpPr>
            <a:spLocks noGrp="1"/>
          </p:cNvSpPr>
          <p:nvPr>
            <p:ph type="body" sz="quarter" idx="11" hasCustomPrompt="1"/>
          </p:nvPr>
        </p:nvSpPr>
        <p:spPr>
          <a:xfrm>
            <a:off x="1252432" y="8276977"/>
            <a:ext cx="12123722" cy="1057522"/>
          </a:xfrm>
        </p:spPr>
        <p:txBody>
          <a:bodyPr wrap="square" anchor="ctr" anchorCtr="0">
            <a:noAutofit/>
          </a:bodyPr>
          <a:lstStyle>
            <a:lvl1pPr marL="0" indent="0">
              <a:lnSpc>
                <a:spcPct val="100000"/>
              </a:lnSpc>
              <a:spcBef>
                <a:spcPts val="600"/>
              </a:spcBef>
              <a:buNone/>
              <a:defRPr sz="2800">
                <a:solidFill>
                  <a:schemeClr val="accent3"/>
                </a:solidFill>
              </a:defRPr>
            </a:lvl1pPr>
            <a:lvl2pPr marL="365760" indent="0">
              <a:buNone/>
              <a:defRPr sz="2200">
                <a:solidFill>
                  <a:schemeClr val="accent3"/>
                </a:solidFill>
              </a:defRPr>
            </a:lvl2pPr>
            <a:lvl3pPr marL="731520" indent="0">
              <a:buNone/>
              <a:defRPr sz="2100">
                <a:solidFill>
                  <a:schemeClr val="accent3"/>
                </a:solidFill>
              </a:defRPr>
            </a:lvl3pPr>
            <a:lvl4pPr marL="2057400" indent="0">
              <a:buNone/>
              <a:defRPr sz="2000">
                <a:solidFill>
                  <a:schemeClr val="accent3"/>
                </a:solidFill>
              </a:defRPr>
            </a:lvl4pPr>
            <a:lvl5pPr marL="2743200" indent="0">
              <a:buNone/>
              <a:defRPr sz="2000">
                <a:solidFill>
                  <a:schemeClr val="accent3"/>
                </a:solidFill>
              </a:defRPr>
            </a:lvl5pPr>
          </a:lstStyle>
          <a:p>
            <a:pPr lvl="0"/>
            <a:r>
              <a:rPr lang="en-US" dirty="0"/>
              <a:t>Click to Add Presenter Info</a:t>
            </a:r>
          </a:p>
        </p:txBody>
      </p:sp>
      <p:sp>
        <p:nvSpPr>
          <p:cNvPr id="2" name="TextBox 4">
            <a:extLst>
              <a:ext uri="{FF2B5EF4-FFF2-40B4-BE49-F238E27FC236}">
                <a16:creationId xmlns:a16="http://schemas.microsoft.com/office/drawing/2014/main" id="{B30C0FC0-2C2C-10CE-0594-84811DEFE33B}"/>
              </a:ext>
            </a:extLst>
          </p:cNvPr>
          <p:cNvSpPr txBox="1"/>
          <p:nvPr userDrawn="1"/>
        </p:nvSpPr>
        <p:spPr>
          <a:xfrm>
            <a:off x="1252432" y="9855354"/>
            <a:ext cx="5029200" cy="246221"/>
          </a:xfrm>
          <a:prstGeom prst="rect">
            <a:avLst/>
          </a:prstGeom>
          <a:noFill/>
        </p:spPr>
        <p:txBody>
          <a:bodyPr wrap="square" lIns="0" anchor="b" anchorCtr="0">
            <a:spAutoFit/>
          </a:bodyPr>
          <a:lstStyle/>
          <a:p>
            <a:pPr marL="0" marR="0" lvl="0" indent="0" algn="l" defTabSz="548626" rtl="0" eaLnBrk="0" fontAlgn="auto" latinLnBrk="0" hangingPunct="0">
              <a:lnSpc>
                <a:spcPct val="100000"/>
              </a:lnSpc>
              <a:spcBef>
                <a:spcPts val="0"/>
              </a:spcBef>
              <a:spcAft>
                <a:spcPts val="0"/>
              </a:spcAft>
              <a:buClrTx/>
              <a:buSzTx/>
              <a:buFontTx/>
              <a:buNone/>
              <a:tabLst/>
              <a:defRPr/>
            </a:pPr>
            <a:r>
              <a:rPr kumimoji="0" lang="en-US" sz="1000" b="0" i="0" u="none" strike="noStrike" kern="300" cap="none" spc="100" normalizeH="0" baseline="0" noProof="0" dirty="0">
                <a:ln>
                  <a:noFill/>
                </a:ln>
                <a:solidFill>
                  <a:schemeClr val="accent3"/>
                </a:solidFill>
                <a:effectLst/>
                <a:uLnTx/>
                <a:uFillTx/>
                <a:latin typeface="Anova Light" panose="020B0403020203020204" pitchFamily="34" charset="0"/>
                <a:ea typeface="Anova Bold" panose="020B0703020203020204" pitchFamily="34" charset="0"/>
                <a:cs typeface="Anova Light" panose="020B0403020203020204" pitchFamily="34" charset="0"/>
              </a:rPr>
              <a:t>Copyright © SAS Institute Inc. All rights reserved.</a:t>
            </a:r>
          </a:p>
        </p:txBody>
      </p:sp>
    </p:spTree>
    <p:custDataLst>
      <p:tags r:id="rId1"/>
    </p:custDataLst>
    <p:extLst>
      <p:ext uri="{BB962C8B-B14F-4D97-AF65-F5344CB8AC3E}">
        <p14:creationId xmlns:p14="http://schemas.microsoft.com/office/powerpoint/2010/main" val="30734288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SAS - Section">
    <p:bg>
      <p:bgPr>
        <a:solidFill>
          <a:schemeClr val="accent5"/>
        </a:solidFill>
        <a:effectLst/>
      </p:bgPr>
    </p:bg>
    <p:spTree>
      <p:nvGrpSpPr>
        <p:cNvPr id="1" name=""/>
        <p:cNvGrpSpPr/>
        <p:nvPr/>
      </p:nvGrpSpPr>
      <p:grpSpPr>
        <a:xfrm>
          <a:off x="0" y="0"/>
          <a:ext cx="0" cy="0"/>
          <a:chOff x="0" y="0"/>
          <a:chExt cx="0" cy="0"/>
        </a:xfrm>
      </p:grpSpPr>
      <p:sp>
        <p:nvSpPr>
          <p:cNvPr id="7" name="Title Placeholder 1">
            <a:extLst>
              <a:ext uri="{FF2B5EF4-FFF2-40B4-BE49-F238E27FC236}">
                <a16:creationId xmlns:a16="http://schemas.microsoft.com/office/drawing/2014/main" id="{0B679E91-B2F1-7013-ED34-D7763B653081}"/>
              </a:ext>
            </a:extLst>
          </p:cNvPr>
          <p:cNvSpPr>
            <a:spLocks noGrp="1"/>
          </p:cNvSpPr>
          <p:nvPr>
            <p:ph type="title" hasCustomPrompt="1"/>
          </p:nvPr>
        </p:nvSpPr>
        <p:spPr>
          <a:xfrm>
            <a:off x="1252432" y="3850838"/>
            <a:ext cx="12123722" cy="1292662"/>
          </a:xfrm>
          <a:prstGeom prst="rect">
            <a:avLst/>
          </a:prstGeom>
        </p:spPr>
        <p:txBody>
          <a:bodyPr vert="horz" wrap="square" lIns="0" tIns="0" rIns="0" bIns="182880" rtlCol="0" anchor="b" anchorCtr="0">
            <a:spAutoFit/>
          </a:bodyPr>
          <a:lstStyle>
            <a:lvl1pPr>
              <a:lnSpc>
                <a:spcPct val="100000"/>
              </a:lnSpc>
              <a:spcBef>
                <a:spcPts val="600"/>
              </a:spcBef>
              <a:defRPr sz="7200">
                <a:solidFill>
                  <a:schemeClr val="bg1"/>
                </a:solidFill>
              </a:defRPr>
            </a:lvl1pPr>
          </a:lstStyle>
          <a:p>
            <a:r>
              <a:rPr lang="en-US" dirty="0"/>
              <a:t>Click to Add Section Title</a:t>
            </a:r>
          </a:p>
        </p:txBody>
      </p:sp>
      <p:sp>
        <p:nvSpPr>
          <p:cNvPr id="14" name="Text Placeholder 13">
            <a:extLst>
              <a:ext uri="{FF2B5EF4-FFF2-40B4-BE49-F238E27FC236}">
                <a16:creationId xmlns:a16="http://schemas.microsoft.com/office/drawing/2014/main" id="{2A390F57-72E5-BAC5-624C-175BE96B8516}"/>
              </a:ext>
            </a:extLst>
          </p:cNvPr>
          <p:cNvSpPr>
            <a:spLocks noGrp="1"/>
          </p:cNvSpPr>
          <p:nvPr>
            <p:ph type="body" sz="quarter" idx="10" hasCustomPrompt="1"/>
          </p:nvPr>
        </p:nvSpPr>
        <p:spPr>
          <a:xfrm>
            <a:off x="1252432" y="5342753"/>
            <a:ext cx="12123722" cy="923330"/>
          </a:xfrm>
        </p:spPr>
        <p:txBody>
          <a:bodyPr wrap="square" anchor="t" anchorCtr="0">
            <a:noAutofit/>
          </a:bodyPr>
          <a:lstStyle>
            <a:lvl1pPr marL="0" indent="0">
              <a:lnSpc>
                <a:spcPct val="100000"/>
              </a:lnSpc>
              <a:spcBef>
                <a:spcPts val="600"/>
              </a:spcBef>
              <a:buNone/>
              <a:defRPr sz="4800">
                <a:solidFill>
                  <a:schemeClr val="bg1"/>
                </a:solidFill>
              </a:defRPr>
            </a:lvl1pPr>
            <a:lvl2pPr marL="365760" indent="0">
              <a:buNone/>
              <a:defRPr>
                <a:solidFill>
                  <a:schemeClr val="accent3"/>
                </a:solidFill>
              </a:defRPr>
            </a:lvl2pPr>
            <a:lvl3pPr marL="731520" indent="0">
              <a:buNone/>
              <a:defRPr>
                <a:solidFill>
                  <a:schemeClr val="accent3"/>
                </a:solidFill>
              </a:defRPr>
            </a:lvl3pPr>
            <a:lvl4pPr marL="2057400" indent="0">
              <a:buNone/>
              <a:defRPr>
                <a:solidFill>
                  <a:schemeClr val="accent3"/>
                </a:solidFill>
              </a:defRPr>
            </a:lvl4pPr>
            <a:lvl5pPr marL="2743200" indent="0">
              <a:buNone/>
              <a:defRPr>
                <a:solidFill>
                  <a:schemeClr val="accent3"/>
                </a:solidFill>
              </a:defRPr>
            </a:lvl5pPr>
          </a:lstStyle>
          <a:p>
            <a:pPr lvl="0"/>
            <a:r>
              <a:rPr lang="en-US" dirty="0"/>
              <a:t>Click to Add Section Subtitle</a:t>
            </a:r>
          </a:p>
        </p:txBody>
      </p:sp>
      <p:sp>
        <p:nvSpPr>
          <p:cNvPr id="2" name="TextBox 4">
            <a:extLst>
              <a:ext uri="{FF2B5EF4-FFF2-40B4-BE49-F238E27FC236}">
                <a16:creationId xmlns:a16="http://schemas.microsoft.com/office/drawing/2014/main" id="{D4FEAADD-6A43-A3AD-C613-62CE351F3456}"/>
              </a:ext>
            </a:extLst>
          </p:cNvPr>
          <p:cNvSpPr txBox="1"/>
          <p:nvPr userDrawn="1"/>
        </p:nvSpPr>
        <p:spPr>
          <a:xfrm>
            <a:off x="1252432" y="9855354"/>
            <a:ext cx="5029200" cy="246221"/>
          </a:xfrm>
          <a:prstGeom prst="rect">
            <a:avLst/>
          </a:prstGeom>
          <a:noFill/>
        </p:spPr>
        <p:txBody>
          <a:bodyPr wrap="square" lIns="0" anchor="b" anchorCtr="0">
            <a:spAutoFit/>
          </a:bodyPr>
          <a:lstStyle/>
          <a:p>
            <a:pPr marL="0" marR="0" lvl="0" indent="0" algn="l" defTabSz="548626" rtl="0" eaLnBrk="0" fontAlgn="auto" latinLnBrk="0" hangingPunct="0">
              <a:lnSpc>
                <a:spcPct val="100000"/>
              </a:lnSpc>
              <a:spcBef>
                <a:spcPts val="0"/>
              </a:spcBef>
              <a:spcAft>
                <a:spcPts val="0"/>
              </a:spcAft>
              <a:buClrTx/>
              <a:buSzTx/>
              <a:buFontTx/>
              <a:buNone/>
              <a:tabLst/>
              <a:defRPr/>
            </a:pPr>
            <a:r>
              <a:rPr kumimoji="0" lang="en-US" sz="1000" b="0" i="0" u="none" strike="noStrike" kern="300" cap="none" spc="100" normalizeH="0" baseline="0" noProof="0" dirty="0">
                <a:ln>
                  <a:noFill/>
                </a:ln>
                <a:solidFill>
                  <a:schemeClr val="accent5">
                    <a:lumMod val="20000"/>
                    <a:lumOff val="80000"/>
                  </a:schemeClr>
                </a:solidFill>
                <a:effectLst/>
                <a:uLnTx/>
                <a:uFillTx/>
                <a:latin typeface="Anova Light" panose="020B0403020203020204" pitchFamily="34" charset="0"/>
                <a:ea typeface="Anova Bold" panose="020B0703020203020204" pitchFamily="34" charset="0"/>
                <a:cs typeface="Anova Light" panose="020B0403020203020204" pitchFamily="34" charset="0"/>
              </a:rPr>
              <a:t>Copyright © SAS Institute Inc. All rights reserved.</a:t>
            </a:r>
          </a:p>
        </p:txBody>
      </p:sp>
      <p:pic>
        <p:nvPicPr>
          <p:cNvPr id="3" name="Picture 6">
            <a:extLst>
              <a:ext uri="{FF2B5EF4-FFF2-40B4-BE49-F238E27FC236}">
                <a16:creationId xmlns:a16="http://schemas.microsoft.com/office/drawing/2014/main" id="{D65EAAE1-A5CA-D245-874C-7FB6F8D56FAA}"/>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6826158" y="9516543"/>
            <a:ext cx="1112812" cy="461922"/>
          </a:xfrm>
          <a:prstGeom prst="rect">
            <a:avLst/>
          </a:prstGeom>
        </p:spPr>
      </p:pic>
    </p:spTree>
    <p:custDataLst>
      <p:tags r:id="rId1"/>
    </p:custDataLst>
    <p:extLst>
      <p:ext uri="{BB962C8B-B14F-4D97-AF65-F5344CB8AC3E}">
        <p14:creationId xmlns:p14="http://schemas.microsoft.com/office/powerpoint/2010/main" val="339787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a14="http://schemas.microsoft.com/office/drawing/2010/main" xmlns:asvg="http://schemas.microsoft.com/office/drawing/2016/SVG/main"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AS - Title Only">
    <p:spTree>
      <p:nvGrpSpPr>
        <p:cNvPr id="1" name=""/>
        <p:cNvGrpSpPr/>
        <p:nvPr/>
      </p:nvGrpSpPr>
      <p:grpSpPr>
        <a:xfrm>
          <a:off x="0" y="0"/>
          <a:ext cx="0" cy="0"/>
          <a:chOff x="0" y="0"/>
          <a:chExt cx="0" cy="0"/>
        </a:xfrm>
      </p:grpSpPr>
      <p:sp>
        <p:nvSpPr>
          <p:cNvPr id="12" name="Title Placeholder 1">
            <a:extLst>
              <a:ext uri="{FF2B5EF4-FFF2-40B4-BE49-F238E27FC236}">
                <a16:creationId xmlns:a16="http://schemas.microsoft.com/office/drawing/2014/main" id="{6F060396-EEE3-A20F-EF3B-666AF65526C8}"/>
              </a:ext>
            </a:extLst>
          </p:cNvPr>
          <p:cNvSpPr>
            <a:spLocks noGrp="1"/>
          </p:cNvSpPr>
          <p:nvPr>
            <p:ph type="title" hasCustomPrompt="1"/>
          </p:nvPr>
        </p:nvSpPr>
        <p:spPr>
          <a:xfrm>
            <a:off x="1257300" y="710304"/>
            <a:ext cx="15773400" cy="775596"/>
          </a:xfrm>
          <a:prstGeom prst="rect">
            <a:avLst/>
          </a:prstGeom>
        </p:spPr>
        <p:txBody>
          <a:bodyPr vert="horz" lIns="0" tIns="0" rIns="0" bIns="0" rtlCol="0" anchor="ctr">
            <a:spAutoFit/>
          </a:bodyPr>
          <a:lstStyle/>
          <a:p>
            <a:r>
              <a:rPr lang="en-US" dirty="0"/>
              <a:t>Click to Add Slide Title</a:t>
            </a:r>
          </a:p>
        </p:txBody>
      </p:sp>
    </p:spTree>
    <p:custDataLst>
      <p:tags r:id="rId1"/>
    </p:custDataLst>
    <p:extLst>
      <p:ext uri="{BB962C8B-B14F-4D97-AF65-F5344CB8AC3E}">
        <p14:creationId xmlns:p14="http://schemas.microsoft.com/office/powerpoint/2010/main" val="39208831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AS - Title &amp; Subtitl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normAutofit/>
          </a:bodyPr>
          <a:lstStyle>
            <a:lvl1pPr algn="l">
              <a:defRPr>
                <a:solidFill>
                  <a:schemeClr val="accent5"/>
                </a:solidFill>
              </a:defRPr>
            </a:lvl1pPr>
          </a:lstStyle>
          <a:p>
            <a:r>
              <a:rPr lang="en-US" dirty="0"/>
              <a:t>Click to Add Slide Title</a:t>
            </a:r>
          </a:p>
        </p:txBody>
      </p:sp>
      <p:sp>
        <p:nvSpPr>
          <p:cNvPr id="5" name="Text Placeholder 4">
            <a:extLst>
              <a:ext uri="{FF2B5EF4-FFF2-40B4-BE49-F238E27FC236}">
                <a16:creationId xmlns:a16="http://schemas.microsoft.com/office/drawing/2014/main" id="{0040EF35-062A-4CF7-B99A-D6EF688F370B}"/>
              </a:ext>
            </a:extLst>
          </p:cNvPr>
          <p:cNvSpPr>
            <a:spLocks noGrp="1"/>
          </p:cNvSpPr>
          <p:nvPr>
            <p:ph type="body" sz="quarter" idx="10" hasCustomPrompt="1"/>
          </p:nvPr>
        </p:nvSpPr>
        <p:spPr>
          <a:xfrm>
            <a:off x="1257300" y="1562100"/>
            <a:ext cx="15773400" cy="549382"/>
          </a:xfrm>
          <a:prstGeom prst="rect">
            <a:avLst/>
          </a:prstGeom>
        </p:spPr>
        <p:txBody>
          <a:bodyPr anchor="t">
            <a:normAutofit/>
          </a:bodyPr>
          <a:lstStyle>
            <a:lvl1pPr marL="0" indent="0" algn="l">
              <a:buNone/>
              <a:defRPr>
                <a:solidFill>
                  <a:schemeClr val="bg2"/>
                </a:solidFill>
              </a:defRPr>
            </a:lvl1pPr>
            <a:lvl2pPr marL="365760" indent="0">
              <a:buNone/>
              <a:defRPr/>
            </a:lvl2pPr>
            <a:lvl3pPr marL="731520" indent="0">
              <a:buNone/>
              <a:defRPr/>
            </a:lvl3pPr>
            <a:lvl4pPr marL="2057400" indent="0">
              <a:buNone/>
              <a:defRPr/>
            </a:lvl4pPr>
            <a:lvl5pPr marL="2743200" indent="0">
              <a:buNone/>
              <a:defRPr/>
            </a:lvl5pPr>
          </a:lstStyle>
          <a:p>
            <a:pPr lvl="0"/>
            <a:r>
              <a:rPr lang="en-US" dirty="0"/>
              <a:t>Click to Add Subtitle</a:t>
            </a:r>
          </a:p>
        </p:txBody>
      </p:sp>
    </p:spTree>
    <p:custDataLst>
      <p:tags r:id="rId1"/>
    </p:custDataLst>
    <p:extLst>
      <p:ext uri="{BB962C8B-B14F-4D97-AF65-F5344CB8AC3E}">
        <p14:creationId xmlns:p14="http://schemas.microsoft.com/office/powerpoint/2010/main" val="27351236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AS -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normAutofit/>
          </a:bodyPr>
          <a:lstStyle>
            <a:lvl1pPr>
              <a:defRPr>
                <a:solidFill>
                  <a:schemeClr val="accent5"/>
                </a:solidFill>
              </a:defRPr>
            </a:lvl1pPr>
          </a:lstStyle>
          <a:p>
            <a:r>
              <a:rPr lang="en-US" dirty="0"/>
              <a:t>Click to Add Slide Title</a:t>
            </a:r>
          </a:p>
        </p:txBody>
      </p:sp>
      <p:sp>
        <p:nvSpPr>
          <p:cNvPr id="4" name="Text Placeholder 2">
            <a:extLst>
              <a:ext uri="{FF2B5EF4-FFF2-40B4-BE49-F238E27FC236}">
                <a16:creationId xmlns:a16="http://schemas.microsoft.com/office/drawing/2014/main" id="{94E85CBA-188F-58DF-65B2-BD90C57AB500}"/>
              </a:ext>
            </a:extLst>
          </p:cNvPr>
          <p:cNvSpPr>
            <a:spLocks noGrp="1"/>
          </p:cNvSpPr>
          <p:nvPr>
            <p:ph idx="1"/>
          </p:nvPr>
        </p:nvSpPr>
        <p:spPr>
          <a:xfrm>
            <a:off x="1257300" y="2400300"/>
            <a:ext cx="15773400" cy="6444273"/>
          </a:xfrm>
          <a:prstGeom prst="rect">
            <a:avLst/>
          </a:prstGeom>
        </p:spPr>
        <p:txBody>
          <a:bodyPr vert="horz" lIns="0" tIns="0" rIns="0" bIns="0" rtlCol="0">
            <a:normAutofit/>
          </a:bodyPr>
          <a:lstStyle>
            <a:lvl1pPr>
              <a:defRPr sz="3600"/>
            </a:lvl1pPr>
            <a:lvl2pPr>
              <a:defRPr sz="2800"/>
            </a:lvl2pPr>
            <a:lvl3pPr>
              <a:defRPr sz="2400">
                <a:latin typeface="+mn-lt"/>
              </a:defRPr>
            </a:lvl3pPr>
          </a:lstStyle>
          <a:p>
            <a:pPr lvl="0"/>
            <a:r>
              <a:rPr lang="en-US" dirty="0"/>
              <a:t>Click to edit Master text styles</a:t>
            </a:r>
          </a:p>
          <a:p>
            <a:pPr lvl="1"/>
            <a:r>
              <a:rPr lang="en-US" dirty="0"/>
              <a:t>Second level</a:t>
            </a:r>
          </a:p>
          <a:p>
            <a:pPr lvl="2"/>
            <a:r>
              <a:rPr lang="en-US" dirty="0"/>
              <a:t>Third level</a:t>
            </a:r>
          </a:p>
        </p:txBody>
      </p:sp>
      <p:sp>
        <p:nvSpPr>
          <p:cNvPr id="8" name="Text Placeholder 4">
            <a:extLst>
              <a:ext uri="{FF2B5EF4-FFF2-40B4-BE49-F238E27FC236}">
                <a16:creationId xmlns:a16="http://schemas.microsoft.com/office/drawing/2014/main" id="{9A71ABFD-7D9E-8B81-8F10-AD3B259CD532}"/>
              </a:ext>
            </a:extLst>
          </p:cNvPr>
          <p:cNvSpPr>
            <a:spLocks noGrp="1"/>
          </p:cNvSpPr>
          <p:nvPr>
            <p:ph type="body" sz="quarter" idx="10" hasCustomPrompt="1"/>
          </p:nvPr>
        </p:nvSpPr>
        <p:spPr>
          <a:xfrm>
            <a:off x="1257300" y="1562100"/>
            <a:ext cx="15773400" cy="549382"/>
          </a:xfrm>
          <a:prstGeom prst="rect">
            <a:avLst/>
          </a:prstGeom>
        </p:spPr>
        <p:txBody>
          <a:bodyPr anchor="t">
            <a:normAutofit/>
          </a:bodyPr>
          <a:lstStyle>
            <a:lvl1pPr marL="0" indent="0" algn="l">
              <a:buNone/>
              <a:defRPr>
                <a:solidFill>
                  <a:schemeClr val="accent1"/>
                </a:solidFill>
              </a:defRPr>
            </a:lvl1pPr>
            <a:lvl2pPr marL="365760" indent="0">
              <a:buNone/>
              <a:defRPr/>
            </a:lvl2pPr>
            <a:lvl3pPr marL="731520" indent="0">
              <a:buNone/>
              <a:defRPr/>
            </a:lvl3pPr>
            <a:lvl4pPr marL="2057400" indent="0">
              <a:buNone/>
              <a:defRPr/>
            </a:lvl4pPr>
            <a:lvl5pPr marL="2743200" indent="0">
              <a:buNone/>
              <a:defRPr/>
            </a:lvl5pPr>
          </a:lstStyle>
          <a:p>
            <a:pPr lvl="0"/>
            <a:r>
              <a:rPr lang="en-US" dirty="0"/>
              <a:t>Click to Add Subtitle</a:t>
            </a:r>
          </a:p>
        </p:txBody>
      </p:sp>
    </p:spTree>
    <p:custDataLst>
      <p:tags r:id="rId1"/>
    </p:custDataLst>
    <p:extLst>
      <p:ext uri="{BB962C8B-B14F-4D97-AF65-F5344CB8AC3E}">
        <p14:creationId xmlns:p14="http://schemas.microsoft.com/office/powerpoint/2010/main" val="42158175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AS - Comparison">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normAutofit/>
          </a:bodyPr>
          <a:lstStyle>
            <a:lvl1pPr>
              <a:defRPr>
                <a:solidFill>
                  <a:schemeClr val="accent5"/>
                </a:solidFill>
              </a:defRPr>
            </a:lvl1pPr>
          </a:lstStyle>
          <a:p>
            <a:r>
              <a:rPr lang="en-US" dirty="0"/>
              <a:t>Click to Add Slide Title</a:t>
            </a:r>
          </a:p>
        </p:txBody>
      </p:sp>
      <p:sp>
        <p:nvSpPr>
          <p:cNvPr id="5" name="Text Placeholder 2">
            <a:extLst>
              <a:ext uri="{FF2B5EF4-FFF2-40B4-BE49-F238E27FC236}">
                <a16:creationId xmlns:a16="http://schemas.microsoft.com/office/drawing/2014/main" id="{B37A3D09-8DDB-0D78-49A3-63D553286BAA}"/>
              </a:ext>
            </a:extLst>
          </p:cNvPr>
          <p:cNvSpPr>
            <a:spLocks noGrp="1"/>
          </p:cNvSpPr>
          <p:nvPr>
            <p:ph idx="1"/>
          </p:nvPr>
        </p:nvSpPr>
        <p:spPr>
          <a:xfrm>
            <a:off x="1257299" y="2400300"/>
            <a:ext cx="7741846" cy="6444273"/>
          </a:xfrm>
          <a:prstGeom prst="rect">
            <a:avLst/>
          </a:prstGeom>
        </p:spPr>
        <p:txBody>
          <a:bodyPr vert="horz" lIns="0" tIns="0" rIns="0" bIns="0" rtlCol="0">
            <a:normAutofit/>
          </a:bodyPr>
          <a:lstStyle>
            <a:lvl1pPr>
              <a:defRPr sz="3600"/>
            </a:lvl1pPr>
            <a:lvl2pPr>
              <a:defRPr sz="2800">
                <a:latin typeface="+mn-lt"/>
              </a:defRPr>
            </a:lvl2pPr>
            <a:lvl3pPr>
              <a:defRPr sz="2400">
                <a:latin typeface="+mn-lt"/>
              </a:defRPr>
            </a:lvl3pPr>
          </a:lstStyle>
          <a:p>
            <a:pPr lvl="0"/>
            <a:r>
              <a:rPr lang="en-US" dirty="0"/>
              <a:t>Click to edit Master text styles</a:t>
            </a:r>
          </a:p>
          <a:p>
            <a:pPr lvl="1"/>
            <a:r>
              <a:rPr lang="en-US" dirty="0"/>
              <a:t>Second level</a:t>
            </a:r>
          </a:p>
          <a:p>
            <a:pPr lvl="2"/>
            <a:r>
              <a:rPr lang="en-US" dirty="0"/>
              <a:t>Third level</a:t>
            </a:r>
          </a:p>
        </p:txBody>
      </p:sp>
      <p:sp>
        <p:nvSpPr>
          <p:cNvPr id="7" name="Text Placeholder 2">
            <a:extLst>
              <a:ext uri="{FF2B5EF4-FFF2-40B4-BE49-F238E27FC236}">
                <a16:creationId xmlns:a16="http://schemas.microsoft.com/office/drawing/2014/main" id="{9EB0C531-8D77-DB91-D733-89B75593C437}"/>
              </a:ext>
            </a:extLst>
          </p:cNvPr>
          <p:cNvSpPr>
            <a:spLocks noGrp="1"/>
          </p:cNvSpPr>
          <p:nvPr>
            <p:ph idx="11"/>
          </p:nvPr>
        </p:nvSpPr>
        <p:spPr>
          <a:xfrm>
            <a:off x="9288856" y="2400300"/>
            <a:ext cx="7741848" cy="6444273"/>
          </a:xfrm>
          <a:prstGeom prst="rect">
            <a:avLst/>
          </a:prstGeom>
        </p:spPr>
        <p:txBody>
          <a:bodyPr vert="horz" lIns="0" tIns="0" rIns="0" bIns="0" rtlCol="0">
            <a:normAutofit/>
          </a:bodyPr>
          <a:lstStyle>
            <a:lvl1pPr>
              <a:defRPr sz="3600"/>
            </a:lvl1pPr>
            <a:lvl2pPr>
              <a:defRPr sz="2800">
                <a:latin typeface="+mn-lt"/>
              </a:defRPr>
            </a:lvl2pPr>
            <a:lvl3pPr>
              <a:defRPr sz="2400">
                <a:latin typeface="+mn-lt"/>
              </a:defRPr>
            </a:lvl3pPr>
          </a:lstStyle>
          <a:p>
            <a:pPr lvl="0"/>
            <a:r>
              <a:rPr lang="en-US" dirty="0"/>
              <a:t>Click to edit Master text styles</a:t>
            </a:r>
          </a:p>
          <a:p>
            <a:pPr lvl="1"/>
            <a:r>
              <a:rPr lang="en-US" dirty="0"/>
              <a:t>Second level</a:t>
            </a:r>
          </a:p>
          <a:p>
            <a:pPr lvl="2"/>
            <a:r>
              <a:rPr lang="en-US" dirty="0"/>
              <a:t>Third level</a:t>
            </a:r>
          </a:p>
        </p:txBody>
      </p:sp>
      <p:sp>
        <p:nvSpPr>
          <p:cNvPr id="9" name="Text Placeholder 4">
            <a:extLst>
              <a:ext uri="{FF2B5EF4-FFF2-40B4-BE49-F238E27FC236}">
                <a16:creationId xmlns:a16="http://schemas.microsoft.com/office/drawing/2014/main" id="{528E5A1D-0F7C-C89E-926C-359A1E6C4B96}"/>
              </a:ext>
            </a:extLst>
          </p:cNvPr>
          <p:cNvSpPr>
            <a:spLocks noGrp="1"/>
          </p:cNvSpPr>
          <p:nvPr>
            <p:ph type="body" sz="quarter" idx="10" hasCustomPrompt="1"/>
          </p:nvPr>
        </p:nvSpPr>
        <p:spPr>
          <a:xfrm>
            <a:off x="1257300" y="1562100"/>
            <a:ext cx="15773400" cy="549382"/>
          </a:xfrm>
          <a:prstGeom prst="rect">
            <a:avLst/>
          </a:prstGeom>
        </p:spPr>
        <p:txBody>
          <a:bodyPr anchor="t">
            <a:normAutofit/>
          </a:bodyPr>
          <a:lstStyle>
            <a:lvl1pPr marL="0" indent="0" algn="l">
              <a:buNone/>
              <a:defRPr>
                <a:solidFill>
                  <a:schemeClr val="bg2"/>
                </a:solidFill>
              </a:defRPr>
            </a:lvl1pPr>
            <a:lvl2pPr marL="365760" indent="0">
              <a:buNone/>
              <a:defRPr/>
            </a:lvl2pPr>
            <a:lvl3pPr marL="731520" indent="0">
              <a:buNone/>
              <a:defRPr/>
            </a:lvl3pPr>
            <a:lvl4pPr marL="2057400" indent="0">
              <a:buNone/>
              <a:defRPr/>
            </a:lvl4pPr>
            <a:lvl5pPr marL="2743200" indent="0">
              <a:buNone/>
              <a:defRPr/>
            </a:lvl5pPr>
          </a:lstStyle>
          <a:p>
            <a:pPr lvl="0"/>
            <a:r>
              <a:rPr lang="en-US" dirty="0"/>
              <a:t>Click to Add Subtitle</a:t>
            </a:r>
          </a:p>
        </p:txBody>
      </p:sp>
    </p:spTree>
    <p:custDataLst>
      <p:tags r:id="rId1"/>
    </p:custDataLst>
    <p:extLst>
      <p:ext uri="{BB962C8B-B14F-4D97-AF65-F5344CB8AC3E}">
        <p14:creationId xmlns:p14="http://schemas.microsoft.com/office/powerpoint/2010/main" val="25742539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AS - Title Only Right">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7932B69-D114-4F04-8825-FD80DE780B3F}"/>
              </a:ext>
            </a:extLst>
          </p:cNvPr>
          <p:cNvSpPr>
            <a:spLocks noGrp="1"/>
          </p:cNvSpPr>
          <p:nvPr>
            <p:ph type="title" hasCustomPrompt="1"/>
          </p:nvPr>
        </p:nvSpPr>
        <p:spPr>
          <a:xfrm>
            <a:off x="1257300" y="4367905"/>
            <a:ext cx="4428276" cy="1551194"/>
          </a:xfrm>
          <a:prstGeom prst="rect">
            <a:avLst/>
          </a:prstGeom>
        </p:spPr>
        <p:txBody>
          <a:bodyPr vert="horz" wrap="square" lIns="0" tIns="0" rIns="0" bIns="0" rtlCol="0" anchor="ctr">
            <a:spAutoFit/>
          </a:bodyPr>
          <a:lstStyle/>
          <a:p>
            <a:r>
              <a:rPr lang="en-US" dirty="0"/>
              <a:t>Click to Add Slide Title</a:t>
            </a:r>
          </a:p>
        </p:txBody>
      </p:sp>
    </p:spTree>
    <p:custDataLst>
      <p:tags r:id="rId1"/>
    </p:custDataLst>
    <p:extLst>
      <p:ext uri="{BB962C8B-B14F-4D97-AF65-F5344CB8AC3E}">
        <p14:creationId xmlns:p14="http://schemas.microsoft.com/office/powerpoint/2010/main" val="30691872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AS - Title &amp; Subtitle Right">
    <p:bg>
      <p:bgPr>
        <a:solidFill>
          <a:schemeClr val="bg1"/>
        </a:solidFill>
        <a:effectLst/>
      </p:bgPr>
    </p:bg>
    <p:spTree>
      <p:nvGrpSpPr>
        <p:cNvPr id="1" name=""/>
        <p:cNvGrpSpPr/>
        <p:nvPr/>
      </p:nvGrpSpPr>
      <p:grpSpPr>
        <a:xfrm>
          <a:off x="0" y="0"/>
          <a:ext cx="0" cy="0"/>
          <a:chOff x="0" y="0"/>
          <a:chExt cx="0" cy="0"/>
        </a:xfrm>
      </p:grpSpPr>
      <p:sp>
        <p:nvSpPr>
          <p:cNvPr id="2" name="Text Placeholder 4">
            <a:extLst>
              <a:ext uri="{FF2B5EF4-FFF2-40B4-BE49-F238E27FC236}">
                <a16:creationId xmlns:a16="http://schemas.microsoft.com/office/drawing/2014/main" id="{DCB0DC36-25B4-46CA-542D-A6308DDA0A46}"/>
              </a:ext>
            </a:extLst>
          </p:cNvPr>
          <p:cNvSpPr>
            <a:spLocks noGrp="1"/>
          </p:cNvSpPr>
          <p:nvPr>
            <p:ph type="body" sz="quarter" idx="10" hasCustomPrompt="1"/>
          </p:nvPr>
        </p:nvSpPr>
        <p:spPr>
          <a:xfrm>
            <a:off x="1257299" y="5920995"/>
            <a:ext cx="5004350" cy="549382"/>
          </a:xfrm>
          <a:prstGeom prst="rect">
            <a:avLst/>
          </a:prstGeom>
        </p:spPr>
        <p:txBody>
          <a:bodyPr wrap="square" anchor="t">
            <a:noAutofit/>
          </a:bodyPr>
          <a:lstStyle>
            <a:lvl1pPr marL="0" indent="0" algn="l">
              <a:buNone/>
              <a:defRPr>
                <a:solidFill>
                  <a:schemeClr val="bg2"/>
                </a:solidFill>
              </a:defRPr>
            </a:lvl1pPr>
            <a:lvl2pPr marL="365760" indent="0">
              <a:buNone/>
              <a:defRPr/>
            </a:lvl2pPr>
            <a:lvl3pPr marL="731520" indent="0">
              <a:buNone/>
              <a:defRPr/>
            </a:lvl3pPr>
            <a:lvl4pPr marL="2057400" indent="0">
              <a:buNone/>
              <a:defRPr/>
            </a:lvl4pPr>
            <a:lvl5pPr marL="2743200" indent="0">
              <a:buNone/>
              <a:defRPr/>
            </a:lvl5pPr>
          </a:lstStyle>
          <a:p>
            <a:pPr lvl="0"/>
            <a:r>
              <a:rPr lang="en-US" dirty="0"/>
              <a:t>Click to Add Subtitle</a:t>
            </a:r>
          </a:p>
        </p:txBody>
      </p:sp>
      <p:sp>
        <p:nvSpPr>
          <p:cNvPr id="3" name="Title 2">
            <a:extLst>
              <a:ext uri="{FF2B5EF4-FFF2-40B4-BE49-F238E27FC236}">
                <a16:creationId xmlns:a16="http://schemas.microsoft.com/office/drawing/2014/main" id="{7B26AFD3-845A-9D0A-335D-AE00D0ADA6A0}"/>
              </a:ext>
            </a:extLst>
          </p:cNvPr>
          <p:cNvSpPr>
            <a:spLocks noGrp="1"/>
          </p:cNvSpPr>
          <p:nvPr>
            <p:ph type="title" hasCustomPrompt="1"/>
          </p:nvPr>
        </p:nvSpPr>
        <p:spPr>
          <a:xfrm>
            <a:off x="1252432" y="4150330"/>
            <a:ext cx="5001768" cy="1554480"/>
          </a:xfrm>
        </p:spPr>
        <p:txBody>
          <a:bodyPr vert="horz" wrap="square" lIns="0" tIns="0" rIns="0" bIns="0" rtlCol="0" anchor="b" anchorCtr="0">
            <a:spAutoFit/>
          </a:bodyPr>
          <a:lstStyle>
            <a:lvl1pPr>
              <a:defRPr lang="en-US"/>
            </a:lvl1pPr>
          </a:lstStyle>
          <a:p>
            <a:pPr marL="0" lvl="0">
              <a:lnSpc>
                <a:spcPct val="90000"/>
              </a:lnSpc>
              <a:spcBef>
                <a:spcPct val="0"/>
              </a:spcBef>
              <a:buNone/>
            </a:pPr>
            <a:r>
              <a:rPr lang="en-US" dirty="0"/>
              <a:t>Click to Add Slide Title</a:t>
            </a:r>
          </a:p>
        </p:txBody>
      </p:sp>
    </p:spTree>
    <p:custDataLst>
      <p:tags r:id="rId1"/>
    </p:custDataLst>
    <p:extLst>
      <p:ext uri="{BB962C8B-B14F-4D97-AF65-F5344CB8AC3E}">
        <p14:creationId xmlns:p14="http://schemas.microsoft.com/office/powerpoint/2010/main" val="14548272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SAS - Closing">
    <p:bg>
      <p:bgPr>
        <a:solidFill>
          <a:schemeClr val="bg2"/>
        </a:solidFill>
        <a:effectLst/>
      </p:bgPr>
    </p:bg>
    <p:spTree>
      <p:nvGrpSpPr>
        <p:cNvPr id="1" name=""/>
        <p:cNvGrpSpPr/>
        <p:nvPr/>
      </p:nvGrpSpPr>
      <p:grpSpPr>
        <a:xfrm>
          <a:off x="0" y="0"/>
          <a:ext cx="0" cy="0"/>
          <a:chOff x="0" y="0"/>
          <a:chExt cx="0" cy="0"/>
        </a:xfrm>
      </p:grpSpPr>
      <p:sp>
        <p:nvSpPr>
          <p:cNvPr id="7" name="Title Placeholder 1">
            <a:extLst>
              <a:ext uri="{FF2B5EF4-FFF2-40B4-BE49-F238E27FC236}">
                <a16:creationId xmlns:a16="http://schemas.microsoft.com/office/drawing/2014/main" id="{0B679E91-B2F1-7013-ED34-D7763B653081}"/>
              </a:ext>
            </a:extLst>
          </p:cNvPr>
          <p:cNvSpPr>
            <a:spLocks noGrp="1"/>
          </p:cNvSpPr>
          <p:nvPr>
            <p:ph type="title" hasCustomPrompt="1"/>
          </p:nvPr>
        </p:nvSpPr>
        <p:spPr>
          <a:xfrm>
            <a:off x="1252432" y="4497169"/>
            <a:ext cx="13063133" cy="1292662"/>
          </a:xfrm>
          <a:prstGeom prst="rect">
            <a:avLst/>
          </a:prstGeom>
        </p:spPr>
        <p:txBody>
          <a:bodyPr vert="horz" wrap="square" lIns="0" tIns="0" rIns="0" bIns="182880" rtlCol="0" anchor="ctr" anchorCtr="0">
            <a:spAutoFit/>
          </a:bodyPr>
          <a:lstStyle>
            <a:lvl1pPr>
              <a:lnSpc>
                <a:spcPct val="100000"/>
              </a:lnSpc>
              <a:spcBef>
                <a:spcPts val="600"/>
              </a:spcBef>
              <a:defRPr sz="7200">
                <a:solidFill>
                  <a:schemeClr val="bg1"/>
                </a:solidFill>
              </a:defRPr>
            </a:lvl1pPr>
          </a:lstStyle>
          <a:p>
            <a:r>
              <a:rPr lang="en-US" dirty="0"/>
              <a:t>Click to Add Slideshow Closing</a:t>
            </a:r>
          </a:p>
        </p:txBody>
      </p:sp>
      <p:pic>
        <p:nvPicPr>
          <p:cNvPr id="9" name="Picture 8">
            <a:extLst>
              <a:ext uri="{FF2B5EF4-FFF2-40B4-BE49-F238E27FC236}">
                <a16:creationId xmlns:a16="http://schemas.microsoft.com/office/drawing/2014/main" id="{F6D7352C-47D5-1179-1891-95A57F7DA1B0}"/>
              </a:ext>
            </a:extLst>
          </p:cNvPr>
          <p:cNvPicPr>
            <a:picLocks noChangeAspect="1"/>
          </p:cNvPicPr>
          <p:nvPr userDrawn="1"/>
        </p:nvPicPr>
        <p:blipFill>
          <a:blip r:embed="rId3"/>
          <a:stretch>
            <a:fillRect/>
          </a:stretch>
        </p:blipFill>
        <p:spPr>
          <a:xfrm>
            <a:off x="14463799" y="8276976"/>
            <a:ext cx="2566902" cy="1057524"/>
          </a:xfrm>
          <a:prstGeom prst="rect">
            <a:avLst/>
          </a:prstGeom>
        </p:spPr>
      </p:pic>
      <p:sp>
        <p:nvSpPr>
          <p:cNvPr id="2" name="Text Placeholder 15">
            <a:extLst>
              <a:ext uri="{FF2B5EF4-FFF2-40B4-BE49-F238E27FC236}">
                <a16:creationId xmlns:a16="http://schemas.microsoft.com/office/drawing/2014/main" id="{2F6DB731-09D4-08B5-8614-68F3501B51F7}"/>
              </a:ext>
            </a:extLst>
          </p:cNvPr>
          <p:cNvSpPr>
            <a:spLocks noGrp="1"/>
          </p:cNvSpPr>
          <p:nvPr>
            <p:ph type="body" sz="quarter" idx="11" hasCustomPrompt="1"/>
          </p:nvPr>
        </p:nvSpPr>
        <p:spPr>
          <a:xfrm>
            <a:off x="1252432" y="8276977"/>
            <a:ext cx="12123722" cy="1057522"/>
          </a:xfrm>
        </p:spPr>
        <p:txBody>
          <a:bodyPr wrap="square" anchor="ctr" anchorCtr="0">
            <a:noAutofit/>
          </a:bodyPr>
          <a:lstStyle>
            <a:lvl1pPr marL="0" indent="0">
              <a:lnSpc>
                <a:spcPct val="100000"/>
              </a:lnSpc>
              <a:spcBef>
                <a:spcPts val="600"/>
              </a:spcBef>
              <a:buNone/>
              <a:defRPr sz="2800">
                <a:solidFill>
                  <a:schemeClr val="accent3"/>
                </a:solidFill>
              </a:defRPr>
            </a:lvl1pPr>
            <a:lvl2pPr marL="365760" indent="0">
              <a:buNone/>
              <a:defRPr sz="2200">
                <a:solidFill>
                  <a:schemeClr val="accent3"/>
                </a:solidFill>
              </a:defRPr>
            </a:lvl2pPr>
            <a:lvl3pPr marL="731520" indent="0">
              <a:buNone/>
              <a:defRPr sz="2100">
                <a:solidFill>
                  <a:schemeClr val="accent3"/>
                </a:solidFill>
              </a:defRPr>
            </a:lvl3pPr>
            <a:lvl4pPr marL="2057400" indent="0">
              <a:buNone/>
              <a:defRPr sz="2000">
                <a:solidFill>
                  <a:schemeClr val="accent3"/>
                </a:solidFill>
              </a:defRPr>
            </a:lvl4pPr>
            <a:lvl5pPr marL="2743200" indent="0">
              <a:buNone/>
              <a:defRPr sz="2000">
                <a:solidFill>
                  <a:schemeClr val="accent3"/>
                </a:solidFill>
              </a:defRPr>
            </a:lvl5pPr>
          </a:lstStyle>
          <a:p>
            <a:pPr lvl="0"/>
            <a:r>
              <a:rPr lang="en-US" dirty="0"/>
              <a:t>Click to add a website or email</a:t>
            </a:r>
          </a:p>
        </p:txBody>
      </p:sp>
      <p:sp>
        <p:nvSpPr>
          <p:cNvPr id="3" name="TextBox 4">
            <a:extLst>
              <a:ext uri="{FF2B5EF4-FFF2-40B4-BE49-F238E27FC236}">
                <a16:creationId xmlns:a16="http://schemas.microsoft.com/office/drawing/2014/main" id="{F763AC1A-EE13-FF0B-9CAB-4F6421B970D6}"/>
              </a:ext>
            </a:extLst>
          </p:cNvPr>
          <p:cNvSpPr txBox="1"/>
          <p:nvPr userDrawn="1"/>
        </p:nvSpPr>
        <p:spPr>
          <a:xfrm>
            <a:off x="1252432" y="9855354"/>
            <a:ext cx="5029200" cy="246221"/>
          </a:xfrm>
          <a:prstGeom prst="rect">
            <a:avLst/>
          </a:prstGeom>
          <a:noFill/>
        </p:spPr>
        <p:txBody>
          <a:bodyPr wrap="square" lIns="0" anchor="b" anchorCtr="0">
            <a:spAutoFit/>
          </a:bodyPr>
          <a:lstStyle/>
          <a:p>
            <a:pPr marL="0" marR="0" lvl="0" indent="0" algn="l" defTabSz="548626" rtl="0" eaLnBrk="0" fontAlgn="auto" latinLnBrk="0" hangingPunct="0">
              <a:lnSpc>
                <a:spcPct val="100000"/>
              </a:lnSpc>
              <a:spcBef>
                <a:spcPts val="0"/>
              </a:spcBef>
              <a:spcAft>
                <a:spcPts val="0"/>
              </a:spcAft>
              <a:buClrTx/>
              <a:buSzTx/>
              <a:buFontTx/>
              <a:buNone/>
              <a:tabLst/>
              <a:defRPr/>
            </a:pPr>
            <a:r>
              <a:rPr kumimoji="0" lang="en-US" sz="1000" b="0" i="0" u="none" strike="noStrike" kern="300" cap="none" spc="100" normalizeH="0" baseline="0" noProof="0" dirty="0">
                <a:ln>
                  <a:noFill/>
                </a:ln>
                <a:solidFill>
                  <a:schemeClr val="accent3"/>
                </a:solidFill>
                <a:effectLst/>
                <a:uLnTx/>
                <a:uFillTx/>
                <a:latin typeface="Anova Light" panose="020B0403020203020204" pitchFamily="34" charset="0"/>
                <a:ea typeface="Anova Bold" panose="020B0703020203020204" pitchFamily="34" charset="0"/>
                <a:cs typeface="Anova Light" panose="020B0403020203020204" pitchFamily="34" charset="0"/>
              </a:rPr>
              <a:t>Copyright © SAS Institute Inc. All rights reserved.</a:t>
            </a:r>
          </a:p>
        </p:txBody>
      </p:sp>
    </p:spTree>
    <p:custDataLst>
      <p:tags r:id="rId1"/>
    </p:custDataLst>
    <p:extLst>
      <p:ext uri="{BB962C8B-B14F-4D97-AF65-F5344CB8AC3E}">
        <p14:creationId xmlns:p14="http://schemas.microsoft.com/office/powerpoint/2010/main" val="4121318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SAS - Blank - White">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8090937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SAS - Video Only">
    <p:bg>
      <p:bgPr>
        <a:solidFill>
          <a:schemeClr val="tx1"/>
        </a:solidFill>
        <a:effectLst/>
      </p:bgPr>
    </p:bg>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38628795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tags" Target="../tags/tag2.xml"/><Relationship Id="rId14" Type="http://schemas.openxmlformats.org/officeDocument/2006/relationships/image" Target="../media/image1.sv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theme" Target="../theme/theme2.xml"/><Relationship Id="rId13" Type="http://schemas.openxmlformats.org/officeDocument/2006/relationships/tags" Target="../tags/tag14.xml"/><Relationship Id="rId14" Type="http://schemas.openxmlformats.org/officeDocument/2006/relationships/image" Target="../media/image5.emf"/><Relationship Id="rId15" Type="http://schemas.openxmlformats.org/officeDocument/2006/relationships/image" Target="../media/image4.sv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7" name="TextBox 4">
            <a:extLst>
              <a:ext uri="{FF2B5EF4-FFF2-40B4-BE49-F238E27FC236}">
                <a16:creationId xmlns:a16="http://schemas.microsoft.com/office/drawing/2014/main" id="{1E37FEA7-CA51-4399-92F6-AB705B7FF650}"/>
              </a:ext>
            </a:extLst>
          </p:cNvPr>
          <p:cNvSpPr txBox="1"/>
          <p:nvPr userDrawn="1"/>
        </p:nvSpPr>
        <p:spPr>
          <a:xfrm>
            <a:off x="1252432" y="9855354"/>
            <a:ext cx="5029200" cy="246221"/>
          </a:xfrm>
          <a:prstGeom prst="rect">
            <a:avLst/>
          </a:prstGeom>
          <a:noFill/>
        </p:spPr>
        <p:txBody>
          <a:bodyPr wrap="square" lIns="0" anchor="b" anchorCtr="0">
            <a:spAutoFit/>
          </a:bodyPr>
          <a:lstStyle/>
          <a:p>
            <a:pPr marL="0" marR="0" lvl="0" indent="0" algn="l" defTabSz="548626" rtl="0" eaLnBrk="0" fontAlgn="auto" latinLnBrk="0" hangingPunct="0">
              <a:lnSpc>
                <a:spcPct val="100000"/>
              </a:lnSpc>
              <a:spcBef>
                <a:spcPts val="0"/>
              </a:spcBef>
              <a:spcAft>
                <a:spcPts val="0"/>
              </a:spcAft>
              <a:buClrTx/>
              <a:buSzTx/>
              <a:buFontTx/>
              <a:buNone/>
              <a:tabLst/>
              <a:defRPr/>
            </a:pPr>
            <a:r>
              <a:rPr kumimoji="0" lang="en-US" sz="1000" b="0" i="0" u="none" strike="noStrike" kern="300" cap="none" spc="100" normalizeH="0" baseline="0" noProof="0" dirty="0">
                <a:ln>
                  <a:noFill/>
                </a:ln>
                <a:solidFill>
                  <a:schemeClr val="accent5"/>
                </a:solidFill>
                <a:effectLst/>
                <a:uLnTx/>
                <a:uFillTx/>
                <a:latin typeface="Anova Light" panose="020B0403020203020204" pitchFamily="34" charset="0"/>
                <a:ea typeface="Anova Bold" panose="020B0703020203020204" pitchFamily="34" charset="0"/>
                <a:cs typeface="Anova Light" panose="020B0403020203020204" pitchFamily="34" charset="0"/>
              </a:rPr>
              <a:t>Copyright © SAS Institute Inc. All rights reserved.</a:t>
            </a:r>
          </a:p>
        </p:txBody>
      </p:sp>
      <p:sp>
        <p:nvSpPr>
          <p:cNvPr id="3" name="Text Placeholder 2"/>
          <p:cNvSpPr>
            <a:spLocks noGrp="1"/>
          </p:cNvSpPr>
          <p:nvPr>
            <p:ph type="body" idx="1"/>
          </p:nvPr>
        </p:nvSpPr>
        <p:spPr>
          <a:xfrm>
            <a:off x="1252432" y="2400300"/>
            <a:ext cx="15773400" cy="6865146"/>
          </a:xfrm>
          <a:prstGeom prst="rect">
            <a:avLst/>
          </a:prstGeom>
        </p:spPr>
        <p:txBody>
          <a:bodyPr vert="horz" lIns="0" tIns="0" rIns="0" bIns="0" rtlCol="0">
            <a:normAutofit/>
          </a:bodyPr>
          <a:lstStyle/>
          <a:p>
            <a:pPr lvl="0"/>
            <a:r>
              <a:rPr lang="en-US" dirty="0"/>
              <a:t>Click to Edit Text</a:t>
            </a:r>
          </a:p>
          <a:p>
            <a:pPr lvl="1"/>
            <a:r>
              <a:rPr lang="en-US" dirty="0"/>
              <a:t>Second level</a:t>
            </a:r>
          </a:p>
          <a:p>
            <a:pPr lvl="2"/>
            <a:r>
              <a:rPr lang="en-US" dirty="0"/>
              <a:t>Third level</a:t>
            </a:r>
          </a:p>
        </p:txBody>
      </p:sp>
      <p:sp>
        <p:nvSpPr>
          <p:cNvPr id="2" name="Title Placeholder 1"/>
          <p:cNvSpPr>
            <a:spLocks noGrp="1"/>
          </p:cNvSpPr>
          <p:nvPr>
            <p:ph type="title"/>
          </p:nvPr>
        </p:nvSpPr>
        <p:spPr>
          <a:xfrm>
            <a:off x="1252432" y="710304"/>
            <a:ext cx="15773400" cy="775596"/>
          </a:xfrm>
          <a:prstGeom prst="rect">
            <a:avLst/>
          </a:prstGeom>
        </p:spPr>
        <p:txBody>
          <a:bodyPr vert="horz" lIns="0" tIns="0" rIns="0" bIns="0" rtlCol="0" anchor="ctr">
            <a:normAutofit/>
          </a:bodyPr>
          <a:lstStyle/>
          <a:p>
            <a:r>
              <a:rPr lang="en-US" dirty="0"/>
              <a:t>Click to Add Slide Title</a:t>
            </a:r>
          </a:p>
        </p:txBody>
      </p:sp>
      <p:pic>
        <p:nvPicPr>
          <p:cNvPr id="5" name="Picture 6">
            <a:extLst>
              <a:ext uri="{FF2B5EF4-FFF2-40B4-BE49-F238E27FC236}">
                <a16:creationId xmlns:a16="http://schemas.microsoft.com/office/drawing/2014/main" id="{DCAC5147-3BF8-9198-FA11-9363F87D0F14}"/>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14"/>
              </a:ext>
            </a:extLst>
          </a:blip>
          <a:srcRect/>
          <a:stretch/>
        </p:blipFill>
        <p:spPr>
          <a:xfrm>
            <a:off x="16826158" y="9516543"/>
            <a:ext cx="1112812" cy="461922"/>
          </a:xfrm>
          <a:prstGeom prst="rect">
            <a:avLst/>
          </a:prstGeom>
        </p:spPr>
      </p:pic>
    </p:spTree>
    <p:custDataLst>
      <p:tags r:id="rId13"/>
    </p:custDataLst>
    <p:extLst>
      <p:ext uri="{BB962C8B-B14F-4D97-AF65-F5344CB8AC3E}">
        <p14:creationId xmlns:p14="http://schemas.microsoft.com/office/powerpoint/2010/main" val="519966091"/>
      </p:ext>
    </p:extLst>
  </p:cSld>
  <p:clrMap bg1="lt1" tx1="dk1" bg2="lt2" tx2="dk2" accent1="accent1" accent2="accent2" accent3="accent3" accent4="accent4" accent5="accent5" accent6="accent6" hlink="hlink" folHlink="folHlink"/>
  <p:sldLayoutIdLst>
    <p:sldLayoutId id="2147483836" r:id="rId1"/>
    <p:sldLayoutId id="2147483838" r:id="rId2"/>
    <p:sldLayoutId id="2147483821" r:id="rId3"/>
    <p:sldLayoutId id="2147483820" r:id="rId4"/>
    <p:sldLayoutId id="2147483819" r:id="rId5"/>
    <p:sldLayoutId id="2147483822" r:id="rId6"/>
    <p:sldLayoutId id="2147483824" r:id="rId7"/>
    <p:sldLayoutId id="2147483832" r:id="rId8"/>
    <p:sldLayoutId id="2147483837" r:id="rId9"/>
    <p:sldLayoutId id="2147483828" r:id="rId10"/>
    <p:sldLayoutId id="2147483829" r:id="rId11"/>
  </p:sldLayoutIdLst>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a14="http://schemas.microsoft.com/office/drawing/2010/main" xmlns:asvg="http://schemas.microsoft.com/office/drawing/2016/SVG/main" xmlns="">
      <p:transition spd="med">
        <p:fade/>
      </p:transition>
    </mc:Fallback>
  </mc:AlternateContent>
  <p:txStyles>
    <p:titleStyle>
      <a:lvl1pPr algn="l" defTabSz="1371600" rtl="0" eaLnBrk="1" latinLnBrk="0" hangingPunct="1">
        <a:lnSpc>
          <a:spcPct val="90000"/>
        </a:lnSpc>
        <a:spcBef>
          <a:spcPct val="0"/>
        </a:spcBef>
        <a:buNone/>
        <a:defRPr sz="5600" b="1" i="0" kern="1200">
          <a:solidFill>
            <a:schemeClr val="accent5"/>
          </a:solidFill>
          <a:latin typeface="Anova Bold" panose="020B0503020203020204" pitchFamily="34" charset="0"/>
          <a:ea typeface="+mj-ea"/>
          <a:cs typeface="+mj-cs"/>
        </a:defRPr>
      </a:lvl1pPr>
    </p:titleStyle>
    <p:bodyStyle>
      <a:lvl1pPr marL="365760" indent="-365760" algn="l" defTabSz="1371600" rtl="0" eaLnBrk="1" latinLnBrk="0" hangingPunct="1">
        <a:lnSpc>
          <a:spcPct val="85000"/>
        </a:lnSpc>
        <a:spcBef>
          <a:spcPts val="1600"/>
        </a:spcBef>
        <a:buClr>
          <a:schemeClr val="accent5"/>
        </a:buClr>
        <a:buFont typeface="Anova Light" panose="020B0403020203020204" pitchFamily="34" charset="0"/>
        <a:buChar char="•"/>
        <a:defRPr sz="3600" b="0" i="0" kern="1200">
          <a:solidFill>
            <a:schemeClr val="tx1"/>
          </a:solidFill>
          <a:latin typeface="+mn-lt"/>
          <a:ea typeface="+mn-ea"/>
          <a:cs typeface="+mn-cs"/>
        </a:defRPr>
      </a:lvl1pPr>
      <a:lvl2pPr marL="731520" indent="-365760" algn="l" defTabSz="1371600" rtl="0" eaLnBrk="1" latinLnBrk="0" hangingPunct="1">
        <a:lnSpc>
          <a:spcPct val="85000"/>
        </a:lnSpc>
        <a:spcBef>
          <a:spcPts val="1600"/>
        </a:spcBef>
        <a:buClr>
          <a:schemeClr val="accent5"/>
        </a:buClr>
        <a:buFont typeface="Anova Light" panose="020B0403020203020204" pitchFamily="34" charset="0"/>
        <a:buChar char="–"/>
        <a:defRPr sz="2800" b="0" i="0" kern="1200">
          <a:solidFill>
            <a:schemeClr val="tx1"/>
          </a:solidFill>
          <a:latin typeface="+mn-lt"/>
          <a:ea typeface="+mn-ea"/>
          <a:cs typeface="+mn-cs"/>
        </a:defRPr>
      </a:lvl2pPr>
      <a:lvl3pPr marL="1097280" indent="-365760" algn="l" defTabSz="1371600" rtl="0" eaLnBrk="1" latinLnBrk="0" hangingPunct="1">
        <a:lnSpc>
          <a:spcPct val="85000"/>
        </a:lnSpc>
        <a:spcBef>
          <a:spcPts val="1600"/>
        </a:spcBef>
        <a:buClr>
          <a:schemeClr val="accent5"/>
        </a:buClr>
        <a:buFont typeface="Anova Light" panose="020B0403020203020204" pitchFamily="34" charset="0"/>
        <a:buChar char="•"/>
        <a:defRPr sz="2400" b="0" i="0" kern="1200">
          <a:solidFill>
            <a:schemeClr val="tx1"/>
          </a:solidFill>
          <a:latin typeface="+mn-lt"/>
          <a:ea typeface="+mn-ea"/>
          <a:cs typeface="+mn-cs"/>
        </a:defRPr>
      </a:lvl3pPr>
      <a:lvl4pPr marL="2400300" indent="-342900" algn="l" defTabSz="1371600" rtl="0" eaLnBrk="1" latinLnBrk="0" hangingPunct="1">
        <a:lnSpc>
          <a:spcPct val="90000"/>
        </a:lnSpc>
        <a:spcBef>
          <a:spcPts val="750"/>
        </a:spcBef>
        <a:buFont typeface="Anova Light" panose="020B0403020203020204" pitchFamily="34" charset="0"/>
        <a:buChar char="•"/>
        <a:defRPr sz="2700" kern="1200">
          <a:solidFill>
            <a:schemeClr val="bg2"/>
          </a:solidFill>
          <a:latin typeface="+mj-lt"/>
          <a:ea typeface="+mn-ea"/>
          <a:cs typeface="+mn-cs"/>
        </a:defRPr>
      </a:lvl4pPr>
      <a:lvl5pPr marL="3086100" indent="-342900" algn="l" defTabSz="1371600" rtl="0" eaLnBrk="1" latinLnBrk="0" hangingPunct="1">
        <a:lnSpc>
          <a:spcPct val="90000"/>
        </a:lnSpc>
        <a:spcBef>
          <a:spcPts val="750"/>
        </a:spcBef>
        <a:buFont typeface="Anova Light" panose="020B0403020203020204" pitchFamily="34" charset="0"/>
        <a:buChar char="•"/>
        <a:defRPr sz="2700" kern="1200">
          <a:solidFill>
            <a:schemeClr val="bg2"/>
          </a:solidFill>
          <a:latin typeface="+mj-lt"/>
          <a:ea typeface="+mn-ea"/>
          <a:cs typeface="+mn-cs"/>
        </a:defRPr>
      </a:lvl5pPr>
      <a:lvl6pPr marL="3771900" indent="-342900" algn="l" defTabSz="1371600" rtl="0" eaLnBrk="1" latinLnBrk="0" hangingPunct="1">
        <a:lnSpc>
          <a:spcPct val="90000"/>
        </a:lnSpc>
        <a:spcBef>
          <a:spcPts val="750"/>
        </a:spcBef>
        <a:buFont typeface="Anova Light" panose="020B0403020203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nova Light" panose="020B0403020203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nova Light" panose="020B0403020203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nova Light" panose="020B0403020203020204" pitchFamily="34" charset="0"/>
        <a:buChar char="•"/>
        <a:defRPr sz="2700" kern="1200">
          <a:solidFill>
            <a:schemeClr val="tx1"/>
          </a:solidFill>
          <a:latin typeface="+mn-lt"/>
          <a:ea typeface="+mn-ea"/>
          <a:cs typeface="+mn-cs"/>
        </a:defRPr>
      </a:lvl9pPr>
    </p:bodyStyle>
    <p:other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8DBA1A5-F11E-586C-AE20-3947111EA4AC}"/>
              </a:ext>
            </a:extLst>
          </p:cNvPr>
          <p:cNvSpPr/>
          <p:nvPr userDrawn="1"/>
        </p:nvSpPr>
        <p:spPr>
          <a:xfrm>
            <a:off x="16477128" y="9143999"/>
            <a:ext cx="1810872" cy="1143001"/>
          </a:xfrm>
          <a:prstGeom prst="rect">
            <a:avLst/>
          </a:prstGeom>
          <a:solidFill>
            <a:schemeClr val="accent5">
              <a:lumMod val="20000"/>
              <a:lumOff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B0C7363F-AF69-28E6-1F57-D691A99669FF}"/>
              </a:ext>
            </a:extLst>
          </p:cNvPr>
          <p:cNvPicPr>
            <a:picLocks noChangeAspect="1"/>
          </p:cNvPicPr>
          <p:nvPr userDrawn="1"/>
        </p:nvPicPr>
        <p:blipFill>
          <a:blip r:embed="rId14"/>
          <a:stretch>
            <a:fillRect/>
          </a:stretch>
        </p:blipFill>
        <p:spPr>
          <a:xfrm>
            <a:off x="0" y="9143999"/>
            <a:ext cx="16477128" cy="1143001"/>
          </a:xfrm>
          <a:prstGeom prst="rect">
            <a:avLst/>
          </a:prstGeom>
        </p:spPr>
      </p:pic>
      <p:sp>
        <p:nvSpPr>
          <p:cNvPr id="3" name="Text Placeholder 2"/>
          <p:cNvSpPr>
            <a:spLocks noGrp="1"/>
          </p:cNvSpPr>
          <p:nvPr>
            <p:ph type="body" idx="1"/>
          </p:nvPr>
        </p:nvSpPr>
        <p:spPr>
          <a:xfrm>
            <a:off x="1252432" y="2400300"/>
            <a:ext cx="15773400" cy="6444273"/>
          </a:xfrm>
          <a:prstGeom prst="rect">
            <a:avLst/>
          </a:prstGeom>
        </p:spPr>
        <p:txBody>
          <a:bodyPr vert="horz" lIns="0" tIns="0" rIns="0" bIns="0" rtlCol="0">
            <a:normAutofit/>
          </a:bodyPr>
          <a:lstStyle/>
          <a:p>
            <a:pPr lvl="0"/>
            <a:r>
              <a:rPr lang="en-US" dirty="0"/>
              <a:t>Click to Edit Text</a:t>
            </a:r>
          </a:p>
          <a:p>
            <a:pPr lvl="1"/>
            <a:r>
              <a:rPr lang="en-US" dirty="0"/>
              <a:t>Second level</a:t>
            </a:r>
          </a:p>
          <a:p>
            <a:pPr lvl="2"/>
            <a:r>
              <a:rPr lang="en-US" dirty="0"/>
              <a:t>Third level</a:t>
            </a:r>
          </a:p>
        </p:txBody>
      </p:sp>
      <p:sp>
        <p:nvSpPr>
          <p:cNvPr id="2" name="Title Placeholder 1"/>
          <p:cNvSpPr>
            <a:spLocks noGrp="1"/>
          </p:cNvSpPr>
          <p:nvPr>
            <p:ph type="title"/>
          </p:nvPr>
        </p:nvSpPr>
        <p:spPr>
          <a:xfrm>
            <a:off x="1252432" y="710304"/>
            <a:ext cx="15773400" cy="775596"/>
          </a:xfrm>
          <a:prstGeom prst="rect">
            <a:avLst/>
          </a:prstGeom>
        </p:spPr>
        <p:txBody>
          <a:bodyPr vert="horz" lIns="0" tIns="0" rIns="0" bIns="0" rtlCol="0" anchor="ctr">
            <a:normAutofit/>
          </a:bodyPr>
          <a:lstStyle/>
          <a:p>
            <a:r>
              <a:rPr lang="en-US" dirty="0"/>
              <a:t>Click to Add Slide Title</a:t>
            </a:r>
          </a:p>
        </p:txBody>
      </p:sp>
      <p:sp>
        <p:nvSpPr>
          <p:cNvPr id="8" name="TextBox 4">
            <a:extLst>
              <a:ext uri="{FF2B5EF4-FFF2-40B4-BE49-F238E27FC236}">
                <a16:creationId xmlns:a16="http://schemas.microsoft.com/office/drawing/2014/main" id="{C16FACEF-10C6-6BB8-EE57-ACF39B01B1D3}"/>
              </a:ext>
            </a:extLst>
          </p:cNvPr>
          <p:cNvSpPr txBox="1"/>
          <p:nvPr userDrawn="1"/>
        </p:nvSpPr>
        <p:spPr>
          <a:xfrm>
            <a:off x="1252432" y="9316082"/>
            <a:ext cx="8588993" cy="584775"/>
          </a:xfrm>
          <a:prstGeom prst="rect">
            <a:avLst/>
          </a:prstGeom>
          <a:noFill/>
        </p:spPr>
        <p:txBody>
          <a:bodyPr wrap="square" lIns="0" anchor="b" anchorCtr="0">
            <a:spAutoFit/>
          </a:bodyPr>
          <a:lstStyle/>
          <a:p>
            <a:pPr marL="0" marR="0" lvl="0" indent="0" algn="l" defTabSz="548626" rtl="0" eaLnBrk="0" fontAlgn="auto" latinLnBrk="0" hangingPunct="0">
              <a:lnSpc>
                <a:spcPct val="100000"/>
              </a:lnSpc>
              <a:spcBef>
                <a:spcPts val="0"/>
              </a:spcBef>
              <a:spcAft>
                <a:spcPts val="0"/>
              </a:spcAft>
              <a:buClrTx/>
              <a:buSzTx/>
              <a:buFontTx/>
              <a:buNone/>
              <a:tabLst/>
              <a:defRPr/>
            </a:pPr>
            <a:r>
              <a:rPr kumimoji="0" lang="en-US" sz="3200" b="1" i="0" u="none" strike="noStrike" kern="300" cap="none" spc="100" normalizeH="0" baseline="0" noProof="0" dirty="0">
                <a:ln>
                  <a:noFill/>
                </a:ln>
                <a:solidFill>
                  <a:schemeClr val="bg1"/>
                </a:solidFill>
                <a:effectLst/>
                <a:uLnTx/>
                <a:uFillTx/>
                <a:latin typeface="Anova Bold" panose="020B0503020203020204" pitchFamily="34" charset="0"/>
                <a:ea typeface="Anova Bold" panose="020B0703020203020204" pitchFamily="34" charset="0"/>
                <a:cs typeface="Anova Light" panose="020B0403020203020204" pitchFamily="34" charset="0"/>
              </a:rPr>
              <a:t>CONFIDENTIAL — DO NOT DISCLOSE</a:t>
            </a:r>
          </a:p>
        </p:txBody>
      </p:sp>
      <p:sp>
        <p:nvSpPr>
          <p:cNvPr id="10" name="TextBox 4">
            <a:extLst>
              <a:ext uri="{FF2B5EF4-FFF2-40B4-BE49-F238E27FC236}">
                <a16:creationId xmlns:a16="http://schemas.microsoft.com/office/drawing/2014/main" id="{73378641-98C0-74B8-EDAB-E5E4E2EEB661}"/>
              </a:ext>
            </a:extLst>
          </p:cNvPr>
          <p:cNvSpPr txBox="1"/>
          <p:nvPr userDrawn="1"/>
        </p:nvSpPr>
        <p:spPr>
          <a:xfrm>
            <a:off x="1252432" y="9855354"/>
            <a:ext cx="5029200" cy="246221"/>
          </a:xfrm>
          <a:prstGeom prst="rect">
            <a:avLst/>
          </a:prstGeom>
          <a:noFill/>
        </p:spPr>
        <p:txBody>
          <a:bodyPr wrap="square" lIns="0" anchor="b" anchorCtr="0">
            <a:spAutoFit/>
          </a:bodyPr>
          <a:lstStyle/>
          <a:p>
            <a:pPr marL="0" marR="0" lvl="0" indent="0" algn="l" defTabSz="548626" rtl="0" eaLnBrk="0" fontAlgn="auto" latinLnBrk="0" hangingPunct="0">
              <a:lnSpc>
                <a:spcPct val="100000"/>
              </a:lnSpc>
              <a:spcBef>
                <a:spcPts val="0"/>
              </a:spcBef>
              <a:spcAft>
                <a:spcPts val="0"/>
              </a:spcAft>
              <a:buClrTx/>
              <a:buSzTx/>
              <a:buFontTx/>
              <a:buNone/>
              <a:tabLst/>
              <a:defRPr/>
            </a:pPr>
            <a:r>
              <a:rPr kumimoji="0" lang="en-US" sz="1000" b="0" i="0" u="none" strike="noStrike" kern="300" cap="none" spc="100" normalizeH="0" baseline="0" noProof="0" dirty="0">
                <a:ln>
                  <a:noFill/>
                </a:ln>
                <a:solidFill>
                  <a:schemeClr val="bg1"/>
                </a:solidFill>
                <a:effectLst/>
                <a:uLnTx/>
                <a:uFillTx/>
                <a:latin typeface="Anova Light" panose="020B0403020203020204" pitchFamily="34" charset="0"/>
                <a:ea typeface="Anova Bold" panose="020B0703020203020204" pitchFamily="34" charset="0"/>
                <a:cs typeface="Anova Light" panose="020B0403020203020204" pitchFamily="34" charset="0"/>
              </a:rPr>
              <a:t>Copyright © SAS Institute Inc. All rights reserved.</a:t>
            </a:r>
          </a:p>
        </p:txBody>
      </p:sp>
      <p:pic>
        <p:nvPicPr>
          <p:cNvPr id="4" name="Picture 6">
            <a:extLst>
              <a:ext uri="{FF2B5EF4-FFF2-40B4-BE49-F238E27FC236}">
                <a16:creationId xmlns:a16="http://schemas.microsoft.com/office/drawing/2014/main" id="{A68AF4A5-1947-70D5-1EEC-327485090EC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15"/>
              </a:ext>
            </a:extLst>
          </a:blip>
          <a:srcRect/>
          <a:stretch/>
        </p:blipFill>
        <p:spPr>
          <a:xfrm>
            <a:off x="16826158" y="9516543"/>
            <a:ext cx="1112812" cy="461922"/>
          </a:xfrm>
          <a:prstGeom prst="rect">
            <a:avLst/>
          </a:prstGeom>
        </p:spPr>
      </p:pic>
    </p:spTree>
    <p:custDataLst>
      <p:tags r:id="rId13"/>
    </p:custDataLst>
    <p:extLst>
      <p:ext uri="{BB962C8B-B14F-4D97-AF65-F5344CB8AC3E}">
        <p14:creationId xmlns:p14="http://schemas.microsoft.com/office/powerpoint/2010/main" val="2023423665"/>
      </p:ext>
    </p:extLst>
  </p:cSld>
  <p:clrMap bg1="lt1" tx1="dk1" bg2="lt2" tx2="dk2" accent1="accent1" accent2="accent2" accent3="accent3" accent4="accent4" accent5="accent5" accent6="accent6" hlink="hlink" folHlink="folHlink"/>
  <p:sldLayoutIdLst>
    <p:sldLayoutId id="2147483840" r:id="rId1"/>
    <p:sldLayoutId id="2147483841" r:id="rId2"/>
    <p:sldLayoutId id="2147483842" r:id="rId3"/>
    <p:sldLayoutId id="2147483843" r:id="rId4"/>
    <p:sldLayoutId id="2147483844" r:id="rId5"/>
    <p:sldLayoutId id="2147483845" r:id="rId6"/>
    <p:sldLayoutId id="2147483846" r:id="rId7"/>
    <p:sldLayoutId id="2147483847" r:id="rId8"/>
    <p:sldLayoutId id="2147483848" r:id="rId9"/>
    <p:sldLayoutId id="2147483849" r:id="rId10"/>
    <p:sldLayoutId id="2147483850" r:id="rId11"/>
  </p:sldLayoutIdLst>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a14="http://schemas.microsoft.com/office/drawing/2010/main" xmlns:asvg="http://schemas.microsoft.com/office/drawing/2016/SVG/main" xmlns="">
      <p:transition spd="med">
        <p:fade/>
      </p:transition>
    </mc:Fallback>
  </mc:AlternateContent>
  <p:txStyles>
    <p:titleStyle>
      <a:lvl1pPr algn="l" defTabSz="1371600" rtl="0" eaLnBrk="1" latinLnBrk="0" hangingPunct="1">
        <a:lnSpc>
          <a:spcPct val="90000"/>
        </a:lnSpc>
        <a:spcBef>
          <a:spcPct val="0"/>
        </a:spcBef>
        <a:buNone/>
        <a:defRPr sz="5600" b="1" i="0" kern="1200">
          <a:solidFill>
            <a:schemeClr val="accent5"/>
          </a:solidFill>
          <a:latin typeface="Anova Bold" panose="020B0503020203020204" pitchFamily="34" charset="0"/>
          <a:ea typeface="+mj-ea"/>
          <a:cs typeface="+mj-cs"/>
        </a:defRPr>
      </a:lvl1pPr>
    </p:titleStyle>
    <p:bodyStyle>
      <a:lvl1pPr marL="365760" indent="-365760" algn="l" defTabSz="1371600" rtl="0" eaLnBrk="1" latinLnBrk="0" hangingPunct="1">
        <a:lnSpc>
          <a:spcPct val="85000"/>
        </a:lnSpc>
        <a:spcBef>
          <a:spcPts val="1600"/>
        </a:spcBef>
        <a:buClr>
          <a:schemeClr val="accent5"/>
        </a:buClr>
        <a:buFont typeface="Anova Light" panose="020B0403020203020204" pitchFamily="34" charset="0"/>
        <a:buChar char="•"/>
        <a:defRPr sz="3600" b="0" i="0" kern="1200">
          <a:solidFill>
            <a:schemeClr val="tx1"/>
          </a:solidFill>
          <a:latin typeface="+mn-lt"/>
          <a:ea typeface="+mn-ea"/>
          <a:cs typeface="+mn-cs"/>
        </a:defRPr>
      </a:lvl1pPr>
      <a:lvl2pPr marL="731520" indent="-365760" algn="l" defTabSz="1371600" rtl="0" eaLnBrk="1" latinLnBrk="0" hangingPunct="1">
        <a:lnSpc>
          <a:spcPct val="85000"/>
        </a:lnSpc>
        <a:spcBef>
          <a:spcPts val="1600"/>
        </a:spcBef>
        <a:buClr>
          <a:schemeClr val="accent5"/>
        </a:buClr>
        <a:buFont typeface="Anova Light" panose="020B0403020203020204" pitchFamily="34" charset="0"/>
        <a:buChar char="–"/>
        <a:defRPr sz="2800" b="0" i="0" kern="1200">
          <a:solidFill>
            <a:schemeClr val="tx1"/>
          </a:solidFill>
          <a:latin typeface="+mn-lt"/>
          <a:ea typeface="+mn-ea"/>
          <a:cs typeface="+mn-cs"/>
        </a:defRPr>
      </a:lvl2pPr>
      <a:lvl3pPr marL="1097280" indent="-365760" algn="l" defTabSz="1371600" rtl="0" eaLnBrk="1" latinLnBrk="0" hangingPunct="1">
        <a:lnSpc>
          <a:spcPct val="85000"/>
        </a:lnSpc>
        <a:spcBef>
          <a:spcPts val="1600"/>
        </a:spcBef>
        <a:buClr>
          <a:schemeClr val="accent5"/>
        </a:buClr>
        <a:buFont typeface="Anova Light" panose="020B0403020203020204" pitchFamily="34" charset="0"/>
        <a:buChar char="•"/>
        <a:defRPr sz="2400" b="0" i="0" kern="1200">
          <a:solidFill>
            <a:schemeClr val="tx1"/>
          </a:solidFill>
          <a:latin typeface="+mn-lt"/>
          <a:ea typeface="+mn-ea"/>
          <a:cs typeface="+mn-cs"/>
        </a:defRPr>
      </a:lvl3pPr>
      <a:lvl4pPr marL="2400300" indent="-342900" algn="l" defTabSz="1371600" rtl="0" eaLnBrk="1" latinLnBrk="0" hangingPunct="1">
        <a:lnSpc>
          <a:spcPct val="90000"/>
        </a:lnSpc>
        <a:spcBef>
          <a:spcPts val="750"/>
        </a:spcBef>
        <a:buFont typeface="Anova Light" panose="020B0403020203020204" pitchFamily="34" charset="0"/>
        <a:buChar char="•"/>
        <a:defRPr sz="2700" kern="1200">
          <a:solidFill>
            <a:schemeClr val="bg2"/>
          </a:solidFill>
          <a:latin typeface="+mj-lt"/>
          <a:ea typeface="+mn-ea"/>
          <a:cs typeface="+mn-cs"/>
        </a:defRPr>
      </a:lvl4pPr>
      <a:lvl5pPr marL="3086100" indent="-342900" algn="l" defTabSz="1371600" rtl="0" eaLnBrk="1" latinLnBrk="0" hangingPunct="1">
        <a:lnSpc>
          <a:spcPct val="90000"/>
        </a:lnSpc>
        <a:spcBef>
          <a:spcPts val="750"/>
        </a:spcBef>
        <a:buFont typeface="Anova Light" panose="020B0403020203020204" pitchFamily="34" charset="0"/>
        <a:buChar char="•"/>
        <a:defRPr sz="2700" kern="1200">
          <a:solidFill>
            <a:schemeClr val="bg2"/>
          </a:solidFill>
          <a:latin typeface="+mj-lt"/>
          <a:ea typeface="+mn-ea"/>
          <a:cs typeface="+mn-cs"/>
        </a:defRPr>
      </a:lvl5pPr>
      <a:lvl6pPr marL="3771900" indent="-342900" algn="l" defTabSz="1371600" rtl="0" eaLnBrk="1" latinLnBrk="0" hangingPunct="1">
        <a:lnSpc>
          <a:spcPct val="90000"/>
        </a:lnSpc>
        <a:spcBef>
          <a:spcPts val="750"/>
        </a:spcBef>
        <a:buFont typeface="Anova Light" panose="020B0403020203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nova Light" panose="020B0403020203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nova Light" panose="020B0403020203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nova Light" panose="020B0403020203020204" pitchFamily="34" charset="0"/>
        <a:buChar char="•"/>
        <a:defRPr sz="2700" kern="1200">
          <a:solidFill>
            <a:schemeClr val="tx1"/>
          </a:solidFill>
          <a:latin typeface="+mn-lt"/>
          <a:ea typeface="+mn-ea"/>
          <a:cs typeface="+mn-cs"/>
        </a:defRPr>
      </a:lvl9pPr>
    </p:bodyStyle>
    <p:other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b="1" sz="4400">
                <a:latin typeface="Anova Light"/>
              </a:defRPr>
            </a:pPr>
            <a:r>
              <a:t>Autonomous Industrial Analytics on SAS Viya</a:t>
            </a:r>
          </a:p>
        </p:txBody>
      </p:sp>
      <p:sp>
        <p:nvSpPr>
          <p:cNvPr id="3" name="Text Placeholder 2"/>
          <p:cNvSpPr>
            <a:spLocks noGrp="1"/>
          </p:cNvSpPr>
          <p:nvPr>
            <p:ph type="body" idx="10" sz="quarter"/>
          </p:nvPr>
        </p:nvSpPr>
        <p:spPr/>
        <p:txBody>
          <a:bodyPr/>
          <a:lstStyle/>
          <a:p>
            <a:pPr>
              <a:defRPr sz="1900">
                <a:latin typeface="Anova Light"/>
              </a:defRPr>
            </a:pPr>
            <a:r>
              <a:t>Bridging Real-Time Streaming, Custom IoT Frameworks, Quality Analytics, and Forecasting via Model Context Protocol (MCP)</a:t>
            </a:r>
          </a:p>
        </p:txBody>
      </p:sp>
      <p:sp>
        <p:nvSpPr>
          <p:cNvPr id="4" name="Text Placeholder 3"/>
          <p:cNvSpPr>
            <a:spLocks noGrp="1"/>
          </p:cNvSpPr>
          <p:nvPr>
            <p:ph type="body" idx="11" sz="quarter"/>
          </p:nvPr>
        </p:nvSpPr>
        <p:spPr/>
        <p:txBody>
          <a:bodyPr/>
          <a:lstStyle/>
          <a:p>
            <a:pPr>
              <a:defRPr sz="1500">
                <a:latin typeface="Anova Light"/>
              </a:defRPr>
            </a:pPr>
            <a:r>
              <a:t>SAS Viya Architecture &amp; Applied AI Showcase | 30–45 Minute Overview</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defRPr b="1" sz="3600">
                <a:solidFill>
                  <a:srgbClr val="012036"/>
                </a:solidFill>
                <a:latin typeface="Anova Light"/>
              </a:defRPr>
            </a:pPr>
            <a:r>
              <a:t>The Enterprise AI Dilemma: Hallucinations vs. Industrial Rigor</a:t>
            </a:r>
          </a:p>
        </p:txBody>
      </p:sp>
      <p:sp>
        <p:nvSpPr>
          <p:cNvPr id="3" name="Text Placeholder 2"/>
          <p:cNvSpPr>
            <a:spLocks noGrp="1"/>
          </p:cNvSpPr>
          <p:nvPr>
            <p:ph type="body" idx="10" sz="quarter"/>
          </p:nvPr>
        </p:nvSpPr>
        <p:spPr/>
        <p:txBody>
          <a:bodyPr wrap="square"/>
          <a:lstStyle/>
          <a:p>
            <a:pPr>
              <a:defRPr sz="1700">
                <a:solidFill>
                  <a:srgbClr val="556473"/>
                </a:solidFill>
                <a:latin typeface="Anova Light"/>
              </a:defRPr>
            </a:pPr>
            <a:r>
              <a:t>Why Generic LLMs Fail in Heavy Industry, and How MCP Transforms SAS Viya into a Deterministic AI Engine</a:t>
            </a:r>
          </a:p>
        </p:txBody>
      </p:sp>
      <p:sp>
        <p:nvSpPr>
          <p:cNvPr id="4" name="Rounded Rectangle 3"/>
          <p:cNvSpPr/>
          <p:nvPr/>
        </p:nvSpPr>
        <p:spPr>
          <a:xfrm>
            <a:off x="1261872" y="2331720"/>
            <a:ext cx="4956048" cy="6675120"/>
          </a:xfrm>
          <a:prstGeom prst="roundRect">
            <a:avLst/>
          </a:prstGeom>
          <a:solidFill>
            <a:srgbClr val="FAFCFE"/>
          </a:solidFill>
          <a:ln w="15240">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261872" y="2331720"/>
            <a:ext cx="4956048" cy="109728"/>
          </a:xfrm>
          <a:prstGeom prst="roundRect">
            <a:avLst/>
          </a:prstGeom>
          <a:solidFill>
            <a:srgbClr val="8613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481328" y="2551176"/>
            <a:ext cx="4517136" cy="6236208"/>
          </a:xfrm>
          <a:prstGeom prst="rect">
            <a:avLst/>
          </a:prstGeom>
          <a:noFill/>
        </p:spPr>
        <p:txBody>
          <a:bodyPr wrap="square" lIns="0" rIns="0" tIns="0" bIns="0">
            <a:spAutoFit/>
          </a:bodyPr>
          <a:lstStyle/>
          <a:p>
            <a:pPr>
              <a:spcAft>
                <a:spcPts val="400"/>
              </a:spcAft>
              <a:defRPr b="1" sz="2100">
                <a:solidFill>
                  <a:srgbClr val="012036"/>
                </a:solidFill>
                <a:latin typeface="Anova Light"/>
              </a:defRPr>
            </a:pPr>
            <a:r>
              <a:t>The LLM Reality &amp; Failure Modes</a:t>
            </a:r>
          </a:p>
          <a:p>
            <a:pPr>
              <a:spcAft>
                <a:spcPts val="1400"/>
              </a:spcAft>
              <a:defRPr sz="1400" b="0">
                <a:solidFill>
                  <a:srgbClr val="86134F"/>
                </a:solidFill>
                <a:latin typeface="Anova Light"/>
              </a:defRPr>
            </a:pPr>
            <a:r>
              <a:t>Unassisted Frontier Models</a:t>
            </a:r>
          </a:p>
          <a:p>
            <a:pPr>
              <a:spcAft>
                <a:spcPts val="1300"/>
              </a:spcAft>
            </a:pPr>
            <a:r>
              <a:rPr b="1" sz="1450">
                <a:solidFill>
                  <a:srgbClr val="012036"/>
                </a:solidFill>
                <a:latin typeface="Anova Light"/>
              </a:rPr>
              <a:t>•  Statistical Hallucination: </a:t>
            </a:r>
            <a:r>
              <a:rPr b="0" sz="1400">
                <a:solidFill>
                  <a:srgbClr val="141E2A"/>
                </a:solidFill>
                <a:latin typeface="Anova Light"/>
              </a:rPr>
              <a:t>LLMs generate plausible-looking numbers and fabricated correlations when asked to perform numerical or statistical reasoning.</a:t>
            </a:r>
          </a:p>
          <a:p>
            <a:pPr>
              <a:spcAft>
                <a:spcPts val="1300"/>
              </a:spcAft>
            </a:pPr>
            <a:r>
              <a:rPr b="1" sz="1450">
                <a:solidFill>
                  <a:srgbClr val="012036"/>
                </a:solidFill>
                <a:latin typeface="Anova Light"/>
              </a:rPr>
              <a:t>•  No Execution Engine: </a:t>
            </a:r>
            <a:r>
              <a:rPr b="0" sz="1400">
                <a:solidFill>
                  <a:srgbClr val="141E2A"/>
                </a:solidFill>
                <a:latin typeface="Anova Light"/>
              </a:rPr>
              <a:t>Frontier models cannot natively query massive in-memory CAS tables, trigger SAS PROCs, or monitor live Kafka streaming pipelines.</a:t>
            </a:r>
          </a:p>
          <a:p>
            <a:pPr>
              <a:spcAft>
                <a:spcPts val="1300"/>
              </a:spcAft>
            </a:pPr>
            <a:r>
              <a:rPr b="1" sz="1450">
                <a:solidFill>
                  <a:srgbClr val="012036"/>
                </a:solidFill>
                <a:latin typeface="Anova Light"/>
              </a:rPr>
              <a:t>•  State &amp; Context Amnesia: </a:t>
            </a:r>
            <a:r>
              <a:rPr b="0" sz="1400">
                <a:solidFill>
                  <a:srgbClr val="141E2A"/>
                </a:solidFill>
                <a:latin typeface="Anova Light"/>
              </a:rPr>
              <a:t>Chatbots lack long-term memory of industrial data models, hierarchical taxonomies, and multi-step investigation histories.</a:t>
            </a:r>
          </a:p>
          <a:p>
            <a:pPr>
              <a:spcAft>
                <a:spcPts val="1300"/>
              </a:spcAft>
            </a:pPr>
            <a:r>
              <a:rPr b="1" sz="1450">
                <a:solidFill>
                  <a:srgbClr val="012036"/>
                </a:solidFill>
                <a:latin typeface="Anova Light"/>
              </a:rPr>
              <a:t>•  Security &amp; Governance: </a:t>
            </a:r>
            <a:r>
              <a:rPr b="0" sz="1400">
                <a:solidFill>
                  <a:srgbClr val="141E2A"/>
                </a:solidFill>
                <a:latin typeface="Anova Light"/>
              </a:rPr>
              <a:t>Sending raw proprietary industrial telemetry or unredacted warranty claim text directly to public AI endpoints violates enterprise compliance.</a:t>
            </a:r>
          </a:p>
        </p:txBody>
      </p:sp>
      <p:sp>
        <p:nvSpPr>
          <p:cNvPr id="7" name="Rounded Rectangle 6"/>
          <p:cNvSpPr/>
          <p:nvPr/>
        </p:nvSpPr>
        <p:spPr>
          <a:xfrm>
            <a:off x="6656832" y="2331720"/>
            <a:ext cx="4956048" cy="6675120"/>
          </a:xfrm>
          <a:prstGeom prst="roundRect">
            <a:avLst/>
          </a:prstGeom>
          <a:solidFill>
            <a:srgbClr val="FAFCFE"/>
          </a:solidFill>
          <a:ln w="15240">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656832" y="2331720"/>
            <a:ext cx="4956048" cy="109728"/>
          </a:xfrm>
          <a:prstGeom prst="roundRect">
            <a:avLst/>
          </a:prstGeom>
          <a:solidFill>
            <a:srgbClr val="33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76288" y="2551176"/>
            <a:ext cx="4517136" cy="6236208"/>
          </a:xfrm>
          <a:prstGeom prst="rect">
            <a:avLst/>
          </a:prstGeom>
          <a:noFill/>
        </p:spPr>
        <p:txBody>
          <a:bodyPr wrap="square" lIns="0" rIns="0" tIns="0" bIns="0">
            <a:spAutoFit/>
          </a:bodyPr>
          <a:lstStyle/>
          <a:p>
            <a:pPr>
              <a:spcAft>
                <a:spcPts val="400"/>
              </a:spcAft>
              <a:defRPr b="1" sz="2100">
                <a:solidFill>
                  <a:srgbClr val="012036"/>
                </a:solidFill>
                <a:latin typeface="Anova Light"/>
              </a:defRPr>
            </a:pPr>
            <a:r>
              <a:t>The SAS Viya Foundation</a:t>
            </a:r>
          </a:p>
          <a:p>
            <a:pPr>
              <a:spcAft>
                <a:spcPts val="1400"/>
              </a:spcAft>
              <a:defRPr sz="1400" b="0">
                <a:solidFill>
                  <a:srgbClr val="33A3FF"/>
                </a:solidFill>
                <a:latin typeface="Anova Light"/>
              </a:defRPr>
            </a:pPr>
            <a:r>
              <a:t>The Analytical Workhorse</a:t>
            </a:r>
          </a:p>
          <a:p>
            <a:pPr>
              <a:spcAft>
                <a:spcPts val="1300"/>
              </a:spcAft>
            </a:pPr>
            <a:r>
              <a:rPr b="1" sz="1450">
                <a:solidFill>
                  <a:srgbClr val="012036"/>
                </a:solidFill>
                <a:latin typeface="Anova Light"/>
              </a:rPr>
              <a:t>•  Deterministic Analytics: </a:t>
            </a:r>
            <a:r>
              <a:rPr b="0" sz="1400">
                <a:solidFill>
                  <a:srgbClr val="141E2A"/>
                </a:solidFill>
                <a:latin typeface="Anova Light"/>
              </a:rPr>
              <a:t>SAS Cloud Analytic Services (CAS) processes billions of rows in memory with mathematically proven algorithms.</a:t>
            </a:r>
          </a:p>
          <a:p>
            <a:pPr>
              <a:spcAft>
                <a:spcPts val="1300"/>
              </a:spcAft>
            </a:pPr>
            <a:r>
              <a:rPr b="1" sz="1450">
                <a:solidFill>
                  <a:srgbClr val="012036"/>
                </a:solidFill>
                <a:latin typeface="Anova Light"/>
              </a:rPr>
              <a:t>•  Industrial Streaming: </a:t>
            </a:r>
            <a:r>
              <a:rPr b="0" sz="1400">
                <a:solidFill>
                  <a:srgbClr val="141E2A"/>
                </a:solidFill>
                <a:latin typeface="Anova Light"/>
              </a:rPr>
              <a:t>SAS Event Stream Processing (ESP) executes complex event processing, sliding windows, and scoring at microsecond latency.</a:t>
            </a:r>
          </a:p>
          <a:p>
            <a:pPr>
              <a:spcAft>
                <a:spcPts val="1300"/>
              </a:spcAft>
            </a:pPr>
            <a:r>
              <a:rPr b="1" sz="1450">
                <a:solidFill>
                  <a:srgbClr val="012036"/>
                </a:solidFill>
                <a:latin typeface="Anova Light"/>
              </a:rPr>
              <a:t>•  Domain Engines: </a:t>
            </a:r>
            <a:r>
              <a:rPr b="0" sz="1400">
                <a:solidFill>
                  <a:srgbClr val="141E2A"/>
                </a:solidFill>
                <a:latin typeface="Anova Light"/>
              </a:rPr>
              <a:t>Specialized solutions for Field Quality Analytics (FQA), IoT custom frameworks (CAF), and Automatic Time Series Modeling (ATSM).</a:t>
            </a:r>
          </a:p>
          <a:p>
            <a:pPr>
              <a:spcAft>
                <a:spcPts val="1300"/>
              </a:spcAft>
            </a:pPr>
            <a:r>
              <a:rPr b="1" sz="1450">
                <a:solidFill>
                  <a:srgbClr val="012036"/>
                </a:solidFill>
                <a:latin typeface="Anova Light"/>
              </a:rPr>
              <a:t>•  Enterprise Trust: </a:t>
            </a:r>
            <a:r>
              <a:rPr b="0" sz="1400">
                <a:solidFill>
                  <a:srgbClr val="141E2A"/>
                </a:solidFill>
                <a:latin typeface="Anova Light"/>
              </a:rPr>
              <a:t>Auditable logs, governed data access, role-based security, and predictable enterprise deployment on Kubernetes.</a:t>
            </a:r>
          </a:p>
        </p:txBody>
      </p:sp>
      <p:sp>
        <p:nvSpPr>
          <p:cNvPr id="10" name="Rounded Rectangle 9"/>
          <p:cNvSpPr/>
          <p:nvPr/>
        </p:nvSpPr>
        <p:spPr>
          <a:xfrm>
            <a:off x="12051792" y="2331720"/>
            <a:ext cx="4956048" cy="6675120"/>
          </a:xfrm>
          <a:prstGeom prst="roundRect">
            <a:avLst/>
          </a:prstGeom>
          <a:solidFill>
            <a:srgbClr val="FAFCFE"/>
          </a:solidFill>
          <a:ln w="15240">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2051792" y="2331720"/>
            <a:ext cx="4956048" cy="109728"/>
          </a:xfrm>
          <a:prstGeom prst="roundRect">
            <a:avLst/>
          </a:prstGeom>
          <a:solidFill>
            <a:srgbClr val="15B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271248" y="2551176"/>
            <a:ext cx="4517136" cy="6236208"/>
          </a:xfrm>
          <a:prstGeom prst="rect">
            <a:avLst/>
          </a:prstGeom>
          <a:noFill/>
        </p:spPr>
        <p:txBody>
          <a:bodyPr wrap="square" lIns="0" rIns="0" tIns="0" bIns="0">
            <a:spAutoFit/>
          </a:bodyPr>
          <a:lstStyle/>
          <a:p>
            <a:pPr>
              <a:spcAft>
                <a:spcPts val="400"/>
              </a:spcAft>
              <a:defRPr b="1" sz="2100">
                <a:solidFill>
                  <a:srgbClr val="012036"/>
                </a:solidFill>
                <a:latin typeface="Anova Light"/>
              </a:defRPr>
            </a:pPr>
            <a:r>
              <a:t>The MCP Bridge</a:t>
            </a:r>
          </a:p>
          <a:p>
            <a:pPr>
              <a:spcAft>
                <a:spcPts val="1400"/>
              </a:spcAft>
              <a:defRPr sz="1400" b="0">
                <a:solidFill>
                  <a:srgbClr val="15B57B"/>
                </a:solidFill>
                <a:latin typeface="Anova Light"/>
              </a:defRPr>
            </a:pPr>
            <a:r>
              <a:t>The Agent-to-Engine Interface</a:t>
            </a:r>
          </a:p>
          <a:p>
            <a:pPr>
              <a:spcAft>
                <a:spcPts val="1300"/>
              </a:spcAft>
            </a:pPr>
            <a:r>
              <a:rPr b="1" sz="1450">
                <a:solidFill>
                  <a:srgbClr val="012036"/>
                </a:solidFill>
                <a:latin typeface="Anova Light"/>
              </a:rPr>
              <a:t>•  Open Standard Protocol: </a:t>
            </a:r>
            <a:r>
              <a:rPr b="0" sz="1400">
                <a:solidFill>
                  <a:srgbClr val="141E2A"/>
                </a:solidFill>
                <a:latin typeface="Anova Light"/>
              </a:rPr>
              <a:t>Model Context Protocol (MCP) standardizes how AI agents discover tools, inspect schemas, and execute remote capabilities.</a:t>
            </a:r>
          </a:p>
          <a:p>
            <a:pPr>
              <a:spcAft>
                <a:spcPts val="1300"/>
              </a:spcAft>
            </a:pPr>
            <a:r>
              <a:rPr b="1" sz="1450">
                <a:solidFill>
                  <a:srgbClr val="012036"/>
                </a:solidFill>
                <a:latin typeface="Anova Light"/>
              </a:rPr>
              <a:t>•  Numbers from SAS, Words from AI: </a:t>
            </a:r>
            <a:r>
              <a:rPr b="0" sz="1400">
                <a:solidFill>
                  <a:srgbClr val="141E2A"/>
                </a:solidFill>
                <a:latin typeface="Anova Light"/>
              </a:rPr>
              <a:t>The agent reasons, plans, and synthesizes, but delegates every statistical calculation to verified SAS execution engines.</a:t>
            </a:r>
          </a:p>
          <a:p>
            <a:pPr>
              <a:spcAft>
                <a:spcPts val="1300"/>
              </a:spcAft>
            </a:pPr>
            <a:r>
              <a:rPr b="1" sz="1450">
                <a:solidFill>
                  <a:srgbClr val="012036"/>
                </a:solidFill>
                <a:latin typeface="Anova Light"/>
              </a:rPr>
              <a:t>•  Bidirectional Telemetry: </a:t>
            </a:r>
            <a:r>
              <a:rPr b="0" sz="1400">
                <a:solidFill>
                  <a:srgbClr val="141E2A"/>
                </a:solidFill>
                <a:latin typeface="Anova Light"/>
              </a:rPr>
              <a:t>Tools return structured JSON, execution logs, and embedded HTML micro-views directly into the agent reasoning context.</a:t>
            </a:r>
          </a:p>
          <a:p>
            <a:pPr>
              <a:spcAft>
                <a:spcPts val="1300"/>
              </a:spcAft>
            </a:pPr>
            <a:r>
              <a:rPr b="1" sz="1450">
                <a:solidFill>
                  <a:srgbClr val="012036"/>
                </a:solidFill>
                <a:latin typeface="Anova Light"/>
              </a:rPr>
              <a:t>•  Zero-Click Automation: </a:t>
            </a:r>
            <a:r>
              <a:rPr b="0" sz="1400">
                <a:solidFill>
                  <a:srgbClr val="141E2A"/>
                </a:solidFill>
                <a:latin typeface="Anova Light"/>
              </a:rPr>
              <a:t>Transforms manual GUI workflows (Model Studio, ESP Studio, FQA) into headless, programmatic execution pipelines.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defRPr b="1" sz="3600">
                <a:solidFill>
                  <a:srgbClr val="012036"/>
                </a:solidFill>
                <a:latin typeface="Anova Light"/>
              </a:defRPr>
            </a:pPr>
            <a:r>
              <a:t>SAS Viya MCP Server: Modular 15-Tier Architecture</a:t>
            </a:r>
          </a:p>
        </p:txBody>
      </p:sp>
      <p:sp>
        <p:nvSpPr>
          <p:cNvPr id="3" name="Text Placeholder 2"/>
          <p:cNvSpPr>
            <a:spLocks noGrp="1"/>
          </p:cNvSpPr>
          <p:nvPr>
            <p:ph type="body" idx="10" sz="quarter"/>
          </p:nvPr>
        </p:nvSpPr>
        <p:spPr/>
        <p:txBody>
          <a:bodyPr wrap="square"/>
          <a:lstStyle/>
          <a:p>
            <a:pPr>
              <a:defRPr sz="1700">
                <a:solidFill>
                  <a:srgbClr val="556473"/>
                </a:solidFill>
                <a:latin typeface="Anova Light"/>
              </a:defRPr>
            </a:pPr>
            <a:r>
              <a:t>Enterprise Concurrency, Containerized Deployment on SAS RAM, and High-Throughput REST/CAS Gateways</a:t>
            </a:r>
          </a:p>
        </p:txBody>
      </p:sp>
      <p:sp>
        <p:nvSpPr>
          <p:cNvPr id="4" name="Rounded Rectangle 3"/>
          <p:cNvSpPr/>
          <p:nvPr/>
        </p:nvSpPr>
        <p:spPr>
          <a:xfrm>
            <a:off x="1261872" y="2331720"/>
            <a:ext cx="4956048" cy="6675120"/>
          </a:xfrm>
          <a:prstGeom prst="roundRect">
            <a:avLst/>
          </a:prstGeom>
          <a:solidFill>
            <a:srgbClr val="FAFCFE"/>
          </a:solidFill>
          <a:ln w="15240">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261872" y="2331720"/>
            <a:ext cx="4956048" cy="109728"/>
          </a:xfrm>
          <a:prstGeom prst="roundRect">
            <a:avLst/>
          </a:prstGeom>
          <a:solidFill>
            <a:srgbClr val="33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481328" y="2551176"/>
            <a:ext cx="4517136" cy="6236208"/>
          </a:xfrm>
          <a:prstGeom prst="rect">
            <a:avLst/>
          </a:prstGeom>
          <a:noFill/>
        </p:spPr>
        <p:txBody>
          <a:bodyPr wrap="square" lIns="0" rIns="0" tIns="0" bIns="0">
            <a:spAutoFit/>
          </a:bodyPr>
          <a:lstStyle/>
          <a:p>
            <a:pPr>
              <a:spcAft>
                <a:spcPts val="400"/>
              </a:spcAft>
              <a:defRPr b="1" sz="2100">
                <a:solidFill>
                  <a:srgbClr val="012036"/>
                </a:solidFill>
                <a:latin typeface="Anova Light"/>
              </a:defRPr>
            </a:pPr>
            <a:r>
              <a:t>Protocol &amp; Async Concurrency</a:t>
            </a:r>
          </a:p>
          <a:p>
            <a:pPr>
              <a:spcAft>
                <a:spcPts val="1400"/>
              </a:spcAft>
              <a:defRPr sz="1400" b="0">
                <a:solidFill>
                  <a:srgbClr val="33A3FF"/>
                </a:solidFill>
                <a:latin typeface="Anova Light"/>
              </a:defRPr>
            </a:pPr>
            <a:r>
              <a:t>Core Engine &amp; Runtime</a:t>
            </a:r>
          </a:p>
          <a:p>
            <a:pPr>
              <a:spcAft>
                <a:spcPts val="1300"/>
              </a:spcAft>
            </a:pPr>
            <a:r>
              <a:rPr b="1" sz="1450">
                <a:solidFill>
                  <a:srgbClr val="012036"/>
                </a:solidFill>
                <a:latin typeface="Anova Light"/>
              </a:rPr>
              <a:t>•  FastMCP Framework: </a:t>
            </a:r>
            <a:r>
              <a:rPr b="0" sz="1400">
                <a:solidFill>
                  <a:srgbClr val="141E2A"/>
                </a:solidFill>
                <a:latin typeface="Anova Light"/>
              </a:rPr>
              <a:t>High-performance Python 3.12 architecture utilizing anyio structured concurrency for non-blocking I/O operations.</a:t>
            </a:r>
          </a:p>
          <a:p>
            <a:pPr>
              <a:spcAft>
                <a:spcPts val="1300"/>
              </a:spcAft>
            </a:pPr>
            <a:r>
              <a:rPr b="1" sz="1450">
                <a:solidFill>
                  <a:srgbClr val="012036"/>
                </a:solidFill>
                <a:latin typeface="Anova Light"/>
              </a:rPr>
              <a:t>•  Dual Transports: </a:t>
            </a:r>
            <a:r>
              <a:rPr b="0" sz="1400">
                <a:solidFill>
                  <a:srgbClr val="141E2A"/>
                </a:solidFill>
                <a:latin typeface="Anova Light"/>
              </a:rPr>
              <a:t>Supports both standard stdio (for local CLI / IDE agents) and Server-Sent Events (SSE / HTTP) for networked enterprise platforms.</a:t>
            </a:r>
          </a:p>
          <a:p>
            <a:pPr>
              <a:spcAft>
                <a:spcPts val="1300"/>
              </a:spcAft>
            </a:pPr>
            <a:r>
              <a:rPr b="1" sz="1450">
                <a:solidFill>
                  <a:srgbClr val="012036"/>
                </a:solidFill>
                <a:latin typeface="Anova Light"/>
              </a:rPr>
              <a:t>•  Configurable Timeouts: </a:t>
            </a:r>
            <a:r>
              <a:rPr b="0" sz="1400">
                <a:solidFill>
                  <a:srgbClr val="141E2A"/>
                </a:solidFill>
                <a:latin typeface="Anova Light"/>
              </a:rPr>
              <a:t>Tuned via VIYA_CLIENT_TIMEOUT (set to 1800s in our production image) to allow long-running CAS modeling and batch forecasting.</a:t>
            </a:r>
          </a:p>
          <a:p>
            <a:pPr>
              <a:spcAft>
                <a:spcPts val="1300"/>
              </a:spcAft>
            </a:pPr>
            <a:r>
              <a:rPr b="1" sz="1450">
                <a:solidFill>
                  <a:srgbClr val="012036"/>
                </a:solidFill>
                <a:latin typeface="Anova Light"/>
              </a:rPr>
              <a:t>•  App UI Extensions: </a:t>
            </a:r>
            <a:r>
              <a:rPr b="0" sz="1400">
                <a:solidFill>
                  <a:srgbClr val="141E2A"/>
                </a:solidFill>
                <a:latin typeface="Anova Light"/>
              </a:rPr>
              <a:t>Emits interactive sandboxed HTML views directly alongside JSON results for tabular data, SAS logs, and visual reports.</a:t>
            </a:r>
          </a:p>
        </p:txBody>
      </p:sp>
      <p:sp>
        <p:nvSpPr>
          <p:cNvPr id="7" name="Rounded Rectangle 6"/>
          <p:cNvSpPr/>
          <p:nvPr/>
        </p:nvSpPr>
        <p:spPr>
          <a:xfrm>
            <a:off x="6656832" y="2331720"/>
            <a:ext cx="4956048" cy="6675120"/>
          </a:xfrm>
          <a:prstGeom prst="roundRect">
            <a:avLst/>
          </a:prstGeom>
          <a:solidFill>
            <a:srgbClr val="FAFCFE"/>
          </a:solidFill>
          <a:ln w="15240">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656832" y="2331720"/>
            <a:ext cx="4956048" cy="109728"/>
          </a:xfrm>
          <a:prstGeom prst="roundRect">
            <a:avLst/>
          </a:prstGeom>
          <a:solidFill>
            <a:srgbClr val="29D6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76288" y="2551176"/>
            <a:ext cx="4517136" cy="6236208"/>
          </a:xfrm>
          <a:prstGeom prst="rect">
            <a:avLst/>
          </a:prstGeom>
          <a:noFill/>
        </p:spPr>
        <p:txBody>
          <a:bodyPr wrap="square" lIns="0" rIns="0" tIns="0" bIns="0">
            <a:spAutoFit/>
          </a:bodyPr>
          <a:lstStyle/>
          <a:p>
            <a:pPr>
              <a:spcAft>
                <a:spcPts val="400"/>
              </a:spcAft>
              <a:defRPr b="1" sz="2100">
                <a:solidFill>
                  <a:srgbClr val="012036"/>
                </a:solidFill>
                <a:latin typeface="Anova Light"/>
              </a:defRPr>
            </a:pPr>
            <a:r>
              <a:t>Modular 15-Tier Tool System</a:t>
            </a:r>
          </a:p>
          <a:p>
            <a:pPr>
              <a:spcAft>
                <a:spcPts val="1400"/>
              </a:spcAft>
              <a:defRPr sz="1400" b="0">
                <a:solidFill>
                  <a:srgbClr val="29D6CD"/>
                </a:solidFill>
                <a:latin typeface="Anova Light"/>
              </a:defRPr>
            </a:pPr>
            <a:r>
              <a:t>Tier 0 through Tier 14</a:t>
            </a:r>
          </a:p>
          <a:p>
            <a:pPr>
              <a:spcAft>
                <a:spcPts val="1300"/>
              </a:spcAft>
            </a:pPr>
            <a:r>
              <a:rPr b="1" sz="1450">
                <a:solidFill>
                  <a:srgbClr val="012036"/>
                </a:solidFill>
                <a:latin typeface="Anova Light"/>
              </a:rPr>
              <a:t>•  Foundation Tiers (0–4): </a:t>
            </a:r>
            <a:r>
              <a:rPr b="0" sz="1400">
                <a:solidFill>
                  <a:srgbClr val="141E2A"/>
                </a:solidFill>
                <a:latin typeface="Anova Light"/>
              </a:rPr>
              <a:t>Session management, CAS data exploration, dynamic PROC execution, and batch job status monitoring.</a:t>
            </a:r>
          </a:p>
          <a:p>
            <a:pPr>
              <a:spcAft>
                <a:spcPts val="1300"/>
              </a:spcAft>
            </a:pPr>
            <a:r>
              <a:rPr b="1" sz="1450">
                <a:solidFill>
                  <a:srgbClr val="012036"/>
                </a:solidFill>
                <a:latin typeface="Anova Light"/>
              </a:rPr>
              <a:t>•  Analytics Tiers (5–8): </a:t>
            </a:r>
            <a:r>
              <a:rPr b="0" sz="1400">
                <a:solidFill>
                  <a:srgbClr val="141E2A"/>
                </a:solidFill>
                <a:latin typeface="Anova Light"/>
              </a:rPr>
              <a:t>Automated Machine Learning (AutoML), Visual Analytics report authoring, Model Scoring (MAS), and Decisioning flows.</a:t>
            </a:r>
          </a:p>
          <a:p>
            <a:pPr>
              <a:spcAft>
                <a:spcPts val="1300"/>
              </a:spcAft>
            </a:pPr>
            <a:r>
              <a:rPr b="1" sz="1450">
                <a:solidFill>
                  <a:srgbClr val="012036"/>
                </a:solidFill>
                <a:latin typeface="Anova Light"/>
              </a:rPr>
              <a:t>•  Domain Tiers (9–13): </a:t>
            </a:r>
            <a:r>
              <a:rPr b="0" sz="1400">
                <a:solidFill>
                  <a:srgbClr val="141E2A"/>
                </a:solidFill>
                <a:latin typeface="Anova Light"/>
              </a:rPr>
              <a:t>Field Quality Analytics (Tier 10), Event Stream Processing (Tier 12), Custom Analysis Framework (Tier 13).</a:t>
            </a:r>
          </a:p>
          <a:p>
            <a:pPr>
              <a:spcAft>
                <a:spcPts val="1300"/>
              </a:spcAft>
            </a:pPr>
            <a:r>
              <a:rPr b="1" sz="1450">
                <a:solidFill>
                  <a:srgbClr val="012036"/>
                </a:solidFill>
                <a:latin typeface="Anova Light"/>
              </a:rPr>
              <a:t>•  Knowledge RAG (Tier 14): </a:t>
            </a:r>
            <a:r>
              <a:rPr b="0" sz="1400">
                <a:solidFill>
                  <a:srgbClr val="141E2A"/>
                </a:solidFill>
                <a:latin typeface="Anova Light"/>
              </a:rPr>
              <a:t>Self-disclosing skill and documentation system allowing agents to dynamically query specialized domain playbooks.</a:t>
            </a:r>
          </a:p>
        </p:txBody>
      </p:sp>
      <p:sp>
        <p:nvSpPr>
          <p:cNvPr id="10" name="Rounded Rectangle 9"/>
          <p:cNvSpPr/>
          <p:nvPr/>
        </p:nvSpPr>
        <p:spPr>
          <a:xfrm>
            <a:off x="12051792" y="2331720"/>
            <a:ext cx="4956048" cy="6675120"/>
          </a:xfrm>
          <a:prstGeom prst="roundRect">
            <a:avLst/>
          </a:prstGeom>
          <a:solidFill>
            <a:srgbClr val="FAFCFE"/>
          </a:solidFill>
          <a:ln w="15240">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2051792" y="2331720"/>
            <a:ext cx="4956048" cy="109728"/>
          </a:xfrm>
          <a:prstGeom prst="roundRect">
            <a:avLst/>
          </a:prstGeom>
          <a:solidFill>
            <a:srgbClr val="6D6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271248" y="2551176"/>
            <a:ext cx="4517136" cy="6236208"/>
          </a:xfrm>
          <a:prstGeom prst="rect">
            <a:avLst/>
          </a:prstGeom>
          <a:noFill/>
        </p:spPr>
        <p:txBody>
          <a:bodyPr wrap="square" lIns="0" rIns="0" tIns="0" bIns="0">
            <a:spAutoFit/>
          </a:bodyPr>
          <a:lstStyle/>
          <a:p>
            <a:pPr>
              <a:spcAft>
                <a:spcPts val="400"/>
              </a:spcAft>
              <a:defRPr b="1" sz="2100">
                <a:solidFill>
                  <a:srgbClr val="012036"/>
                </a:solidFill>
                <a:latin typeface="Anova Light"/>
              </a:defRPr>
            </a:pPr>
            <a:r>
              <a:t>Containerization &amp; SAS RAM</a:t>
            </a:r>
          </a:p>
          <a:p>
            <a:pPr>
              <a:spcAft>
                <a:spcPts val="1400"/>
              </a:spcAft>
              <a:defRPr sz="1400" b="0">
                <a:solidFill>
                  <a:srgbClr val="6D69FF"/>
                </a:solidFill>
                <a:latin typeface="Anova Light"/>
              </a:defRPr>
            </a:pPr>
            <a:r>
              <a:t>SAS Retrieval Agent Manager</a:t>
            </a:r>
          </a:p>
          <a:p>
            <a:pPr>
              <a:spcAft>
                <a:spcPts val="1300"/>
              </a:spcAft>
            </a:pPr>
            <a:r>
              <a:rPr b="1" sz="1450">
                <a:solidFill>
                  <a:srgbClr val="012036"/>
                </a:solidFill>
                <a:latin typeface="Anova Light"/>
              </a:rPr>
              <a:t>•  SAS RAM Packaging: </a:t>
            </a:r>
            <a:r>
              <a:rPr b="0" sz="1400">
                <a:solidFill>
                  <a:srgbClr val="141E2A"/>
                </a:solidFill>
                <a:latin typeface="Anova Light"/>
              </a:rPr>
              <a:t>Built and published to sasram.azurecr.io/sas-mcp-server-msz:v.1.18.1 for enterprise agent orchestration.</a:t>
            </a:r>
          </a:p>
          <a:p>
            <a:pPr>
              <a:spcAft>
                <a:spcPts val="1300"/>
              </a:spcAft>
            </a:pPr>
            <a:r>
              <a:rPr b="1" sz="1450">
                <a:solidFill>
                  <a:srgbClr val="012036"/>
                </a:solidFill>
                <a:latin typeface="Anova Light"/>
              </a:rPr>
              <a:t>•  Hardened Docker Build: </a:t>
            </a:r>
            <a:r>
              <a:rPr b="0" sz="1400">
                <a:solidFill>
                  <a:srgbClr val="141E2A"/>
                </a:solidFill>
                <a:latin typeface="Anova Light"/>
              </a:rPr>
              <a:t>Multi-stage build utilizing uv and pinned dependencies with strict secret isolation (.dockerignore &amp; .gitignore hardening).</a:t>
            </a:r>
          </a:p>
          <a:p>
            <a:pPr>
              <a:spcAft>
                <a:spcPts val="1300"/>
              </a:spcAft>
            </a:pPr>
            <a:r>
              <a:rPr b="1" sz="1450">
                <a:solidFill>
                  <a:srgbClr val="012036"/>
                </a:solidFill>
                <a:latin typeface="Anova Light"/>
              </a:rPr>
              <a:t>•  Viya Auth Integration: </a:t>
            </a:r>
            <a:r>
              <a:rPr b="0" sz="1400">
                <a:solidFill>
                  <a:srgbClr val="141E2A"/>
                </a:solidFill>
                <a:latin typeface="Anova Light"/>
              </a:rPr>
              <a:t>Dynamic OAuth2 Bearer token exchange with automatic token refresh and encrypted session caching.</a:t>
            </a:r>
          </a:p>
          <a:p>
            <a:pPr>
              <a:spcAft>
                <a:spcPts val="1300"/>
              </a:spcAft>
            </a:pPr>
            <a:r>
              <a:rPr b="1" sz="1450">
                <a:solidFill>
                  <a:srgbClr val="012036"/>
                </a:solidFill>
                <a:latin typeface="Anova Light"/>
              </a:rPr>
              <a:t>•  RBAC &amp; Safety Modes: </a:t>
            </a:r>
            <a:r>
              <a:rPr b="0" sz="1400">
                <a:solidFill>
                  <a:srgbClr val="141E2A"/>
                </a:solidFill>
                <a:latin typeface="Anova Light"/>
              </a:rPr>
              <a:t>Configurable read-only tool gating (_access.py) ensuring agents cannot modify production assets without explicit permission.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defRPr b="1" sz="3600">
                <a:solidFill>
                  <a:srgbClr val="012036"/>
                </a:solidFill>
                <a:latin typeface="Anova Light"/>
              </a:defRPr>
            </a:pPr>
            <a:r>
              <a:t>Deterministic Reliability: The Agent Governance Contract</a:t>
            </a:r>
          </a:p>
        </p:txBody>
      </p:sp>
      <p:sp>
        <p:nvSpPr>
          <p:cNvPr id="3" name="Text Placeholder 2"/>
          <p:cNvSpPr>
            <a:spLocks noGrp="1"/>
          </p:cNvSpPr>
          <p:nvPr>
            <p:ph type="body" idx="10" sz="quarter"/>
          </p:nvPr>
        </p:nvSpPr>
        <p:spPr/>
        <p:txBody>
          <a:bodyPr wrap="square"/>
          <a:lstStyle/>
          <a:p>
            <a:pPr>
              <a:defRPr sz="1700">
                <a:solidFill>
                  <a:srgbClr val="556473"/>
                </a:solidFill>
                <a:latin typeface="Anova Light"/>
              </a:defRPr>
            </a:pPr>
            <a:r>
              <a:t>Rigorous Statistical Guardrails, Preflight Checks, and Zero-Hallucination Execution Principles</a:t>
            </a:r>
          </a:p>
        </p:txBody>
      </p:sp>
      <p:sp>
        <p:nvSpPr>
          <p:cNvPr id="4" name="Rounded Rectangle 3"/>
          <p:cNvSpPr/>
          <p:nvPr/>
        </p:nvSpPr>
        <p:spPr>
          <a:xfrm>
            <a:off x="1261872" y="2331720"/>
            <a:ext cx="4956048" cy="6675120"/>
          </a:xfrm>
          <a:prstGeom prst="roundRect">
            <a:avLst/>
          </a:prstGeom>
          <a:solidFill>
            <a:srgbClr val="FAFCFE"/>
          </a:solidFill>
          <a:ln w="15240">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261872" y="2331720"/>
            <a:ext cx="4956048" cy="109728"/>
          </a:xfrm>
          <a:prstGeom prst="roundRect">
            <a:avLst/>
          </a:prstGeom>
          <a:solidFill>
            <a:srgbClr val="15B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481328" y="2551176"/>
            <a:ext cx="4517136" cy="6236208"/>
          </a:xfrm>
          <a:prstGeom prst="rect">
            <a:avLst/>
          </a:prstGeom>
          <a:noFill/>
        </p:spPr>
        <p:txBody>
          <a:bodyPr wrap="square" lIns="0" rIns="0" tIns="0" bIns="0">
            <a:spAutoFit/>
          </a:bodyPr>
          <a:lstStyle/>
          <a:p>
            <a:pPr>
              <a:spcAft>
                <a:spcPts val="400"/>
              </a:spcAft>
              <a:defRPr b="1" sz="2100">
                <a:solidFill>
                  <a:srgbClr val="012036"/>
                </a:solidFill>
                <a:latin typeface="Anova Light"/>
              </a:defRPr>
            </a:pPr>
            <a:r>
              <a:t>Strict Statistical Discipline</a:t>
            </a:r>
          </a:p>
          <a:p>
            <a:pPr>
              <a:spcAft>
                <a:spcPts val="1400"/>
              </a:spcAft>
              <a:defRPr sz="1400" b="0">
                <a:solidFill>
                  <a:srgbClr val="15B57B"/>
                </a:solidFill>
                <a:latin typeface="Anova Light"/>
              </a:defRPr>
            </a:pPr>
            <a:r>
              <a:t>Mathematical Integrity</a:t>
            </a:r>
          </a:p>
          <a:p>
            <a:pPr>
              <a:spcAft>
                <a:spcPts val="1300"/>
              </a:spcAft>
            </a:pPr>
            <a:r>
              <a:rPr b="1" sz="1450">
                <a:solidFill>
                  <a:srgbClr val="012036"/>
                </a:solidFill>
                <a:latin typeface="Anova Light"/>
              </a:rPr>
              <a:t>•  No Mental Arithmetic: </a:t>
            </a:r>
            <a:r>
              <a:rPr b="0" sz="1400">
                <a:solidFill>
                  <a:srgbClr val="141E2A"/>
                </a:solidFill>
                <a:latin typeface="Anova Light"/>
              </a:rPr>
              <a:t>The agent is explicitly forbidden from computing rates, ratios, or correlations in its head; every number must originate in SAS.</a:t>
            </a:r>
          </a:p>
          <a:p>
            <a:pPr>
              <a:spcAft>
                <a:spcPts val="1300"/>
              </a:spcAft>
            </a:pPr>
            <a:r>
              <a:rPr b="1" sz="1450">
                <a:solidFill>
                  <a:srgbClr val="012036"/>
                </a:solidFill>
                <a:latin typeface="Anova Light"/>
              </a:rPr>
              <a:t>•  Audited Metric Lineage: </a:t>
            </a:r>
            <a:r>
              <a:rPr b="0" sz="1400">
                <a:solidFill>
                  <a:srgbClr val="141E2A"/>
                </a:solidFill>
                <a:latin typeface="Anova Light"/>
              </a:rPr>
              <a:t>All claims cited in agent executive summaries include direct references to CAS table names, column hashes, and procedure outputs.</a:t>
            </a:r>
          </a:p>
          <a:p>
            <a:pPr>
              <a:spcAft>
                <a:spcPts val="1300"/>
              </a:spcAft>
            </a:pPr>
            <a:r>
              <a:rPr b="1" sz="1450">
                <a:solidFill>
                  <a:srgbClr val="012036"/>
                </a:solidFill>
                <a:latin typeface="Anova Light"/>
              </a:rPr>
              <a:t>•  Count Units, Not Claims: </a:t>
            </a:r>
            <a:r>
              <a:rPr b="0" sz="1400">
                <a:solidFill>
                  <a:srgbClr val="141E2A"/>
                </a:solidFill>
                <a:latin typeface="Anova Light"/>
              </a:rPr>
              <a:t>Enforces unit-level counting (PRODUCT_ID) rather than inflated claim pairs, preventing multi-fold statistical bias.</a:t>
            </a:r>
          </a:p>
          <a:p>
            <a:pPr>
              <a:spcAft>
                <a:spcPts val="1300"/>
              </a:spcAft>
            </a:pPr>
            <a:r>
              <a:rPr b="1" sz="1450">
                <a:solidFill>
                  <a:srgbClr val="012036"/>
                </a:solidFill>
                <a:latin typeface="Anova Light"/>
              </a:rPr>
              <a:t>•  Correlation vs. Causation: </a:t>
            </a:r>
            <a:r>
              <a:rPr b="0" sz="1400">
                <a:solidFill>
                  <a:srgbClr val="141E2A"/>
                </a:solidFill>
                <a:latin typeface="Anova Light"/>
              </a:rPr>
              <a:t>Rules require at least three supporting findings across two separate analysis types before claiming causal relationships.</a:t>
            </a:r>
          </a:p>
        </p:txBody>
      </p:sp>
      <p:sp>
        <p:nvSpPr>
          <p:cNvPr id="7" name="Rounded Rectangle 6"/>
          <p:cNvSpPr/>
          <p:nvPr/>
        </p:nvSpPr>
        <p:spPr>
          <a:xfrm>
            <a:off x="6656832" y="2331720"/>
            <a:ext cx="4956048" cy="6675120"/>
          </a:xfrm>
          <a:prstGeom prst="roundRect">
            <a:avLst/>
          </a:prstGeom>
          <a:solidFill>
            <a:srgbClr val="FAFCFE"/>
          </a:solidFill>
          <a:ln w="15240">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656832" y="2331720"/>
            <a:ext cx="4956048" cy="109728"/>
          </a:xfrm>
          <a:prstGeom prst="roundRect">
            <a:avLst/>
          </a:prstGeom>
          <a:solidFill>
            <a:srgbClr val="FFC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76288" y="2551176"/>
            <a:ext cx="4517136" cy="6236208"/>
          </a:xfrm>
          <a:prstGeom prst="rect">
            <a:avLst/>
          </a:prstGeom>
          <a:noFill/>
        </p:spPr>
        <p:txBody>
          <a:bodyPr wrap="square" lIns="0" rIns="0" tIns="0" bIns="0">
            <a:spAutoFit/>
          </a:bodyPr>
          <a:lstStyle/>
          <a:p>
            <a:pPr>
              <a:spcAft>
                <a:spcPts val="400"/>
              </a:spcAft>
              <a:defRPr b="1" sz="2100">
                <a:solidFill>
                  <a:srgbClr val="012036"/>
                </a:solidFill>
                <a:latin typeface="Anova Light"/>
              </a:defRPr>
            </a:pPr>
            <a:r>
              <a:t>Preflight Validation Checks</a:t>
            </a:r>
          </a:p>
          <a:p>
            <a:pPr>
              <a:spcAft>
                <a:spcPts val="1400"/>
              </a:spcAft>
              <a:defRPr sz="1400" b="0">
                <a:solidFill>
                  <a:srgbClr val="FFCC32"/>
                </a:solidFill>
                <a:latin typeface="Anova Light"/>
              </a:defRPr>
            </a:pPr>
            <a:r>
              <a:t>Computational Feasibility</a:t>
            </a:r>
          </a:p>
          <a:p>
            <a:pPr>
              <a:spcAft>
                <a:spcPts val="1300"/>
              </a:spcAft>
            </a:pPr>
            <a:r>
              <a:rPr b="1" sz="1450">
                <a:solidFill>
                  <a:srgbClr val="012036"/>
                </a:solidFill>
                <a:latin typeface="Anova Light"/>
              </a:rPr>
              <a:t>•  Zero-Variance Detection: </a:t>
            </a:r>
            <a:r>
              <a:rPr b="0" sz="1400">
                <a:solidFill>
                  <a:srgbClr val="141E2A"/>
                </a:solidFill>
                <a:latin typeface="Anova Light"/>
              </a:rPr>
              <a:t>Verifies target variables have sufficient variance before triggering expensive decision trees or regression actions.</a:t>
            </a:r>
          </a:p>
          <a:p>
            <a:pPr>
              <a:spcAft>
                <a:spcPts val="1300"/>
              </a:spcAft>
            </a:pPr>
            <a:r>
              <a:rPr b="1" sz="1450">
                <a:solidFill>
                  <a:srgbClr val="012036"/>
                </a:solidFill>
                <a:latin typeface="Anova Light"/>
              </a:rPr>
              <a:t>•  Minimum Event Thresholds: </a:t>
            </a:r>
            <a:r>
              <a:rPr b="0" sz="1400">
                <a:solidFill>
                  <a:srgbClr val="141E2A"/>
                </a:solidFill>
                <a:latin typeface="Anova Light"/>
              </a:rPr>
              <a:t>Blocks execution of statistical models if the filtered cohort has fewer than the required event threshold (e.g., n &lt; 30).</a:t>
            </a:r>
          </a:p>
          <a:p>
            <a:pPr>
              <a:spcAft>
                <a:spcPts val="1300"/>
              </a:spcAft>
            </a:pPr>
            <a:r>
              <a:rPr b="1" sz="1450">
                <a:solidFill>
                  <a:srgbClr val="012036"/>
                </a:solidFill>
                <a:latin typeface="Anova Light"/>
              </a:rPr>
              <a:t>•  High-Cardinality Safeguards: </a:t>
            </a:r>
            <a:r>
              <a:rPr b="0" sz="1400">
                <a:solidFill>
                  <a:srgbClr val="141E2A"/>
                </a:solidFill>
                <a:latin typeface="Anova Light"/>
              </a:rPr>
              <a:t>Analyzes categorical predictors prior to modeling; automatically flags or groups variables exceeding memory bounds.</a:t>
            </a:r>
          </a:p>
          <a:p>
            <a:pPr>
              <a:spcAft>
                <a:spcPts val="1300"/>
              </a:spcAft>
            </a:pPr>
            <a:r>
              <a:rPr b="1" sz="1450">
                <a:solidFill>
                  <a:srgbClr val="012036"/>
                </a:solidFill>
                <a:latin typeface="Anova Light"/>
              </a:rPr>
              <a:t>•  Cluster Protection: </a:t>
            </a:r>
            <a:r>
              <a:rPr b="0" sz="1400">
                <a:solidFill>
                  <a:srgbClr val="141E2A"/>
                </a:solidFill>
                <a:latin typeface="Anova Light"/>
              </a:rPr>
              <a:t>Prevents Kubernetes pod OOM crashes by rejecting unviable analytical configurations before compute dispatch.</a:t>
            </a:r>
          </a:p>
        </p:txBody>
      </p:sp>
      <p:sp>
        <p:nvSpPr>
          <p:cNvPr id="10" name="Rounded Rectangle 9"/>
          <p:cNvSpPr/>
          <p:nvPr/>
        </p:nvSpPr>
        <p:spPr>
          <a:xfrm>
            <a:off x="12051792" y="2331720"/>
            <a:ext cx="4956048" cy="6675120"/>
          </a:xfrm>
          <a:prstGeom prst="roundRect">
            <a:avLst/>
          </a:prstGeom>
          <a:solidFill>
            <a:srgbClr val="FAFCFE"/>
          </a:solidFill>
          <a:ln w="15240">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2051792" y="2331720"/>
            <a:ext cx="4956048" cy="109728"/>
          </a:xfrm>
          <a:prstGeom prst="roundRect">
            <a:avLst/>
          </a:prstGeom>
          <a:solidFill>
            <a:srgbClr val="8613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271248" y="2551176"/>
            <a:ext cx="4517136" cy="6236208"/>
          </a:xfrm>
          <a:prstGeom prst="rect">
            <a:avLst/>
          </a:prstGeom>
          <a:noFill/>
        </p:spPr>
        <p:txBody>
          <a:bodyPr wrap="square" lIns="0" rIns="0" tIns="0" bIns="0">
            <a:spAutoFit/>
          </a:bodyPr>
          <a:lstStyle/>
          <a:p>
            <a:pPr>
              <a:spcAft>
                <a:spcPts val="400"/>
              </a:spcAft>
              <a:defRPr b="1" sz="2100">
                <a:solidFill>
                  <a:srgbClr val="012036"/>
                </a:solidFill>
                <a:latin typeface="Anova Light"/>
              </a:defRPr>
            </a:pPr>
            <a:r>
              <a:t>Security &amp; Workspace Hygiene</a:t>
            </a:r>
          </a:p>
          <a:p>
            <a:pPr>
              <a:spcAft>
                <a:spcPts val="1400"/>
              </a:spcAft>
              <a:defRPr sz="1400" b="0">
                <a:solidFill>
                  <a:srgbClr val="86134F"/>
                </a:solidFill>
                <a:latin typeface="Anova Light"/>
              </a:defRPr>
            </a:pPr>
            <a:r>
              <a:t>Governance &amp; Privacy</a:t>
            </a:r>
          </a:p>
          <a:p>
            <a:pPr>
              <a:spcAft>
                <a:spcPts val="1300"/>
              </a:spcAft>
            </a:pPr>
            <a:r>
              <a:rPr b="1" sz="1450">
                <a:solidFill>
                  <a:srgbClr val="012036"/>
                </a:solidFill>
                <a:latin typeface="Anova Light"/>
              </a:rPr>
              <a:t>•  Automated PII Redaction: </a:t>
            </a:r>
            <a:r>
              <a:rPr b="0" sz="1400">
                <a:solidFill>
                  <a:srgbClr val="141E2A"/>
                </a:solidFill>
                <a:latin typeface="Anova Light"/>
              </a:rPr>
              <a:t>Technician claim comments and free-text notes are stripped of personal names, vehicle VINs, and locations before context ingest.</a:t>
            </a:r>
          </a:p>
          <a:p>
            <a:pPr>
              <a:spcAft>
                <a:spcPts val="1300"/>
              </a:spcAft>
            </a:pPr>
            <a:r>
              <a:rPr b="1" sz="1450">
                <a:solidFill>
                  <a:srgbClr val="012036"/>
                </a:solidFill>
                <a:latin typeface="Anova Light"/>
              </a:rPr>
              <a:t>•  Zero Ghost Nodes: </a:t>
            </a:r>
            <a:r>
              <a:rPr b="0" sz="1400">
                <a:solidFill>
                  <a:srgbClr val="141E2A"/>
                </a:solidFill>
                <a:latin typeface="Anova Light"/>
              </a:rPr>
              <a:t>Guarantees that failed intermediate runs or temporary data selections are cleanly deleted, leaving the customer's UI pristine.</a:t>
            </a:r>
          </a:p>
          <a:p>
            <a:pPr>
              <a:spcAft>
                <a:spcPts val="1300"/>
              </a:spcAft>
            </a:pPr>
            <a:r>
              <a:rPr b="1" sz="1450">
                <a:solidFill>
                  <a:srgbClr val="012036"/>
                </a:solidFill>
                <a:latin typeface="Anova Light"/>
              </a:rPr>
              <a:t>•  Untrusted Text Protocol: </a:t>
            </a:r>
            <a:r>
              <a:rPr b="0" sz="1400">
                <a:solidFill>
                  <a:srgbClr val="141E2A"/>
                </a:solidFill>
                <a:latin typeface="Anova Light"/>
              </a:rPr>
              <a:t>Free-text comments are treated strictly as unverified data, preventing prompt-injection attacks disguised as warranty feedback.</a:t>
            </a:r>
          </a:p>
          <a:p>
            <a:pPr>
              <a:spcAft>
                <a:spcPts val="1300"/>
              </a:spcAft>
            </a:pPr>
            <a:r>
              <a:rPr b="1" sz="1450">
                <a:solidFill>
                  <a:srgbClr val="012036"/>
                </a:solidFill>
                <a:latin typeface="Anova Light"/>
              </a:rPr>
              <a:t>•  Role-Based Read/Write: </a:t>
            </a:r>
            <a:r>
              <a:rPr b="0" sz="1400">
                <a:solidFill>
                  <a:srgbClr val="141E2A"/>
                </a:solidFill>
                <a:latin typeface="Anova Light"/>
              </a:rPr>
              <a:t>Write operations (creating projects, promoting CAS tables, updating models) require explicit human-in-the-loop authorization.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defRPr b="1" sz="3600">
                <a:solidFill>
                  <a:srgbClr val="012036"/>
                </a:solidFill>
                <a:latin typeface="Anova Light"/>
              </a:defRPr>
            </a:pPr>
            <a:r>
              <a:t>Streaming IoT: Continuous Bioreactor Telemetry (Celivion C&amp;F)</a:t>
            </a:r>
          </a:p>
        </p:txBody>
      </p:sp>
      <p:sp>
        <p:nvSpPr>
          <p:cNvPr id="3" name="Text Placeholder 2"/>
          <p:cNvSpPr>
            <a:spLocks noGrp="1"/>
          </p:cNvSpPr>
          <p:nvPr>
            <p:ph type="body" idx="10" sz="quarter"/>
          </p:nvPr>
        </p:nvSpPr>
        <p:spPr/>
        <p:txBody>
          <a:bodyPr wrap="square"/>
          <a:lstStyle/>
          <a:p>
            <a:pPr>
              <a:defRPr sz="1700">
                <a:solidFill>
                  <a:srgbClr val="556473"/>
                </a:solidFill>
                <a:latin typeface="Anova Light"/>
              </a:defRPr>
            </a:pPr>
            <a:r>
              <a:t>High-Frequency IoT Event Processing for Fed-Batch Fermentation, Yield Forecasting &amp; Process Safety</a:t>
            </a:r>
          </a:p>
        </p:txBody>
      </p:sp>
      <p:sp>
        <p:nvSpPr>
          <p:cNvPr id="4" name="Rounded Rectangle 3"/>
          <p:cNvSpPr/>
          <p:nvPr/>
        </p:nvSpPr>
        <p:spPr>
          <a:xfrm>
            <a:off x="1261872" y="2331720"/>
            <a:ext cx="4956048" cy="6675120"/>
          </a:xfrm>
          <a:prstGeom prst="roundRect">
            <a:avLst/>
          </a:prstGeom>
          <a:solidFill>
            <a:srgbClr val="FAFCFE"/>
          </a:solidFill>
          <a:ln w="15240">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261872" y="2331720"/>
            <a:ext cx="4956048" cy="109728"/>
          </a:xfrm>
          <a:prstGeom prst="roundRect">
            <a:avLst/>
          </a:prstGeom>
          <a:solidFill>
            <a:srgbClr val="33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481328" y="2551176"/>
            <a:ext cx="4517136" cy="6236208"/>
          </a:xfrm>
          <a:prstGeom prst="rect">
            <a:avLst/>
          </a:prstGeom>
          <a:noFill/>
        </p:spPr>
        <p:txBody>
          <a:bodyPr wrap="square" lIns="0" rIns="0" tIns="0" bIns="0">
            <a:spAutoFit/>
          </a:bodyPr>
          <a:lstStyle/>
          <a:p>
            <a:pPr>
              <a:spcAft>
                <a:spcPts val="400"/>
              </a:spcAft>
              <a:defRPr b="1" sz="2100">
                <a:solidFill>
                  <a:srgbClr val="012036"/>
                </a:solidFill>
                <a:latin typeface="Anova Light"/>
              </a:defRPr>
            </a:pPr>
            <a:r>
              <a:t>Biological Process Scale</a:t>
            </a:r>
          </a:p>
          <a:p>
            <a:pPr>
              <a:spcAft>
                <a:spcPts val="1400"/>
              </a:spcAft>
              <a:defRPr sz="1400" b="0">
                <a:solidFill>
                  <a:srgbClr val="33A3FF"/>
                </a:solidFill>
                <a:latin typeface="Anova Light"/>
              </a:defRPr>
            </a:pPr>
            <a:r>
              <a:t>Physical Process Setup</a:t>
            </a:r>
          </a:p>
          <a:p>
            <a:pPr>
              <a:spcAft>
                <a:spcPts val="1300"/>
              </a:spcAft>
            </a:pPr>
            <a:r>
              <a:rPr b="1" sz="1450">
                <a:solidFill>
                  <a:srgbClr val="012036"/>
                </a:solidFill>
                <a:latin typeface="Anova Light"/>
              </a:rPr>
              <a:t>•  Commercial Bioreactor Train: </a:t>
            </a:r>
            <a:r>
              <a:rPr b="0" sz="1400">
                <a:solidFill>
                  <a:srgbClr val="141E2A"/>
                </a:solidFill>
                <a:latin typeface="Anova Light"/>
              </a:rPr>
              <a:t>Continuous monitoring across three industrial vessels: bio01, bio02, and bio03 (production scale up to 5,000 L).</a:t>
            </a:r>
          </a:p>
          <a:p>
            <a:pPr>
              <a:spcAft>
                <a:spcPts val="1300"/>
              </a:spcAft>
            </a:pPr>
            <a:r>
              <a:rPr b="1" sz="1450">
                <a:solidFill>
                  <a:srgbClr val="012036"/>
                </a:solidFill>
                <a:latin typeface="Anova Light"/>
              </a:rPr>
              <a:t>•  Complex Biological Dynamics: </a:t>
            </a:r>
            <a:r>
              <a:rPr b="0" sz="1400">
                <a:solidFill>
                  <a:srgbClr val="141E2A"/>
                </a:solidFill>
                <a:latin typeface="Anova Light"/>
              </a:rPr>
              <a:t>Slow 10 to 14-day mammalian cell cultivation cycles per commercial batch, requiring staggered scheduling across suites.</a:t>
            </a:r>
          </a:p>
          <a:p>
            <a:pPr>
              <a:spcAft>
                <a:spcPts val="1300"/>
              </a:spcAft>
            </a:pPr>
            <a:r>
              <a:rPr b="1" sz="1450">
                <a:solidFill>
                  <a:srgbClr val="012036"/>
                </a:solidFill>
                <a:latin typeface="Anova Light"/>
              </a:rPr>
              <a:t>•  10 Operational Phases: </a:t>
            </a:r>
            <a:r>
              <a:rPr b="0" sz="1400">
                <a:solidFill>
                  <a:srgbClr val="141E2A"/>
                </a:solidFill>
                <a:latin typeface="Anova Light"/>
              </a:rPr>
              <a:t>Vessels transition through Inoculation, Exponential Growth, Nutrient Feeding, Stationary Expression, and Harvest.</a:t>
            </a:r>
          </a:p>
          <a:p>
            <a:pPr>
              <a:spcAft>
                <a:spcPts val="1300"/>
              </a:spcAft>
            </a:pPr>
            <a:r>
              <a:rPr b="1" sz="1450">
                <a:solidFill>
                  <a:srgbClr val="012036"/>
                </a:solidFill>
                <a:latin typeface="Anova Light"/>
              </a:rPr>
              <a:t>•  Sterilization &amp; Turnaround: </a:t>
            </a:r>
            <a:r>
              <a:rPr b="0" sz="1400">
                <a:solidFill>
                  <a:srgbClr val="141E2A"/>
                </a:solidFill>
                <a:latin typeface="Anova Light"/>
              </a:rPr>
              <a:t>Post-harvest drain, Clean-in-Place (CIP), Steam-in-Place (SIP) sterilization, and media refill cycles.</a:t>
            </a:r>
          </a:p>
        </p:txBody>
      </p:sp>
      <p:sp>
        <p:nvSpPr>
          <p:cNvPr id="7" name="Rounded Rectangle 6"/>
          <p:cNvSpPr/>
          <p:nvPr/>
        </p:nvSpPr>
        <p:spPr>
          <a:xfrm>
            <a:off x="6656832" y="2331720"/>
            <a:ext cx="4956048" cy="6675120"/>
          </a:xfrm>
          <a:prstGeom prst="roundRect">
            <a:avLst/>
          </a:prstGeom>
          <a:solidFill>
            <a:srgbClr val="FAFCFE"/>
          </a:solidFill>
          <a:ln w="15240">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656832" y="2331720"/>
            <a:ext cx="4956048" cy="109728"/>
          </a:xfrm>
          <a:prstGeom prst="roundRect">
            <a:avLst/>
          </a:prstGeom>
          <a:solidFill>
            <a:srgbClr val="29D6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76288" y="2551176"/>
            <a:ext cx="4517136" cy="6236208"/>
          </a:xfrm>
          <a:prstGeom prst="rect">
            <a:avLst/>
          </a:prstGeom>
          <a:noFill/>
        </p:spPr>
        <p:txBody>
          <a:bodyPr wrap="square" lIns="0" rIns="0" tIns="0" bIns="0">
            <a:spAutoFit/>
          </a:bodyPr>
          <a:lstStyle/>
          <a:p>
            <a:pPr>
              <a:spcAft>
                <a:spcPts val="400"/>
              </a:spcAft>
              <a:defRPr b="1" sz="2100">
                <a:solidFill>
                  <a:srgbClr val="012036"/>
                </a:solidFill>
                <a:latin typeface="Anova Light"/>
              </a:defRPr>
            </a:pPr>
            <a:r>
              <a:t>Critical Process Variables</a:t>
            </a:r>
          </a:p>
          <a:p>
            <a:pPr>
              <a:spcAft>
                <a:spcPts val="1400"/>
              </a:spcAft>
              <a:defRPr sz="1400" b="0">
                <a:solidFill>
                  <a:srgbClr val="29D6CD"/>
                </a:solidFill>
                <a:latin typeface="Anova Light"/>
              </a:defRPr>
            </a:pPr>
            <a:r>
              <a:t>14 Real-Time Sensors</a:t>
            </a:r>
          </a:p>
          <a:p>
            <a:pPr>
              <a:spcAft>
                <a:spcPts val="1300"/>
              </a:spcAft>
            </a:pPr>
            <a:r>
              <a:rPr b="1" sz="1450">
                <a:solidFill>
                  <a:srgbClr val="012036"/>
                </a:solidFill>
                <a:latin typeface="Anova Light"/>
              </a:rPr>
              <a:t>•  Critical Quality Attributes (CQAs): </a:t>
            </a:r>
            <a:r>
              <a:rPr b="0" sz="1400">
                <a:solidFill>
                  <a:srgbClr val="141E2A"/>
                </a:solidFill>
                <a:latin typeface="Anova Light"/>
              </a:rPr>
              <a:t>Real-time tracking of Viability (&gt;85%), Viable Cell Density (VCD), Glucose consumption, and Lactate accumulation.</a:t>
            </a:r>
          </a:p>
          <a:p>
            <a:pPr>
              <a:spcAft>
                <a:spcPts val="1300"/>
              </a:spcAft>
            </a:pPr>
            <a:r>
              <a:rPr b="1" sz="1450">
                <a:solidFill>
                  <a:srgbClr val="012036"/>
                </a:solidFill>
                <a:latin typeface="Anova Light"/>
              </a:rPr>
              <a:t>•  Critical Process Parameters (CPPs): </a:t>
            </a:r>
            <a:r>
              <a:rPr b="0" sz="1400">
                <a:solidFill>
                  <a:srgbClr val="141E2A"/>
                </a:solidFill>
                <a:latin typeface="Anova Light"/>
              </a:rPr>
              <a:t>Tight control loops on Broth Temperature (37.0 °C), Dissolved Oxygen (DO), pH titration, and Agitation (RPM).</a:t>
            </a:r>
          </a:p>
          <a:p>
            <a:pPr>
              <a:spcAft>
                <a:spcPts val="1300"/>
              </a:spcAft>
            </a:pPr>
            <a:r>
              <a:rPr b="1" sz="1450">
                <a:solidFill>
                  <a:srgbClr val="012036"/>
                </a:solidFill>
                <a:latin typeface="Anova Light"/>
              </a:rPr>
              <a:t>•  Vessel Aeration &amp; Off-Gas: </a:t>
            </a:r>
            <a:r>
              <a:rPr b="0" sz="1400">
                <a:solidFill>
                  <a:srgbClr val="141E2A"/>
                </a:solidFill>
                <a:latin typeface="Anova Light"/>
              </a:rPr>
              <a:t>Continuous telemetry for sparger air flow rate, headspace vessel pressure (bar), and foam level sensor signals.</a:t>
            </a:r>
          </a:p>
          <a:p>
            <a:pPr>
              <a:spcAft>
                <a:spcPts val="1300"/>
              </a:spcAft>
            </a:pPr>
            <a:r>
              <a:rPr b="1" sz="1450">
                <a:solidFill>
                  <a:srgbClr val="012036"/>
                </a:solidFill>
                <a:latin typeface="Anova Light"/>
              </a:rPr>
              <a:t>•  Specification Envelopes: </a:t>
            </a:r>
            <a:r>
              <a:rPr b="0" sz="1400">
                <a:solidFill>
                  <a:srgbClr val="141E2A"/>
                </a:solidFill>
                <a:latin typeface="Anova Light"/>
              </a:rPr>
              <a:t>Rigorous phase-specific upper and lower operating boundaries (documented in spec_limits_bmc.csv).</a:t>
            </a:r>
          </a:p>
        </p:txBody>
      </p:sp>
      <p:sp>
        <p:nvSpPr>
          <p:cNvPr id="10" name="Rounded Rectangle 9"/>
          <p:cNvSpPr/>
          <p:nvPr/>
        </p:nvSpPr>
        <p:spPr>
          <a:xfrm>
            <a:off x="12051792" y="2331720"/>
            <a:ext cx="4956048" cy="6675120"/>
          </a:xfrm>
          <a:prstGeom prst="roundRect">
            <a:avLst/>
          </a:prstGeom>
          <a:solidFill>
            <a:srgbClr val="FAFCFE"/>
          </a:solidFill>
          <a:ln w="15240">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2051792" y="2331720"/>
            <a:ext cx="4956048" cy="109728"/>
          </a:xfrm>
          <a:prstGeom prst="roundRect">
            <a:avLst/>
          </a:prstGeom>
          <a:solidFill>
            <a:srgbClr val="6D6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271248" y="2551176"/>
            <a:ext cx="4517136" cy="6236208"/>
          </a:xfrm>
          <a:prstGeom prst="rect">
            <a:avLst/>
          </a:prstGeom>
          <a:noFill/>
        </p:spPr>
        <p:txBody>
          <a:bodyPr wrap="square" lIns="0" rIns="0" tIns="0" bIns="0">
            <a:spAutoFit/>
          </a:bodyPr>
          <a:lstStyle/>
          <a:p>
            <a:pPr>
              <a:spcAft>
                <a:spcPts val="400"/>
              </a:spcAft>
              <a:defRPr b="1" sz="2100">
                <a:solidFill>
                  <a:srgbClr val="012036"/>
                </a:solidFill>
                <a:latin typeface="Anova Light"/>
              </a:defRPr>
            </a:pPr>
            <a:r>
              <a:t>Four High-Value Targets</a:t>
            </a:r>
          </a:p>
          <a:p>
            <a:pPr>
              <a:spcAft>
                <a:spcPts val="1400"/>
              </a:spcAft>
              <a:defRPr sz="1400" b="0">
                <a:solidFill>
                  <a:srgbClr val="6D69FF"/>
                </a:solidFill>
                <a:latin typeface="Anova Light"/>
              </a:defRPr>
            </a:pPr>
            <a:r>
              <a:t>Analytical Objectives</a:t>
            </a:r>
          </a:p>
          <a:p>
            <a:pPr>
              <a:spcAft>
                <a:spcPts val="1300"/>
              </a:spcAft>
            </a:pPr>
            <a:r>
              <a:rPr b="1" sz="1450">
                <a:solidFill>
                  <a:srgbClr val="012036"/>
                </a:solidFill>
                <a:latin typeface="Anova Light"/>
              </a:rPr>
              <a:t>•  Predictive Quality: </a:t>
            </a:r>
            <a:r>
              <a:rPr b="0" sz="1400">
                <a:solidFill>
                  <a:srgbClr val="141E2A"/>
                </a:solidFill>
                <a:latin typeface="Anova Light"/>
              </a:rPr>
              <a:t>Forecasting cell viability and VCD degradation 1 to 12 hours ahead of time to adjust nutrient feeding schedules.</a:t>
            </a:r>
          </a:p>
          <a:p>
            <a:pPr>
              <a:spcAft>
                <a:spcPts val="1300"/>
              </a:spcAft>
            </a:pPr>
            <a:r>
              <a:rPr b="1" sz="1450">
                <a:solidFill>
                  <a:srgbClr val="012036"/>
                </a:solidFill>
                <a:latin typeface="Anova Light"/>
              </a:rPr>
              <a:t>•  Predictive Harvest / RUL: </a:t>
            </a:r>
            <a:r>
              <a:rPr b="0" sz="1400">
                <a:solidFill>
                  <a:srgbClr val="141E2A"/>
                </a:solidFill>
                <a:latin typeface="Anova Light"/>
              </a:rPr>
              <a:t>Accurately estimating Remaining Useful Life (RUL) until glucose depletion drops below the critical 2.0 g/L harvest trigger.</a:t>
            </a:r>
          </a:p>
          <a:p>
            <a:pPr>
              <a:spcAft>
                <a:spcPts val="1300"/>
              </a:spcAft>
            </a:pPr>
            <a:r>
              <a:rPr b="1" sz="1450">
                <a:solidFill>
                  <a:srgbClr val="012036"/>
                </a:solidFill>
                <a:latin typeface="Anova Light"/>
              </a:rPr>
              <a:t>•  Foam-Out Prevention: </a:t>
            </a:r>
            <a:r>
              <a:rPr b="0" sz="1400">
                <a:solidFill>
                  <a:srgbClr val="141E2A"/>
                </a:solidFill>
                <a:latin typeface="Anova Light"/>
              </a:rPr>
              <a:t>Early detection of foaming conditions ahead of time to trigger anti-foam surfactant dosing and avoid filter clogging.</a:t>
            </a:r>
          </a:p>
          <a:p>
            <a:pPr>
              <a:spcAft>
                <a:spcPts val="1300"/>
              </a:spcAft>
            </a:pPr>
            <a:r>
              <a:rPr b="1" sz="1450">
                <a:solidFill>
                  <a:srgbClr val="012036"/>
                </a:solidFill>
                <a:latin typeface="Anova Light"/>
              </a:rPr>
              <a:t>•  Multi-Sensor Anomaly Detection: </a:t>
            </a:r>
            <a:r>
              <a:rPr b="0" sz="1400">
                <a:solidFill>
                  <a:srgbClr val="141E2A"/>
                </a:solidFill>
                <a:latin typeface="Anova Light"/>
              </a:rPr>
              <a:t>Detecting subtle drift, dissolved oxygen collapse, and abnormal metabolic signatures using in-memory SVDD.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defRPr b="1" sz="3600">
                <a:solidFill>
                  <a:srgbClr val="012036"/>
                </a:solidFill>
                <a:latin typeface="Anova Light"/>
              </a:defRPr>
            </a:pPr>
            <a:r>
              <a:t>Streaming Pipeline Architecture: From Kafka UNS to In-Memory ABT</a:t>
            </a:r>
          </a:p>
        </p:txBody>
      </p:sp>
      <p:sp>
        <p:nvSpPr>
          <p:cNvPr id="3" name="Text Placeholder 2"/>
          <p:cNvSpPr>
            <a:spLocks noGrp="1"/>
          </p:cNvSpPr>
          <p:nvPr>
            <p:ph type="body" idx="10" sz="quarter"/>
          </p:nvPr>
        </p:nvSpPr>
        <p:spPr/>
        <p:txBody>
          <a:bodyPr wrap="square"/>
          <a:lstStyle/>
          <a:p>
            <a:pPr>
              <a:defRPr sz="1700">
                <a:solidFill>
                  <a:srgbClr val="556473"/>
                </a:solidFill>
                <a:latin typeface="Anova Light"/>
              </a:defRPr>
            </a:pPr>
            <a:r>
              <a:t>Overcoming Schema Heterogeneity with opaquestring, Python Normalization, and Direct CAS In-Memory Streaming</a:t>
            </a:r>
          </a:p>
        </p:txBody>
      </p:sp>
      <p:sp>
        <p:nvSpPr>
          <p:cNvPr id="4" name="Rounded Rectangle 3"/>
          <p:cNvSpPr/>
          <p:nvPr/>
        </p:nvSpPr>
        <p:spPr>
          <a:xfrm>
            <a:off x="914400" y="2331720"/>
            <a:ext cx="3840480" cy="6675120"/>
          </a:xfrm>
          <a:prstGeom prst="roundRect">
            <a:avLst/>
          </a:prstGeom>
          <a:solidFill>
            <a:srgbClr val="FAFCFE"/>
          </a:solidFill>
          <a:ln w="15240">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2331720"/>
            <a:ext cx="3840480" cy="109728"/>
          </a:xfrm>
          <a:prstGeom prst="roundRect">
            <a:avLst/>
          </a:prstGeom>
          <a:solidFill>
            <a:srgbClr val="33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2514600"/>
            <a:ext cx="3474720" cy="6309360"/>
          </a:xfrm>
          <a:prstGeom prst="rect">
            <a:avLst/>
          </a:prstGeom>
          <a:noFill/>
        </p:spPr>
        <p:txBody>
          <a:bodyPr wrap="square" lIns="0" rIns="0" tIns="0" bIns="0">
            <a:spAutoFit/>
          </a:bodyPr>
          <a:lstStyle/>
          <a:p>
            <a:pPr>
              <a:spcAft>
                <a:spcPts val="400"/>
              </a:spcAft>
              <a:defRPr b="1" sz="1850">
                <a:solidFill>
                  <a:srgbClr val="012036"/>
                </a:solidFill>
                <a:latin typeface="Anova Light"/>
              </a:defRPr>
            </a:pPr>
            <a:r>
              <a:t>1. Kafka UNS Ingestion</a:t>
            </a:r>
          </a:p>
          <a:p>
            <a:pPr>
              <a:spcAft>
                <a:spcPts val="1100"/>
              </a:spcAft>
              <a:defRPr sz="1300" b="0">
                <a:solidFill>
                  <a:srgbClr val="33A3FF"/>
                </a:solidFill>
                <a:latin typeface="Anova Light"/>
              </a:defRPr>
            </a:pPr>
            <a:r>
              <a:t>w_source Window</a:t>
            </a:r>
          </a:p>
          <a:p>
            <a:pPr>
              <a:spcAft>
                <a:spcPts val="900"/>
              </a:spcAft>
            </a:pPr>
            <a:r>
              <a:rPr b="1" sz="1350">
                <a:solidFill>
                  <a:srgbClr val="012036"/>
                </a:solidFill>
                <a:latin typeface="Anova Light"/>
              </a:rPr>
              <a:t>•  Confluent Cloud Topic: </a:t>
            </a:r>
            <a:r>
              <a:rPr b="0" sz="1300">
                <a:solidFill>
                  <a:srgbClr val="141E2A"/>
                </a:solidFill>
                <a:latin typeface="Anova Light"/>
              </a:rPr>
              <a:t>Ingests uns.dev.uns.clv.gbl.sas with CloudEvents JSON envelopes.</a:t>
            </a:r>
          </a:p>
          <a:p>
            <a:pPr>
              <a:spcAft>
                <a:spcPts val="900"/>
              </a:spcAft>
            </a:pPr>
            <a:r>
              <a:rPr b="1" sz="1350">
                <a:solidFill>
                  <a:srgbClr val="012036"/>
                </a:solidFill>
                <a:latin typeface="Anova Light"/>
              </a:rPr>
              <a:t>•  opaquestring Connector: </a:t>
            </a:r>
            <a:r>
              <a:rPr b="0" sz="1300">
                <a:solidFill>
                  <a:srgbClr val="141E2A"/>
                </a:solidFill>
                <a:latin typeface="Anova Light"/>
              </a:rPr>
              <a:t>w_source window ingests raw JSON string without schema binding, preventing parser crashes on payload variations.</a:t>
            </a:r>
          </a:p>
          <a:p>
            <a:pPr>
              <a:spcAft>
                <a:spcPts val="900"/>
              </a:spcAft>
            </a:pPr>
            <a:r>
              <a:rPr b="1" sz="1350">
                <a:solidFill>
                  <a:srgbClr val="012036"/>
                </a:solidFill>
                <a:latin typeface="Anova Light"/>
              </a:rPr>
              <a:t>•  Autogen Keys &amp; Offsets: </a:t>
            </a:r>
            <a:r>
              <a:rPr b="0" sz="1300">
                <a:solidFill>
                  <a:srgbClr val="141E2A"/>
                </a:solidFill>
                <a:latin typeface="Anova Light"/>
              </a:rPr>
              <a:t>High-throughput blocksize=1000 with disableespmetaconsumer=true for reliable replaying from earliest offsets.</a:t>
            </a:r>
          </a:p>
        </p:txBody>
      </p:sp>
      <p:sp>
        <p:nvSpPr>
          <p:cNvPr id="7" name="Rounded Rectangle 6"/>
          <p:cNvSpPr/>
          <p:nvPr/>
        </p:nvSpPr>
        <p:spPr>
          <a:xfrm>
            <a:off x="5120640" y="2331720"/>
            <a:ext cx="3840480" cy="6675120"/>
          </a:xfrm>
          <a:prstGeom prst="roundRect">
            <a:avLst/>
          </a:prstGeom>
          <a:solidFill>
            <a:srgbClr val="FAFCFE"/>
          </a:solidFill>
          <a:ln w="15240">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120640" y="2331720"/>
            <a:ext cx="3840480" cy="109728"/>
          </a:xfrm>
          <a:prstGeom prst="roundRect">
            <a:avLst/>
          </a:prstGeom>
          <a:solidFill>
            <a:srgbClr val="29D6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303520" y="2514600"/>
            <a:ext cx="3474720" cy="6309360"/>
          </a:xfrm>
          <a:prstGeom prst="rect">
            <a:avLst/>
          </a:prstGeom>
          <a:noFill/>
        </p:spPr>
        <p:txBody>
          <a:bodyPr wrap="square" lIns="0" rIns="0" tIns="0" bIns="0">
            <a:spAutoFit/>
          </a:bodyPr>
          <a:lstStyle/>
          <a:p>
            <a:pPr>
              <a:spcAft>
                <a:spcPts val="400"/>
              </a:spcAft>
              <a:defRPr b="1" sz="1850">
                <a:solidFill>
                  <a:srgbClr val="012036"/>
                </a:solidFill>
                <a:latin typeface="Anova Light"/>
              </a:defRPr>
            </a:pPr>
            <a:r>
              <a:t>2. Microsecond Flattening</a:t>
            </a:r>
          </a:p>
          <a:p>
            <a:pPr>
              <a:spcAft>
                <a:spcPts val="1100"/>
              </a:spcAft>
              <a:defRPr sz="1300" b="0">
                <a:solidFill>
                  <a:srgbClr val="29D6CD"/>
                </a:solidFill>
                <a:latin typeface="Anova Light"/>
              </a:defRPr>
            </a:pPr>
            <a:r>
              <a:t>w_flatten Window</a:t>
            </a:r>
          </a:p>
          <a:p>
            <a:pPr>
              <a:spcAft>
                <a:spcPts val="900"/>
              </a:spcAft>
            </a:pPr>
            <a:r>
              <a:rPr b="1" sz="1350">
                <a:solidFill>
                  <a:srgbClr val="012036"/>
                </a:solidFill>
                <a:latin typeface="Anova Light"/>
              </a:rPr>
              <a:t>•  Embedded Python Window: </a:t>
            </a:r>
            <a:r>
              <a:rPr b="0" sz="1300">
                <a:solidFill>
                  <a:srgbClr val="141E2A"/>
                </a:solidFill>
                <a:latin typeface="Anova Light"/>
              </a:rPr>
              <a:t>w_flatten utilizes embedded Python create() function to normalize nested JSON envelopes into 18 typed columns.</a:t>
            </a:r>
          </a:p>
          <a:p>
            <a:pPr>
              <a:spcAft>
                <a:spcPts val="900"/>
              </a:spcAft>
            </a:pPr>
            <a:r>
              <a:rPr b="1" sz="1350">
                <a:solidFill>
                  <a:srgbClr val="012036"/>
                </a:solidFill>
                <a:latin typeface="Anova Light"/>
              </a:rPr>
              <a:t>•  Microsecond Precision: </a:t>
            </a:r>
            <a:r>
              <a:rPr b="0" sz="1300">
                <a:solidFill>
                  <a:srgbClr val="141E2A"/>
                </a:solidFill>
                <a:latin typeface="Anova Light"/>
              </a:rPr>
              <a:t>Parses ISO-8601 sensor timestamps into microsecond epoch integers for sub-second synchronization.</a:t>
            </a:r>
          </a:p>
          <a:p>
            <a:pPr>
              <a:spcAft>
                <a:spcPts val="900"/>
              </a:spcAft>
            </a:pPr>
            <a:r>
              <a:rPr b="1" sz="1350">
                <a:solidFill>
                  <a:srgbClr val="012036"/>
                </a:solidFill>
                <a:latin typeface="Anova Light"/>
              </a:rPr>
              <a:t>•  Edge Quality Filtering: </a:t>
            </a:r>
            <a:r>
              <a:rPr b="0" sz="1300">
                <a:solidFill>
                  <a:srgbClr val="141E2A"/>
                </a:solidFill>
                <a:latin typeface="Anova Light"/>
              </a:rPr>
              <a:t>Filters out invalid sensor readings (tag_quality='False') directly in the stream before landing.</a:t>
            </a:r>
          </a:p>
        </p:txBody>
      </p:sp>
      <p:sp>
        <p:nvSpPr>
          <p:cNvPr id="10" name="Rounded Rectangle 9"/>
          <p:cNvSpPr/>
          <p:nvPr/>
        </p:nvSpPr>
        <p:spPr>
          <a:xfrm>
            <a:off x="9326880" y="2331720"/>
            <a:ext cx="3840480" cy="6675120"/>
          </a:xfrm>
          <a:prstGeom prst="roundRect">
            <a:avLst/>
          </a:prstGeom>
          <a:solidFill>
            <a:srgbClr val="FAFCFE"/>
          </a:solidFill>
          <a:ln w="15240">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9326880" y="2331720"/>
            <a:ext cx="3840480" cy="109728"/>
          </a:xfrm>
          <a:prstGeom prst="roundRect">
            <a:avLst/>
          </a:prstGeom>
          <a:solidFill>
            <a:srgbClr val="FFC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509760" y="2514600"/>
            <a:ext cx="3474720" cy="6309360"/>
          </a:xfrm>
          <a:prstGeom prst="rect">
            <a:avLst/>
          </a:prstGeom>
          <a:noFill/>
        </p:spPr>
        <p:txBody>
          <a:bodyPr wrap="square" lIns="0" rIns="0" tIns="0" bIns="0">
            <a:spAutoFit/>
          </a:bodyPr>
          <a:lstStyle/>
          <a:p>
            <a:pPr>
              <a:spcAft>
                <a:spcPts val="400"/>
              </a:spcAft>
              <a:defRPr b="1" sz="1850">
                <a:solidFill>
                  <a:srgbClr val="012036"/>
                </a:solidFill>
                <a:latin typeface="Anova Light"/>
              </a:defRPr>
            </a:pPr>
            <a:r>
              <a:t>3. In-Memory CAS Streaming</a:t>
            </a:r>
          </a:p>
          <a:p>
            <a:pPr>
              <a:spcAft>
                <a:spcPts val="1100"/>
              </a:spcAft>
              <a:defRPr sz="1300" b="0">
                <a:solidFill>
                  <a:srgbClr val="FFCC32"/>
                </a:solidFill>
                <a:latin typeface="Anova Light"/>
              </a:defRPr>
            </a:pPr>
            <a:r>
              <a:t>w_to_cas Adapter</a:t>
            </a:r>
          </a:p>
          <a:p>
            <a:pPr>
              <a:spcAft>
                <a:spcPts val="900"/>
              </a:spcAft>
            </a:pPr>
            <a:r>
              <a:rPr b="1" sz="1350">
                <a:solidFill>
                  <a:srgbClr val="012036"/>
                </a:solidFill>
                <a:latin typeface="Anova Light"/>
              </a:rPr>
              <a:t>•  dfesp_cas_adapter: </a:t>
            </a:r>
            <a:r>
              <a:rPr b="0" sz="1300">
                <a:solidFill>
                  <a:srgbClr val="141E2A"/>
                </a:solidFill>
                <a:latin typeface="Anova Light"/>
              </a:rPr>
              <a:t>w_to_cas connector streams normalized events directly into CAS in-memory table PUBLIC.BMC_RAW.</a:t>
            </a:r>
          </a:p>
          <a:p>
            <a:pPr>
              <a:spcAft>
                <a:spcPts val="900"/>
              </a:spcAft>
            </a:pPr>
            <a:r>
              <a:rPr b="1" sz="1350">
                <a:solidFill>
                  <a:srgbClr val="012036"/>
                </a:solidFill>
                <a:latin typeface="Anova Light"/>
              </a:rPr>
              <a:t>•  Micro-Batch Commits: </a:t>
            </a:r>
            <a:r>
              <a:rPr b="0" sz="1300">
                <a:solidFill>
                  <a:srgbClr val="141E2A"/>
                </a:solidFill>
                <a:latin typeface="Anova Light"/>
              </a:rPr>
              <a:t>commitblocks=10 appends events continuously with zero disk thrashing.</a:t>
            </a:r>
          </a:p>
          <a:p>
            <a:pPr>
              <a:spcAft>
                <a:spcPts val="900"/>
              </a:spcAft>
            </a:pPr>
            <a:r>
              <a:rPr b="1" sz="1350">
                <a:solidFill>
                  <a:srgbClr val="012036"/>
                </a:solidFill>
                <a:latin typeface="Anova Light"/>
              </a:rPr>
              <a:t>•  Persisted Sizing: </a:t>
            </a:r>
            <a:r>
              <a:rPr b="0" sz="1300">
                <a:solidFill>
                  <a:srgbClr val="141E2A"/>
                </a:solidFill>
                <a:latin typeface="Anova Light"/>
              </a:rPr>
              <a:t>Over 90,000 continuous sensor readings landed and backed up to BMC_RAW.sashdat with 100% data integrity.</a:t>
            </a:r>
          </a:p>
        </p:txBody>
      </p:sp>
      <p:sp>
        <p:nvSpPr>
          <p:cNvPr id="13" name="Rounded Rectangle 12"/>
          <p:cNvSpPr/>
          <p:nvPr/>
        </p:nvSpPr>
        <p:spPr>
          <a:xfrm>
            <a:off x="13533120" y="2331720"/>
            <a:ext cx="3840480" cy="6675120"/>
          </a:xfrm>
          <a:prstGeom prst="roundRect">
            <a:avLst/>
          </a:prstGeom>
          <a:solidFill>
            <a:srgbClr val="FAFCFE"/>
          </a:solidFill>
          <a:ln w="15240">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13533120" y="2331720"/>
            <a:ext cx="3840480" cy="109728"/>
          </a:xfrm>
          <a:prstGeom prst="roundRect">
            <a:avLst/>
          </a:prstGeom>
          <a:solidFill>
            <a:srgbClr val="15B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3716000" y="2514600"/>
            <a:ext cx="3474720" cy="6309360"/>
          </a:xfrm>
          <a:prstGeom prst="rect">
            <a:avLst/>
          </a:prstGeom>
          <a:noFill/>
        </p:spPr>
        <p:txBody>
          <a:bodyPr wrap="square" lIns="0" rIns="0" tIns="0" bIns="0">
            <a:spAutoFit/>
          </a:bodyPr>
          <a:lstStyle/>
          <a:p>
            <a:pPr>
              <a:spcAft>
                <a:spcPts val="400"/>
              </a:spcAft>
              <a:defRPr b="1" sz="1850">
                <a:solidFill>
                  <a:srgbClr val="012036"/>
                </a:solidFill>
                <a:latin typeface="Anova Light"/>
              </a:defRPr>
            </a:pPr>
            <a:r>
              <a:t>4. Stateful Batch ABT</a:t>
            </a:r>
          </a:p>
          <a:p>
            <a:pPr>
              <a:spcAft>
                <a:spcPts val="1100"/>
              </a:spcAft>
              <a:defRPr sz="1300" b="0">
                <a:solidFill>
                  <a:srgbClr val="15B57B"/>
                </a:solidFill>
                <a:latin typeface="Anova Light"/>
              </a:defRPr>
            </a:pPr>
            <a:r>
              <a:t>generate_abt.sas</a:t>
            </a:r>
          </a:p>
          <a:p>
            <a:pPr>
              <a:spcAft>
                <a:spcPts val="900"/>
              </a:spcAft>
            </a:pPr>
            <a:r>
              <a:rPr b="1" sz="1350">
                <a:solidFill>
                  <a:srgbClr val="012036"/>
                </a:solidFill>
                <a:latin typeface="Anova Light"/>
              </a:rPr>
              <a:t>•  Dynamic Batch Detection: </a:t>
            </a:r>
            <a:r>
              <a:rPr b="0" sz="1300">
                <a:solidFill>
                  <a:srgbClr val="141E2A"/>
                </a:solidFill>
                <a:latin typeface="Anova Light"/>
              </a:rPr>
              <a:t>SAS DATA step detects re-inoculation glucose jumps (0 to 8-12 g/L) to assign true sequential Batch_IDs.</a:t>
            </a:r>
          </a:p>
          <a:p>
            <a:pPr>
              <a:spcAft>
                <a:spcPts val="900"/>
              </a:spcAft>
            </a:pPr>
            <a:r>
              <a:rPr b="1" sz="1350">
                <a:solidFill>
                  <a:srgbClr val="012036"/>
                </a:solidFill>
                <a:latin typeface="Anova Light"/>
              </a:rPr>
              <a:t>•  LOCF Imputation: </a:t>
            </a:r>
            <a:r>
              <a:rPr b="0" sz="1300">
                <a:solidFill>
                  <a:srgbClr val="141E2A"/>
                </a:solidFill>
                <a:latin typeface="Anova Light"/>
              </a:rPr>
              <a:t>Last Observation Carried Forward aligns asynchronous sensor bursts into unified 1-minute time slices.</a:t>
            </a:r>
          </a:p>
          <a:p>
            <a:pPr>
              <a:spcAft>
                <a:spcPts val="900"/>
              </a:spcAft>
            </a:pPr>
            <a:r>
              <a:rPr b="1" sz="1350">
                <a:solidFill>
                  <a:srgbClr val="012036"/>
                </a:solidFill>
                <a:latin typeface="Anova Light"/>
              </a:rPr>
              <a:t>•  Target Engineering: </a:t>
            </a:r>
            <a:r>
              <a:rPr b="0" sz="1300">
                <a:solidFill>
                  <a:srgbClr val="141E2A"/>
                </a:solidFill>
                <a:latin typeface="Anova Light"/>
              </a:rPr>
              <a:t>Accurately computes Remaining Useful Life against current batch completion rather than global timeline.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defRPr b="1" sz="3600">
                <a:solidFill>
                  <a:srgbClr val="012036"/>
                </a:solidFill>
                <a:latin typeface="Anova Light"/>
              </a:defRPr>
            </a:pPr>
            <a:r>
              <a:t>Custom Analysis Framework (CAF): The AIoT Extensibility Gap</a:t>
            </a:r>
          </a:p>
        </p:txBody>
      </p:sp>
      <p:sp>
        <p:nvSpPr>
          <p:cNvPr id="3" name="Text Placeholder 2"/>
          <p:cNvSpPr>
            <a:spLocks noGrp="1"/>
          </p:cNvSpPr>
          <p:nvPr>
            <p:ph type="body" idx="10" sz="quarter"/>
          </p:nvPr>
        </p:nvSpPr>
        <p:spPr/>
        <p:txBody>
          <a:bodyPr wrap="square"/>
          <a:lstStyle/>
          <a:p>
            <a:pPr>
              <a:defRPr sz="1700">
                <a:solidFill>
                  <a:srgbClr val="556473"/>
                </a:solidFill>
                <a:latin typeface="Anova Light"/>
              </a:defRPr>
            </a:pPr>
            <a:r>
              <a:t>Moving from Proprietary GUI Wizards to Declarative 'Analysis-as-Code' for Enterprise IoT Algorithms</a:t>
            </a:r>
          </a:p>
        </p:txBody>
      </p:sp>
      <p:sp>
        <p:nvSpPr>
          <p:cNvPr id="4" name="Rounded Rectangle 3"/>
          <p:cNvSpPr/>
          <p:nvPr/>
        </p:nvSpPr>
        <p:spPr>
          <a:xfrm>
            <a:off x="1261872" y="2331720"/>
            <a:ext cx="4956048" cy="6675120"/>
          </a:xfrm>
          <a:prstGeom prst="roundRect">
            <a:avLst/>
          </a:prstGeom>
          <a:solidFill>
            <a:srgbClr val="FAFCFE"/>
          </a:solidFill>
          <a:ln w="15240">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261872" y="2331720"/>
            <a:ext cx="4956048" cy="109728"/>
          </a:xfrm>
          <a:prstGeom prst="roundRect">
            <a:avLst/>
          </a:prstGeom>
          <a:solidFill>
            <a:srgbClr val="8613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481328" y="2551176"/>
            <a:ext cx="4517136" cy="6236208"/>
          </a:xfrm>
          <a:prstGeom prst="rect">
            <a:avLst/>
          </a:prstGeom>
          <a:noFill/>
        </p:spPr>
        <p:txBody>
          <a:bodyPr wrap="square" lIns="0" rIns="0" tIns="0" bIns="0">
            <a:spAutoFit/>
          </a:bodyPr>
          <a:lstStyle/>
          <a:p>
            <a:pPr>
              <a:spcAft>
                <a:spcPts val="400"/>
              </a:spcAft>
              <a:defRPr b="1" sz="2100">
                <a:solidFill>
                  <a:srgbClr val="012036"/>
                </a:solidFill>
                <a:latin typeface="Anova Light"/>
              </a:defRPr>
            </a:pPr>
            <a:r>
              <a:t>The Traditional AIoT Dilemma</a:t>
            </a:r>
          </a:p>
          <a:p>
            <a:pPr>
              <a:spcAft>
                <a:spcPts val="1400"/>
              </a:spcAft>
              <a:defRPr sz="1400" b="0">
                <a:solidFill>
                  <a:srgbClr val="86134F"/>
                </a:solidFill>
                <a:latin typeface="Anova Light"/>
              </a:defRPr>
            </a:pPr>
            <a:r>
              <a:t>The Proprietary Bottleneck</a:t>
            </a:r>
          </a:p>
          <a:p>
            <a:pPr>
              <a:spcAft>
                <a:spcPts val="1300"/>
              </a:spcAft>
            </a:pPr>
            <a:r>
              <a:rPr b="1" sz="1450">
                <a:solidFill>
                  <a:srgbClr val="012036"/>
                </a:solidFill>
                <a:latin typeface="Anova Light"/>
              </a:rPr>
              <a:t>•  Fixed Out-of-the-Box Models: </a:t>
            </a:r>
            <a:r>
              <a:rPr b="0" sz="1400">
                <a:solidFill>
                  <a:srgbClr val="141E2A"/>
                </a:solidFill>
                <a:latin typeface="Anova Light"/>
              </a:rPr>
              <a:t>SAS Analytics for IoT ships standard analytics (Pareto, Reliability, Trend and Control), but enterprise operations require proprietary algorithms.</a:t>
            </a:r>
          </a:p>
          <a:p>
            <a:pPr>
              <a:spcAft>
                <a:spcPts val="1300"/>
              </a:spcAft>
            </a:pPr>
            <a:r>
              <a:rPr b="1" sz="1450">
                <a:solidFill>
                  <a:srgbClr val="012036"/>
                </a:solidFill>
                <a:latin typeface="Anova Light"/>
              </a:rPr>
              <a:t>•  The GUI Designer Barrier: </a:t>
            </a:r>
            <a:r>
              <a:rPr b="0" sz="1400">
                <a:solidFill>
                  <a:srgbClr val="141E2A"/>
                </a:solidFill>
                <a:latin typeface="Anova Light"/>
              </a:rPr>
              <a:t>Creating custom analysis types previously required clicking through a multi-step web UI designer—slow, manual, and error-prone.</a:t>
            </a:r>
          </a:p>
          <a:p>
            <a:pPr>
              <a:spcAft>
                <a:spcPts val="1300"/>
              </a:spcAft>
            </a:pPr>
            <a:r>
              <a:rPr b="1" sz="1450">
                <a:solidFill>
                  <a:srgbClr val="012036"/>
                </a:solidFill>
                <a:latin typeface="Anova Light"/>
              </a:rPr>
              <a:t>•  No Version Control: </a:t>
            </a:r>
            <a:r>
              <a:rPr b="0" sz="1400">
                <a:solidFill>
                  <a:srgbClr val="141E2A"/>
                </a:solidFill>
                <a:latin typeface="Anova Light"/>
              </a:rPr>
              <a:t>GUI-created analysis models could not be diffed, reviewed in GitHub pull requests, or integrated into modern CI/CD pipelines.</a:t>
            </a:r>
          </a:p>
          <a:p>
            <a:pPr>
              <a:spcAft>
                <a:spcPts val="1300"/>
              </a:spcAft>
            </a:pPr>
            <a:r>
              <a:rPr b="1" sz="1450">
                <a:solidFill>
                  <a:srgbClr val="012036"/>
                </a:solidFill>
                <a:latin typeface="Anova Light"/>
              </a:rPr>
              <a:t>•  Unforgiving Silent Failures: </a:t>
            </a:r>
            <a:r>
              <a:rPr b="0" sz="1400">
                <a:solidFill>
                  <a:srgbClr val="141E2A"/>
                </a:solidFill>
                <a:latin typeface="Anova Light"/>
              </a:rPr>
              <a:t>A single misspelled token in the Visual Analytics report definition renders an empty screen without throwing an error.</a:t>
            </a:r>
          </a:p>
        </p:txBody>
      </p:sp>
      <p:sp>
        <p:nvSpPr>
          <p:cNvPr id="7" name="Rounded Rectangle 6"/>
          <p:cNvSpPr/>
          <p:nvPr/>
        </p:nvSpPr>
        <p:spPr>
          <a:xfrm>
            <a:off x="6656832" y="2331720"/>
            <a:ext cx="4956048" cy="6675120"/>
          </a:xfrm>
          <a:prstGeom prst="roundRect">
            <a:avLst/>
          </a:prstGeom>
          <a:solidFill>
            <a:srgbClr val="FAFCFE"/>
          </a:solidFill>
          <a:ln w="15240">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656832" y="2331720"/>
            <a:ext cx="4956048" cy="109728"/>
          </a:xfrm>
          <a:prstGeom prst="roundRect">
            <a:avLst/>
          </a:prstGeom>
          <a:solidFill>
            <a:srgbClr val="33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76288" y="2551176"/>
            <a:ext cx="4517136" cy="6236208"/>
          </a:xfrm>
          <a:prstGeom prst="rect">
            <a:avLst/>
          </a:prstGeom>
          <a:noFill/>
        </p:spPr>
        <p:txBody>
          <a:bodyPr wrap="square" lIns="0" rIns="0" tIns="0" bIns="0">
            <a:spAutoFit/>
          </a:bodyPr>
          <a:lstStyle/>
          <a:p>
            <a:pPr>
              <a:spcAft>
                <a:spcPts val="400"/>
              </a:spcAft>
              <a:defRPr b="1" sz="2100">
                <a:solidFill>
                  <a:srgbClr val="012036"/>
                </a:solidFill>
                <a:latin typeface="Anova Light"/>
              </a:defRPr>
            </a:pPr>
            <a:r>
              <a:t>Reverse-Engineering the Format</a:t>
            </a:r>
          </a:p>
          <a:p>
            <a:pPr>
              <a:spcAft>
                <a:spcPts val="1400"/>
              </a:spcAft>
              <a:defRPr sz="1400" b="0">
                <a:solidFill>
                  <a:srgbClr val="33A3FF"/>
                </a:solidFill>
                <a:latin typeface="Anova Light"/>
              </a:defRPr>
            </a:pPr>
            <a:r>
              <a:t>Analysis-as-Code Breakthrough</a:t>
            </a:r>
          </a:p>
          <a:p>
            <a:pPr>
              <a:spcAft>
                <a:spcPts val="1300"/>
              </a:spcAft>
            </a:pPr>
            <a:r>
              <a:rPr b="1" sz="1450">
                <a:solidFill>
                  <a:srgbClr val="012036"/>
                </a:solidFill>
                <a:latin typeface="Anova Light"/>
              </a:rPr>
              <a:t>•  Decoded 34 Packages: </a:t>
            </a:r>
            <a:r>
              <a:rPr b="0" sz="1400">
                <a:solidFill>
                  <a:srgbClr val="141E2A"/>
                </a:solidFill>
                <a:latin typeface="Anova Light"/>
              </a:rPr>
              <a:t>Systematically reverse-engineered 34 packaged analysis types in CAF_Examples to uncover the true underlying XML and macro schema.</a:t>
            </a:r>
          </a:p>
          <a:p>
            <a:pPr>
              <a:spcAft>
                <a:spcPts val="1300"/>
              </a:spcAft>
            </a:pPr>
            <a:r>
              <a:rPr b="1" sz="1450">
                <a:solidFill>
                  <a:srgbClr val="012036"/>
                </a:solidFill>
                <a:latin typeface="Anova Light"/>
              </a:rPr>
              <a:t>•  Undocumented Artifacts: </a:t>
            </a:r>
            <a:r>
              <a:rPr b="0" sz="1400">
                <a:solidFill>
                  <a:srgbClr val="141E2A"/>
                </a:solidFill>
                <a:latin typeface="Anova Light"/>
              </a:rPr>
              <a:t>Documented the exact artifact format for input.xml, SAS CDATA code execution, and Visual Analytics BIRD templates.</a:t>
            </a:r>
          </a:p>
          <a:p>
            <a:pPr>
              <a:spcAft>
                <a:spcPts val="1300"/>
              </a:spcAft>
            </a:pPr>
            <a:r>
              <a:rPr b="1" sz="1450">
                <a:solidFill>
                  <a:srgbClr val="012036"/>
                </a:solidFill>
                <a:latin typeface="Anova Light"/>
              </a:rPr>
              <a:t>•  Three Architectural Flavors: </a:t>
            </a:r>
            <a:r>
              <a:rPr b="0" sz="1400">
                <a:solidFill>
                  <a:srgbClr val="141E2A"/>
                </a:solidFill>
                <a:latin typeface="Anova Light"/>
              </a:rPr>
              <a:t>Codified the differences between STANDARD (driver macros), ALERTS (early warning), and CUSTOM (user-authored code).</a:t>
            </a:r>
          </a:p>
          <a:p>
            <a:pPr>
              <a:spcAft>
                <a:spcPts val="1300"/>
              </a:spcAft>
            </a:pPr>
            <a:r>
              <a:rPr b="1" sz="1450">
                <a:solidFill>
                  <a:srgbClr val="012036"/>
                </a:solidFill>
                <a:latin typeface="Anova Light"/>
              </a:rPr>
              <a:t>•  Comprehensive Guide: </a:t>
            </a:r>
            <a:r>
              <a:rPr b="0" sz="1400">
                <a:solidFill>
                  <a:srgbClr val="141E2A"/>
                </a:solidFill>
                <a:latin typeface="Anova Light"/>
              </a:rPr>
              <a:t>Authored CAF_documentation.md: a complete authoring reference for hand-crafting analysis types without the UI.</a:t>
            </a:r>
          </a:p>
        </p:txBody>
      </p:sp>
      <p:sp>
        <p:nvSpPr>
          <p:cNvPr id="10" name="Rounded Rectangle 9"/>
          <p:cNvSpPr/>
          <p:nvPr/>
        </p:nvSpPr>
        <p:spPr>
          <a:xfrm>
            <a:off x="12051792" y="2331720"/>
            <a:ext cx="4956048" cy="6675120"/>
          </a:xfrm>
          <a:prstGeom prst="roundRect">
            <a:avLst/>
          </a:prstGeom>
          <a:solidFill>
            <a:srgbClr val="FAFCFE"/>
          </a:solidFill>
          <a:ln w="15240">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2051792" y="2331720"/>
            <a:ext cx="4956048" cy="109728"/>
          </a:xfrm>
          <a:prstGeom prst="roundRect">
            <a:avLst/>
          </a:prstGeom>
          <a:solidFill>
            <a:srgbClr val="15B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271248" y="2551176"/>
            <a:ext cx="4517136" cy="6236208"/>
          </a:xfrm>
          <a:prstGeom prst="rect">
            <a:avLst/>
          </a:prstGeom>
          <a:noFill/>
        </p:spPr>
        <p:txBody>
          <a:bodyPr wrap="square" lIns="0" rIns="0" tIns="0" bIns="0">
            <a:spAutoFit/>
          </a:bodyPr>
          <a:lstStyle/>
          <a:p>
            <a:pPr>
              <a:spcAft>
                <a:spcPts val="400"/>
              </a:spcAft>
              <a:defRPr b="1" sz="2100">
                <a:solidFill>
                  <a:srgbClr val="012036"/>
                </a:solidFill>
                <a:latin typeface="Anova Light"/>
              </a:defRPr>
            </a:pPr>
            <a:r>
              <a:t>Enterprise Business Impact</a:t>
            </a:r>
          </a:p>
          <a:p>
            <a:pPr>
              <a:spcAft>
                <a:spcPts val="1400"/>
              </a:spcAft>
              <a:defRPr sz="1400" b="0">
                <a:solidFill>
                  <a:srgbClr val="15B57B"/>
                </a:solidFill>
                <a:latin typeface="Anova Light"/>
              </a:defRPr>
            </a:pPr>
            <a:r>
              <a:t>Agile Analytical Delivery</a:t>
            </a:r>
          </a:p>
          <a:p>
            <a:pPr>
              <a:spcAft>
                <a:spcPts val="1300"/>
              </a:spcAft>
            </a:pPr>
            <a:r>
              <a:rPr b="1" sz="1450">
                <a:solidFill>
                  <a:srgbClr val="012036"/>
                </a:solidFill>
                <a:latin typeface="Anova Light"/>
              </a:rPr>
              <a:t>•  Programmatic Hot-Reloading: </a:t>
            </a:r>
            <a:r>
              <a:rPr b="0" sz="1400">
                <a:solidFill>
                  <a:srgbClr val="141E2A"/>
                </a:solidFill>
                <a:latin typeface="Anova Light"/>
              </a:rPr>
              <a:t>Analysis types can be authored in VS Code, validated against a linter, and deployed instantly via MCP REST APIs.</a:t>
            </a:r>
          </a:p>
          <a:p>
            <a:pPr>
              <a:spcAft>
                <a:spcPts val="1300"/>
              </a:spcAft>
            </a:pPr>
            <a:r>
              <a:rPr b="1" sz="1450">
                <a:solidFill>
                  <a:srgbClr val="012036"/>
                </a:solidFill>
                <a:latin typeface="Anova Light"/>
              </a:rPr>
              <a:t>•  Support Vector Data Description: </a:t>
            </a:r>
            <a:r>
              <a:rPr b="0" sz="1400">
                <a:solidFill>
                  <a:srgbClr val="141E2A"/>
                </a:solidFill>
                <a:latin typeface="Anova Light"/>
              </a:rPr>
              <a:t>Implemented SVDD Anomaly Detection: a one-class classification model for complex multi-sensor industrial equipment.</a:t>
            </a:r>
          </a:p>
          <a:p>
            <a:pPr>
              <a:spcAft>
                <a:spcPts val="1300"/>
              </a:spcAft>
            </a:pPr>
            <a:r>
              <a:rPr b="1" sz="1450">
                <a:solidFill>
                  <a:srgbClr val="012036"/>
                </a:solidFill>
                <a:latin typeface="Anova Light"/>
              </a:rPr>
              <a:t>•  Reusable Step Templates: </a:t>
            </a:r>
            <a:r>
              <a:rPr b="0" sz="1400">
                <a:solidFill>
                  <a:srgbClr val="141E2A"/>
                </a:solidFill>
                <a:latin typeface="Anova Light"/>
              </a:rPr>
              <a:t>Modular packaging allows data scientists to build an analytical algorithm once and expose it as a self-service tool to plant engineers.</a:t>
            </a:r>
          </a:p>
          <a:p>
            <a:pPr>
              <a:spcAft>
                <a:spcPts val="1300"/>
              </a:spcAft>
            </a:pPr>
            <a:r>
              <a:rPr b="1" sz="1450">
                <a:solidFill>
                  <a:srgbClr val="012036"/>
                </a:solidFill>
                <a:latin typeface="Anova Light"/>
              </a:rPr>
              <a:t>•  Automated Report Binding: </a:t>
            </a:r>
            <a:r>
              <a:rPr b="0" sz="1400">
                <a:solidFill>
                  <a:srgbClr val="141E2A"/>
                </a:solidFill>
                <a:latin typeface="Anova Light"/>
              </a:rPr>
              <a:t>Visual Analytics dashboards are parameterized to bind automatically to newly promoted CAS output tables.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defRPr b="1" sz="3600">
                <a:solidFill>
                  <a:srgbClr val="012036"/>
                </a:solidFill>
                <a:latin typeface="Anova Light"/>
              </a:defRPr>
            </a:pPr>
            <a:r>
              <a:t>CAF Deep-Dive: Deconstructing the 3-Layer Artifact</a:t>
            </a:r>
          </a:p>
        </p:txBody>
      </p:sp>
      <p:sp>
        <p:nvSpPr>
          <p:cNvPr id="3" name="Text Placeholder 2"/>
          <p:cNvSpPr>
            <a:spLocks noGrp="1"/>
          </p:cNvSpPr>
          <p:nvPr>
            <p:ph type="body" idx="10" sz="quarter"/>
          </p:nvPr>
        </p:nvSpPr>
        <p:spPr/>
        <p:txBody>
          <a:bodyPr wrap="square"/>
          <a:lstStyle/>
          <a:p>
            <a:pPr>
              <a:defRPr sz="1700">
                <a:solidFill>
                  <a:srgbClr val="556473"/>
                </a:solidFill>
                <a:latin typeface="Anova Light"/>
              </a:defRPr>
            </a:pPr>
            <a:r>
              <a:t>Input Form Specification, Server-Side Compute CDATA, and Visual Analytics BIRD XML Templatization</a:t>
            </a:r>
          </a:p>
        </p:txBody>
      </p:sp>
      <p:sp>
        <p:nvSpPr>
          <p:cNvPr id="4" name="Rounded Rectangle 3"/>
          <p:cNvSpPr/>
          <p:nvPr/>
        </p:nvSpPr>
        <p:spPr>
          <a:xfrm>
            <a:off x="1261872" y="2331720"/>
            <a:ext cx="4956048" cy="6675120"/>
          </a:xfrm>
          <a:prstGeom prst="roundRect">
            <a:avLst/>
          </a:prstGeom>
          <a:solidFill>
            <a:srgbClr val="FAFCFE"/>
          </a:solidFill>
          <a:ln w="15240">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261872" y="2331720"/>
            <a:ext cx="4956048" cy="109728"/>
          </a:xfrm>
          <a:prstGeom prst="roundRect">
            <a:avLst/>
          </a:prstGeom>
          <a:solidFill>
            <a:srgbClr val="33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481328" y="2551176"/>
            <a:ext cx="4517136" cy="6236208"/>
          </a:xfrm>
          <a:prstGeom prst="rect">
            <a:avLst/>
          </a:prstGeom>
          <a:noFill/>
        </p:spPr>
        <p:txBody>
          <a:bodyPr wrap="square" lIns="0" rIns="0" tIns="0" bIns="0">
            <a:spAutoFit/>
          </a:bodyPr>
          <a:lstStyle/>
          <a:p>
            <a:pPr>
              <a:spcAft>
                <a:spcPts val="400"/>
              </a:spcAft>
              <a:defRPr b="1" sz="2100">
                <a:solidFill>
                  <a:srgbClr val="012036"/>
                </a:solidFill>
                <a:latin typeface="Anova Light"/>
              </a:defRPr>
            </a:pPr>
            <a:r>
              <a:t>Layer 1: Input &amp; Form Spec</a:t>
            </a:r>
          </a:p>
          <a:p>
            <a:pPr>
              <a:spcAft>
                <a:spcPts val="1400"/>
              </a:spcAft>
              <a:defRPr sz="1400" b="0">
                <a:solidFill>
                  <a:srgbClr val="33A3FF"/>
                </a:solidFill>
                <a:latin typeface="Anova Light"/>
              </a:defRPr>
            </a:pPr>
            <a:r>
              <a:t>UI &amp; Orchestration Contract</a:t>
            </a:r>
          </a:p>
          <a:p>
            <a:pPr>
              <a:spcAft>
                <a:spcPts val="1300"/>
              </a:spcAft>
            </a:pPr>
            <a:r>
              <a:rPr b="1" sz="1450">
                <a:solidFill>
                  <a:srgbClr val="012036"/>
                </a:solidFill>
                <a:latin typeface="Anova Light"/>
              </a:rPr>
              <a:t>•  input.xml Definition: </a:t>
            </a:r>
            <a:r>
              <a:rPr b="0" sz="1400">
                <a:solidFill>
                  <a:srgbClr val="141E2A"/>
                </a:solidFill>
                <a:latin typeface="Anova Light"/>
              </a:rPr>
              <a:t>Defines the UI form the end user sees: parameter pickers, dropdowns, numeric sliders, and container groupings.</a:t>
            </a:r>
          </a:p>
          <a:p>
            <a:pPr>
              <a:spcAft>
                <a:spcPts val="1300"/>
              </a:spcAft>
            </a:pPr>
            <a:r>
              <a:rPr b="1" sz="1450">
                <a:solidFill>
                  <a:srgbClr val="012036"/>
                </a:solidFill>
                <a:latin typeface="Anova Light"/>
              </a:rPr>
              <a:t>•  Dynamic Lookups: </a:t>
            </a:r>
            <a:r>
              <a:rPr b="0" sz="1400">
                <a:solidFill>
                  <a:srgbClr val="141E2A"/>
                </a:solidFill>
                <a:latin typeface="Anova Light"/>
              </a:rPr>
              <a:t>Uses platform lookups with RESOLVEONUI to populate variable dropdowns dynamically from selected CAS tables.</a:t>
            </a:r>
          </a:p>
          <a:p>
            <a:pPr>
              <a:spcAft>
                <a:spcPts val="1300"/>
              </a:spcAft>
            </a:pPr>
            <a:r>
              <a:rPr b="1" sz="1450">
                <a:solidFill>
                  <a:srgbClr val="012036"/>
                </a:solidFill>
                <a:latin typeface="Anova Light"/>
              </a:rPr>
              <a:t>•  Interaction Rules: </a:t>
            </a:r>
            <a:r>
              <a:rPr b="0" sz="1400">
                <a:solidFill>
                  <a:srgbClr val="141E2A"/>
                </a:solidFill>
                <a:latin typeface="Anova Light"/>
              </a:rPr>
              <a:t>Declarative conditional logic that shows, hides, or disables parameters based on user selections without JavaScript.</a:t>
            </a:r>
          </a:p>
          <a:p>
            <a:pPr>
              <a:spcAft>
                <a:spcPts val="1300"/>
              </a:spcAft>
            </a:pPr>
            <a:r>
              <a:rPr b="1" sz="1450">
                <a:solidFill>
                  <a:srgbClr val="012036"/>
                </a:solidFill>
                <a:latin typeface="Anova Light"/>
              </a:rPr>
              <a:t>•  Embedded SAS Code: </a:t>
            </a:r>
            <a:r>
              <a:rPr b="0" sz="1400">
                <a:solidFill>
                  <a:srgbClr val="141E2A"/>
                </a:solidFill>
                <a:latin typeface="Anova Light"/>
              </a:rPr>
              <a:t>Encapsulates the complete SAS execution driver inside a &lt;Code&gt;&lt;![CDATA[...]]&gt;&lt;/Code&gt; block with macro token substitution.</a:t>
            </a:r>
          </a:p>
        </p:txBody>
      </p:sp>
      <p:sp>
        <p:nvSpPr>
          <p:cNvPr id="7" name="Rounded Rectangle 6"/>
          <p:cNvSpPr/>
          <p:nvPr/>
        </p:nvSpPr>
        <p:spPr>
          <a:xfrm>
            <a:off x="6656832" y="2331720"/>
            <a:ext cx="4956048" cy="6675120"/>
          </a:xfrm>
          <a:prstGeom prst="roundRect">
            <a:avLst/>
          </a:prstGeom>
          <a:solidFill>
            <a:srgbClr val="FAFCFE"/>
          </a:solidFill>
          <a:ln w="15240">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656832" y="2331720"/>
            <a:ext cx="4956048" cy="109728"/>
          </a:xfrm>
          <a:prstGeom prst="roundRect">
            <a:avLst/>
          </a:prstGeom>
          <a:solidFill>
            <a:srgbClr val="FFC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76288" y="2551176"/>
            <a:ext cx="4517136" cy="6236208"/>
          </a:xfrm>
          <a:prstGeom prst="rect">
            <a:avLst/>
          </a:prstGeom>
          <a:noFill/>
        </p:spPr>
        <p:txBody>
          <a:bodyPr wrap="square" lIns="0" rIns="0" tIns="0" bIns="0">
            <a:spAutoFit/>
          </a:bodyPr>
          <a:lstStyle/>
          <a:p>
            <a:pPr>
              <a:spcAft>
                <a:spcPts val="400"/>
              </a:spcAft>
              <a:defRPr b="1" sz="2100">
                <a:solidFill>
                  <a:srgbClr val="012036"/>
                </a:solidFill>
                <a:latin typeface="Anova Light"/>
              </a:defRPr>
            </a:pPr>
            <a:r>
              <a:t>Layer 2: Compute Execution</a:t>
            </a:r>
          </a:p>
          <a:p>
            <a:pPr>
              <a:spcAft>
                <a:spcPts val="1400"/>
              </a:spcAft>
              <a:defRPr sz="1400" b="0">
                <a:solidFill>
                  <a:srgbClr val="FFCC32"/>
                </a:solidFill>
                <a:latin typeface="Anova Light"/>
              </a:defRPr>
            </a:pPr>
            <a:r>
              <a:t>Distributed Server Execution</a:t>
            </a:r>
          </a:p>
          <a:p>
            <a:pPr>
              <a:spcAft>
                <a:spcPts val="1300"/>
              </a:spcAft>
            </a:pPr>
            <a:r>
              <a:rPr b="1" sz="1450">
                <a:solidFill>
                  <a:srgbClr val="012036"/>
                </a:solidFill>
                <a:latin typeface="Anova Light"/>
              </a:rPr>
              <a:t>•  PROC CAS &amp; Action Sets: </a:t>
            </a:r>
            <a:r>
              <a:rPr b="0" sz="1400">
                <a:solidFill>
                  <a:srgbClr val="141E2A"/>
                </a:solidFill>
                <a:latin typeface="Anova Light"/>
              </a:rPr>
              <a:t>Executes high-performance CAS action sets (e.g., svm.svddTrain, svm.svddScore) across distributed worker nodes.</a:t>
            </a:r>
          </a:p>
          <a:p>
            <a:pPr>
              <a:spcAft>
                <a:spcPts val="1300"/>
              </a:spcAft>
            </a:pPr>
            <a:r>
              <a:rPr b="1" sz="1450">
                <a:solidFill>
                  <a:srgbClr val="012036"/>
                </a:solidFill>
                <a:latin typeface="Anova Light"/>
              </a:rPr>
              <a:t>•  Automated Variable Resolution: </a:t>
            </a:r>
            <a:r>
              <a:rPr b="0" sz="1400">
                <a:solidFill>
                  <a:srgbClr val="141E2A"/>
                </a:solidFill>
                <a:latin typeface="Anova Light"/>
              </a:rPr>
              <a:t>Resolves user-selected input tags into macro arrays (&amp;varList) and sets hyperparameter values safely.</a:t>
            </a:r>
          </a:p>
          <a:p>
            <a:pPr>
              <a:spcAft>
                <a:spcPts val="1300"/>
              </a:spcAft>
            </a:pPr>
            <a:r>
              <a:rPr b="1" sz="1450">
                <a:solidFill>
                  <a:srgbClr val="012036"/>
                </a:solidFill>
                <a:latin typeface="Anova Light"/>
              </a:rPr>
              <a:t>•  In-Memory Promotion: </a:t>
            </a:r>
            <a:r>
              <a:rPr b="0" sz="1400">
                <a:solidFill>
                  <a:srgbClr val="141E2A"/>
                </a:solidFill>
                <a:latin typeface="Anova Light"/>
              </a:rPr>
              <a:t>Persists scored analytical results into promoted CAS tables with consistent naming conventions for downstream reporting.</a:t>
            </a:r>
          </a:p>
          <a:p>
            <a:pPr>
              <a:spcAft>
                <a:spcPts val="1300"/>
              </a:spcAft>
            </a:pPr>
            <a:r>
              <a:rPr b="1" sz="1450">
                <a:solidFill>
                  <a:srgbClr val="012036"/>
                </a:solidFill>
                <a:latin typeface="Anova Light"/>
              </a:rPr>
              <a:t>•  Telemetry &amp; Logging: </a:t>
            </a:r>
            <a:r>
              <a:rPr b="0" sz="1400">
                <a:solidFill>
                  <a:srgbClr val="141E2A"/>
                </a:solidFill>
                <a:latin typeface="Anova Light"/>
              </a:rPr>
              <a:t>Emits structured execution logs into the AIoT run repository for full historical auditability.</a:t>
            </a:r>
          </a:p>
        </p:txBody>
      </p:sp>
      <p:sp>
        <p:nvSpPr>
          <p:cNvPr id="10" name="Rounded Rectangle 9"/>
          <p:cNvSpPr/>
          <p:nvPr/>
        </p:nvSpPr>
        <p:spPr>
          <a:xfrm>
            <a:off x="12051792" y="2331720"/>
            <a:ext cx="4956048" cy="6675120"/>
          </a:xfrm>
          <a:prstGeom prst="roundRect">
            <a:avLst/>
          </a:prstGeom>
          <a:solidFill>
            <a:srgbClr val="FAFCFE"/>
          </a:solidFill>
          <a:ln w="15240">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2051792" y="2331720"/>
            <a:ext cx="4956048" cy="109728"/>
          </a:xfrm>
          <a:prstGeom prst="roundRect">
            <a:avLst/>
          </a:prstGeom>
          <a:solidFill>
            <a:srgbClr val="6D6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271248" y="2551176"/>
            <a:ext cx="4517136" cy="6236208"/>
          </a:xfrm>
          <a:prstGeom prst="rect">
            <a:avLst/>
          </a:prstGeom>
          <a:noFill/>
        </p:spPr>
        <p:txBody>
          <a:bodyPr wrap="square" lIns="0" rIns="0" tIns="0" bIns="0">
            <a:spAutoFit/>
          </a:bodyPr>
          <a:lstStyle/>
          <a:p>
            <a:pPr>
              <a:spcAft>
                <a:spcPts val="400"/>
              </a:spcAft>
              <a:defRPr b="1" sz="2100">
                <a:solidFill>
                  <a:srgbClr val="012036"/>
                </a:solidFill>
                <a:latin typeface="Anova Light"/>
              </a:defRPr>
            </a:pPr>
            <a:r>
              <a:t>Layer 3: Visual Analytics BIRD</a:t>
            </a:r>
          </a:p>
          <a:p>
            <a:pPr>
              <a:spcAft>
                <a:spcPts val="1400"/>
              </a:spcAft>
              <a:defRPr sz="1400" b="0">
                <a:solidFill>
                  <a:srgbClr val="6D69FF"/>
                </a:solidFill>
                <a:latin typeface="Anova Light"/>
              </a:defRPr>
            </a:pPr>
            <a:r>
              <a:t>Interactive VA Reporting</a:t>
            </a:r>
          </a:p>
          <a:p>
            <a:pPr>
              <a:spcAft>
                <a:spcPts val="1300"/>
              </a:spcAft>
            </a:pPr>
            <a:r>
              <a:rPr b="1" sz="1450">
                <a:solidFill>
                  <a:srgbClr val="012036"/>
                </a:solidFill>
                <a:latin typeface="Anova Light"/>
              </a:rPr>
              <a:t>•  vaoutput.template: </a:t>
            </a:r>
            <a:r>
              <a:rPr b="0" sz="1400">
                <a:solidFill>
                  <a:srgbClr val="141E2A"/>
                </a:solidFill>
                <a:latin typeface="Anova Light"/>
              </a:rPr>
              <a:t>Visual Analytics report definition exported as raw BIRD (Business Intelligence Report Definition) XML.</a:t>
            </a:r>
          </a:p>
          <a:p>
            <a:pPr>
              <a:spcAft>
                <a:spcPts val="1300"/>
              </a:spcAft>
            </a:pPr>
            <a:r>
              <a:rPr b="1" sz="1450">
                <a:solidFill>
                  <a:srgbClr val="012036"/>
                </a:solidFill>
                <a:latin typeface="Anova Light"/>
              </a:rPr>
              <a:t>•  Tokenized Data Sources: </a:t>
            </a:r>
            <a:r>
              <a:rPr b="0" sz="1400">
                <a:solidFill>
                  <a:srgbClr val="141E2A"/>
                </a:solidFill>
                <a:latin typeface="Anova Light"/>
              </a:rPr>
              <a:t>Replaces hardcoded CAS library and table names with parameterized tokens (e.g., {{OUTPUT_TABLE_NAME}}).</a:t>
            </a:r>
          </a:p>
          <a:p>
            <a:pPr>
              <a:spcAft>
                <a:spcPts val="1300"/>
              </a:spcAft>
            </a:pPr>
            <a:r>
              <a:rPr b="1" sz="1450">
                <a:solidFill>
                  <a:srgbClr val="012036"/>
                </a:solidFill>
                <a:latin typeface="Anova Light"/>
              </a:rPr>
              <a:t>•  Rich Pre-Built Visuals: </a:t>
            </a:r>
            <a:r>
              <a:rPr b="0" sz="1400">
                <a:solidFill>
                  <a:srgbClr val="141E2A"/>
                </a:solidFill>
                <a:latin typeface="Anova Light"/>
              </a:rPr>
              <a:t>Automatically configures scatter plots, anomaly score timelines, ROC curves, and outlier threshold bands.</a:t>
            </a:r>
          </a:p>
          <a:p>
            <a:pPr>
              <a:spcAft>
                <a:spcPts val="1300"/>
              </a:spcAft>
            </a:pPr>
            <a:r>
              <a:rPr b="1" sz="1450">
                <a:solidFill>
                  <a:srgbClr val="012036"/>
                </a:solidFill>
                <a:latin typeface="Anova Light"/>
              </a:rPr>
              <a:t>•  Zero-Click User Experience: </a:t>
            </a:r>
            <a:r>
              <a:rPr b="0" sz="1400">
                <a:solidFill>
                  <a:srgbClr val="141E2A"/>
                </a:solidFill>
                <a:latin typeface="Anova Light"/>
              </a:rPr>
              <a:t>When the analysis run finishes, the interactive Visual Analytics report opens immediately, fully populated.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defRPr b="1" sz="3600">
                <a:solidFill>
                  <a:srgbClr val="012036"/>
                </a:solidFill>
                <a:latin typeface="Anova Light"/>
              </a:defRPr>
            </a:pPr>
            <a:r>
              <a:t>Autonomous CAF Authoring: MCP Tools for Code-First IoT</a:t>
            </a:r>
          </a:p>
        </p:txBody>
      </p:sp>
      <p:sp>
        <p:nvSpPr>
          <p:cNvPr id="3" name="Text Placeholder 2"/>
          <p:cNvSpPr>
            <a:spLocks noGrp="1"/>
          </p:cNvSpPr>
          <p:nvPr>
            <p:ph type="body" idx="10" sz="quarter"/>
          </p:nvPr>
        </p:nvSpPr>
        <p:spPr/>
        <p:txBody>
          <a:bodyPr wrap="square"/>
          <a:lstStyle/>
          <a:p>
            <a:pPr>
              <a:defRPr sz="1700">
                <a:solidFill>
                  <a:srgbClr val="556473"/>
                </a:solidFill>
                <a:latin typeface="Anova Light"/>
              </a:defRPr>
            </a:pPr>
            <a:r>
              <a:t>Schema Introspection, Pre-Flight Specification Linting, and Visual Report Reverse-Engineering</a:t>
            </a:r>
          </a:p>
        </p:txBody>
      </p:sp>
      <p:sp>
        <p:nvSpPr>
          <p:cNvPr id="4" name="Rounded Rectangle 3"/>
          <p:cNvSpPr/>
          <p:nvPr/>
        </p:nvSpPr>
        <p:spPr>
          <a:xfrm>
            <a:off x="1261872" y="2331720"/>
            <a:ext cx="4956048" cy="6675120"/>
          </a:xfrm>
          <a:prstGeom prst="roundRect">
            <a:avLst/>
          </a:prstGeom>
          <a:solidFill>
            <a:srgbClr val="FAFCFE"/>
          </a:solidFill>
          <a:ln w="15240">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261872" y="2331720"/>
            <a:ext cx="4956048" cy="109728"/>
          </a:xfrm>
          <a:prstGeom prst="roundRect">
            <a:avLst/>
          </a:prstGeom>
          <a:solidFill>
            <a:srgbClr val="29D6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481328" y="2551176"/>
            <a:ext cx="4517136" cy="6236208"/>
          </a:xfrm>
          <a:prstGeom prst="rect">
            <a:avLst/>
          </a:prstGeom>
          <a:noFill/>
        </p:spPr>
        <p:txBody>
          <a:bodyPr wrap="square" lIns="0" rIns="0" tIns="0" bIns="0">
            <a:spAutoFit/>
          </a:bodyPr>
          <a:lstStyle/>
          <a:p>
            <a:pPr>
              <a:spcAft>
                <a:spcPts val="400"/>
              </a:spcAft>
              <a:defRPr b="1" sz="2100">
                <a:solidFill>
                  <a:srgbClr val="012036"/>
                </a:solidFill>
                <a:latin typeface="Anova Light"/>
              </a:defRPr>
            </a:pPr>
            <a:r>
              <a:t>describe_caf_schema</a:t>
            </a:r>
          </a:p>
          <a:p>
            <a:pPr>
              <a:spcAft>
                <a:spcPts val="1400"/>
              </a:spcAft>
              <a:defRPr sz="1400" b="0">
                <a:solidFill>
                  <a:srgbClr val="29D6CD"/>
                </a:solidFill>
                <a:latin typeface="Anova Light"/>
              </a:defRPr>
            </a:pPr>
            <a:r>
              <a:t>Tier 13: Schema Introspection</a:t>
            </a:r>
          </a:p>
          <a:p>
            <a:pPr>
              <a:spcAft>
                <a:spcPts val="1300"/>
              </a:spcAft>
            </a:pPr>
            <a:r>
              <a:rPr b="1" sz="1450">
                <a:solidFill>
                  <a:srgbClr val="012036"/>
                </a:solidFill>
                <a:latin typeface="Anova Light"/>
              </a:rPr>
              <a:t>•  Progressive Disclosure: </a:t>
            </a:r>
            <a:r>
              <a:rPr b="0" sz="1400">
                <a:solidFill>
                  <a:srgbClr val="141E2A"/>
                </a:solidFill>
                <a:latin typeface="Anova Light"/>
              </a:rPr>
              <a:t>Allows an AI agent to query the CAF XML contract layer-by-layer (parameters, lookups, interactions, code, BIRD XML).</a:t>
            </a:r>
          </a:p>
          <a:p>
            <a:pPr>
              <a:spcAft>
                <a:spcPts val="1300"/>
              </a:spcAft>
            </a:pPr>
            <a:r>
              <a:rPr b="1" sz="1450">
                <a:solidFill>
                  <a:srgbClr val="012036"/>
                </a:solidFill>
                <a:latin typeface="Anova Light"/>
              </a:rPr>
              <a:t>•  Prevents Context Bloat: </a:t>
            </a:r>
            <a:r>
              <a:rPr b="0" sz="1400">
                <a:solidFill>
                  <a:srgbClr val="141E2A"/>
                </a:solidFill>
                <a:latin typeface="Anova Light"/>
              </a:rPr>
              <a:t>Instead of stuffing a 50-page XML manual into the agent's prompt, the tool discloses schemas on demand.</a:t>
            </a:r>
          </a:p>
          <a:p>
            <a:pPr>
              <a:spcAft>
                <a:spcPts val="1300"/>
              </a:spcAft>
            </a:pPr>
            <a:r>
              <a:rPr b="1" sz="1450">
                <a:solidFill>
                  <a:srgbClr val="012036"/>
                </a:solidFill>
                <a:latin typeface="Anova Light"/>
              </a:rPr>
              <a:t>•  Display Control Reference: </a:t>
            </a:r>
            <a:r>
              <a:rPr b="0" sz="1400">
                <a:solidFill>
                  <a:srgbClr val="141E2A"/>
                </a:solidFill>
                <a:latin typeface="Anova Light"/>
              </a:rPr>
              <a:t>Details the exact XML properties required for dropdowns, date pickers, numeric inputs, and radio groups.</a:t>
            </a:r>
          </a:p>
          <a:p>
            <a:pPr>
              <a:spcAft>
                <a:spcPts val="1300"/>
              </a:spcAft>
            </a:pPr>
            <a:r>
              <a:rPr b="1" sz="1450">
                <a:solidFill>
                  <a:srgbClr val="012036"/>
                </a:solidFill>
                <a:latin typeface="Anova Light"/>
              </a:rPr>
              <a:t>•  Error-Free Authoring: </a:t>
            </a:r>
            <a:r>
              <a:rPr b="0" sz="1400">
                <a:solidFill>
                  <a:srgbClr val="141E2A"/>
                </a:solidFill>
                <a:latin typeface="Anova Light"/>
              </a:rPr>
              <a:t>Equips LLMs with the exact vocabulary required to author valid packages from scratch.</a:t>
            </a:r>
          </a:p>
        </p:txBody>
      </p:sp>
      <p:sp>
        <p:nvSpPr>
          <p:cNvPr id="7" name="Rounded Rectangle 6"/>
          <p:cNvSpPr/>
          <p:nvPr/>
        </p:nvSpPr>
        <p:spPr>
          <a:xfrm>
            <a:off x="6656832" y="2331720"/>
            <a:ext cx="4956048" cy="6675120"/>
          </a:xfrm>
          <a:prstGeom prst="roundRect">
            <a:avLst/>
          </a:prstGeom>
          <a:solidFill>
            <a:srgbClr val="FAFCFE"/>
          </a:solidFill>
          <a:ln w="15240">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656832" y="2331720"/>
            <a:ext cx="4956048" cy="109728"/>
          </a:xfrm>
          <a:prstGeom prst="roundRect">
            <a:avLst/>
          </a:prstGeom>
          <a:solidFill>
            <a:srgbClr val="FFC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76288" y="2551176"/>
            <a:ext cx="4517136" cy="6236208"/>
          </a:xfrm>
          <a:prstGeom prst="rect">
            <a:avLst/>
          </a:prstGeom>
          <a:noFill/>
        </p:spPr>
        <p:txBody>
          <a:bodyPr wrap="square" lIns="0" rIns="0" tIns="0" bIns="0">
            <a:spAutoFit/>
          </a:bodyPr>
          <a:lstStyle/>
          <a:p>
            <a:pPr>
              <a:spcAft>
                <a:spcPts val="400"/>
              </a:spcAft>
              <a:defRPr b="1" sz="2100">
                <a:solidFill>
                  <a:srgbClr val="012036"/>
                </a:solidFill>
                <a:latin typeface="Anova Light"/>
              </a:defRPr>
            </a:pPr>
            <a:r>
              <a:t>validate_analysis_type_spec</a:t>
            </a:r>
          </a:p>
          <a:p>
            <a:pPr>
              <a:spcAft>
                <a:spcPts val="1400"/>
              </a:spcAft>
              <a:defRPr sz="1400" b="0">
                <a:solidFill>
                  <a:srgbClr val="FFCC32"/>
                </a:solidFill>
                <a:latin typeface="Anova Light"/>
              </a:defRPr>
            </a:pPr>
            <a:r>
              <a:t>Tier 13: Preflight Validation</a:t>
            </a:r>
          </a:p>
          <a:p>
            <a:pPr>
              <a:spcAft>
                <a:spcPts val="1300"/>
              </a:spcAft>
            </a:pPr>
            <a:r>
              <a:rPr b="1" sz="1450">
                <a:solidFill>
                  <a:srgbClr val="012036"/>
                </a:solidFill>
                <a:latin typeface="Anova Light"/>
              </a:rPr>
              <a:t>•  Pre-Upload Static Linter: </a:t>
            </a:r>
            <a:r>
              <a:rPr b="0" sz="1400">
                <a:solidFill>
                  <a:srgbClr val="141E2A"/>
                </a:solidFill>
                <a:latin typeface="Anova Light"/>
              </a:rPr>
              <a:t>Scans user- or agent-generated CAF packages before sending them to the Viya REST API.</a:t>
            </a:r>
          </a:p>
          <a:p>
            <a:pPr>
              <a:spcAft>
                <a:spcPts val="1300"/>
              </a:spcAft>
            </a:pPr>
            <a:r>
              <a:rPr b="1" sz="1450">
                <a:solidFill>
                  <a:srgbClr val="012036"/>
                </a:solidFill>
                <a:latin typeface="Anova Light"/>
              </a:rPr>
              <a:t>•  Token Producer Verification: </a:t>
            </a:r>
            <a:r>
              <a:rPr b="0" sz="1400">
                <a:solidFill>
                  <a:srgbClr val="141E2A"/>
                </a:solidFill>
                <a:latin typeface="Anova Light"/>
              </a:rPr>
              <a:t>Validates that every token referenced in the Visual Analytics report is produced by a parameter in input.xml.</a:t>
            </a:r>
          </a:p>
          <a:p>
            <a:pPr>
              <a:spcAft>
                <a:spcPts val="1300"/>
              </a:spcAft>
            </a:pPr>
            <a:r>
              <a:rPr b="1" sz="1450">
                <a:solidFill>
                  <a:srgbClr val="012036"/>
                </a:solidFill>
                <a:latin typeface="Anova Light"/>
              </a:rPr>
              <a:t>•  Circular Cascade Detection: </a:t>
            </a:r>
            <a:r>
              <a:rPr b="0" sz="1400">
                <a:solidFill>
                  <a:srgbClr val="141E2A"/>
                </a:solidFill>
                <a:latin typeface="Anova Light"/>
              </a:rPr>
              <a:t>Detects self-retriggering interaction loops and invalid #ctx method calls in the input layer.</a:t>
            </a:r>
          </a:p>
          <a:p>
            <a:pPr>
              <a:spcAft>
                <a:spcPts val="1300"/>
              </a:spcAft>
            </a:pPr>
            <a:r>
              <a:rPr b="1" sz="1450">
                <a:solidFill>
                  <a:srgbClr val="012036"/>
                </a:solidFill>
                <a:latin typeface="Anova Light"/>
              </a:rPr>
              <a:t>•  Actionable Error Diagnostics: </a:t>
            </a:r>
            <a:r>
              <a:rPr b="0" sz="1400">
                <a:solidFill>
                  <a:srgbClr val="141E2A"/>
                </a:solidFill>
                <a:latin typeface="Anova Light"/>
              </a:rPr>
              <a:t>Returns precise line numbers and exact remediation instructions instead of generic HTTP 500 errors.</a:t>
            </a:r>
          </a:p>
        </p:txBody>
      </p:sp>
      <p:sp>
        <p:nvSpPr>
          <p:cNvPr id="10" name="Rounded Rectangle 9"/>
          <p:cNvSpPr/>
          <p:nvPr/>
        </p:nvSpPr>
        <p:spPr>
          <a:xfrm>
            <a:off x="12051792" y="2331720"/>
            <a:ext cx="4956048" cy="6675120"/>
          </a:xfrm>
          <a:prstGeom prst="roundRect">
            <a:avLst/>
          </a:prstGeom>
          <a:solidFill>
            <a:srgbClr val="FAFCFE"/>
          </a:solidFill>
          <a:ln w="15240">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2051792" y="2331720"/>
            <a:ext cx="4956048" cy="109728"/>
          </a:xfrm>
          <a:prstGeom prst="roundRect">
            <a:avLst/>
          </a:prstGeom>
          <a:solidFill>
            <a:srgbClr val="15B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271248" y="2551176"/>
            <a:ext cx="4517136" cy="6236208"/>
          </a:xfrm>
          <a:prstGeom prst="rect">
            <a:avLst/>
          </a:prstGeom>
          <a:noFill/>
        </p:spPr>
        <p:txBody>
          <a:bodyPr wrap="square" lIns="0" rIns="0" tIns="0" bIns="0">
            <a:spAutoFit/>
          </a:bodyPr>
          <a:lstStyle/>
          <a:p>
            <a:pPr>
              <a:spcAft>
                <a:spcPts val="400"/>
              </a:spcAft>
              <a:defRPr b="1" sz="2100">
                <a:solidFill>
                  <a:srgbClr val="012036"/>
                </a:solidFill>
                <a:latin typeface="Anova Light"/>
              </a:defRPr>
            </a:pPr>
            <a:r>
              <a:t>templatize_va_report &amp; Deploy</a:t>
            </a:r>
          </a:p>
          <a:p>
            <a:pPr>
              <a:spcAft>
                <a:spcPts val="1400"/>
              </a:spcAft>
              <a:defRPr sz="1400" b="0">
                <a:solidFill>
                  <a:srgbClr val="15B57B"/>
                </a:solidFill>
                <a:latin typeface="Anova Light"/>
              </a:defRPr>
            </a:pPr>
            <a:r>
              <a:t>Tier 13: Packaging &amp; Deployment</a:t>
            </a:r>
          </a:p>
          <a:p>
            <a:pPr>
              <a:spcAft>
                <a:spcPts val="1300"/>
              </a:spcAft>
            </a:pPr>
            <a:r>
              <a:rPr b="1" sz="1450">
                <a:solidFill>
                  <a:srgbClr val="012036"/>
                </a:solidFill>
                <a:latin typeface="Anova Light"/>
              </a:rPr>
              <a:t>•  Automated BIRD Conversion: </a:t>
            </a:r>
            <a:r>
              <a:rPr b="0" sz="1400">
                <a:solidFill>
                  <a:srgbClr val="141E2A"/>
                </a:solidFill>
                <a:latin typeface="Anova Light"/>
              </a:rPr>
              <a:t>templatize_va_report reads an existing interactive report from the Viya folder service and tokenizes it automatically.</a:t>
            </a:r>
          </a:p>
          <a:p>
            <a:pPr>
              <a:spcAft>
                <a:spcPts val="1300"/>
              </a:spcAft>
            </a:pPr>
            <a:r>
              <a:rPr b="1" sz="1450">
                <a:solidFill>
                  <a:srgbClr val="012036"/>
                </a:solidFill>
                <a:latin typeface="Anova Light"/>
              </a:rPr>
              <a:t>•  CI/CD Package Assembly: </a:t>
            </a:r>
            <a:r>
              <a:rPr b="0" sz="1400">
                <a:solidFill>
                  <a:srgbClr val="141E2A"/>
                </a:solidFill>
                <a:latin typeface="Anova Light"/>
              </a:rPr>
              <a:t>build_output_contract zips the input XML, SAS code, and report template into a production-ready CAF bundle.</a:t>
            </a:r>
          </a:p>
          <a:p>
            <a:pPr>
              <a:spcAft>
                <a:spcPts val="1300"/>
              </a:spcAft>
            </a:pPr>
            <a:r>
              <a:rPr b="1" sz="1450">
                <a:solidFill>
                  <a:srgbClr val="012036"/>
                </a:solidFill>
                <a:latin typeface="Anova Light"/>
              </a:rPr>
              <a:t>•  create_analysis_type: </a:t>
            </a:r>
            <a:r>
              <a:rPr b="0" sz="1400">
                <a:solidFill>
                  <a:srgbClr val="141E2A"/>
                </a:solidFill>
                <a:latin typeface="Anova Light"/>
              </a:rPr>
              <a:t>Registers the package directly with the /iotAnalysisModels service via HTTP POST.</a:t>
            </a:r>
          </a:p>
          <a:p>
            <a:pPr>
              <a:spcAft>
                <a:spcPts val="1300"/>
              </a:spcAft>
            </a:pPr>
            <a:r>
              <a:rPr b="1" sz="1450">
                <a:solidFill>
                  <a:srgbClr val="012036"/>
                </a:solidFill>
                <a:latin typeface="Anova Light"/>
              </a:rPr>
              <a:t>•  hot-Patching with update_tool: </a:t>
            </a:r>
            <a:r>
              <a:rPr b="0" sz="1400">
                <a:solidFill>
                  <a:srgbClr val="141E2A"/>
                </a:solidFill>
                <a:latin typeface="Anova Light"/>
              </a:rPr>
              <a:t>Allows instant hot-patching of SAS algorithms or UI parameters in active production deployments.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defRPr b="1" sz="3600">
                <a:solidFill>
                  <a:srgbClr val="012036"/>
                </a:solidFill>
                <a:latin typeface="Anova Light"/>
              </a:defRPr>
            </a:pPr>
            <a:r>
              <a:t>Field Quality Analytics (FQA): Early Warning at Enterprise Scale</a:t>
            </a:r>
          </a:p>
        </p:txBody>
      </p:sp>
      <p:sp>
        <p:nvSpPr>
          <p:cNvPr id="3" name="Text Placeholder 2"/>
          <p:cNvSpPr>
            <a:spLocks noGrp="1"/>
          </p:cNvSpPr>
          <p:nvPr>
            <p:ph type="body" idx="10" sz="quarter"/>
          </p:nvPr>
        </p:nvSpPr>
        <p:spPr/>
        <p:txBody>
          <a:bodyPr wrap="square"/>
          <a:lstStyle/>
          <a:p>
            <a:pPr>
              <a:defRPr sz="1700">
                <a:solidFill>
                  <a:srgbClr val="556473"/>
                </a:solidFill>
                <a:latin typeface="Anova Light"/>
              </a:defRPr>
            </a:pPr>
            <a:r>
              <a:t>Mitigating Multi-Million-Dollar Warranty Risks in Heavy Industry, Automotive &amp; Commercial Equipment</a:t>
            </a:r>
          </a:p>
        </p:txBody>
      </p:sp>
      <p:sp>
        <p:nvSpPr>
          <p:cNvPr id="4" name="Rounded Rectangle 3"/>
          <p:cNvSpPr/>
          <p:nvPr/>
        </p:nvSpPr>
        <p:spPr>
          <a:xfrm>
            <a:off x="1261872" y="2331720"/>
            <a:ext cx="4956048" cy="6675120"/>
          </a:xfrm>
          <a:prstGeom prst="roundRect">
            <a:avLst/>
          </a:prstGeom>
          <a:solidFill>
            <a:srgbClr val="FAFCFE"/>
          </a:solidFill>
          <a:ln w="15240">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261872" y="2331720"/>
            <a:ext cx="4956048" cy="109728"/>
          </a:xfrm>
          <a:prstGeom prst="roundRect">
            <a:avLst/>
          </a:prstGeom>
          <a:solidFill>
            <a:srgbClr val="8613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481328" y="2551176"/>
            <a:ext cx="4517136" cy="6236208"/>
          </a:xfrm>
          <a:prstGeom prst="rect">
            <a:avLst/>
          </a:prstGeom>
          <a:noFill/>
        </p:spPr>
        <p:txBody>
          <a:bodyPr wrap="square" lIns="0" rIns="0" tIns="0" bIns="0">
            <a:spAutoFit/>
          </a:bodyPr>
          <a:lstStyle/>
          <a:p>
            <a:pPr>
              <a:spcAft>
                <a:spcPts val="400"/>
              </a:spcAft>
              <a:defRPr b="1" sz="2100">
                <a:solidFill>
                  <a:srgbClr val="012036"/>
                </a:solidFill>
                <a:latin typeface="Anova Light"/>
              </a:defRPr>
            </a:pPr>
            <a:r>
              <a:t>The Warranty Cost Crisis</a:t>
            </a:r>
          </a:p>
          <a:p>
            <a:pPr>
              <a:spcAft>
                <a:spcPts val="1400"/>
              </a:spcAft>
              <a:defRPr sz="1400" b="0">
                <a:solidFill>
                  <a:srgbClr val="86134F"/>
                </a:solidFill>
                <a:latin typeface="Anova Light"/>
              </a:defRPr>
            </a:pPr>
            <a:r>
              <a:t>Business Motivation</a:t>
            </a:r>
          </a:p>
          <a:p>
            <a:pPr>
              <a:spcAft>
                <a:spcPts val="1300"/>
              </a:spcAft>
            </a:pPr>
            <a:r>
              <a:rPr b="1" sz="1450">
                <a:solidFill>
                  <a:srgbClr val="012036"/>
                </a:solidFill>
                <a:latin typeface="Anova Light"/>
              </a:rPr>
              <a:t>•  Massive Financial Exposure: </a:t>
            </a:r>
            <a:r>
              <a:rPr b="0" sz="1400">
                <a:solidFill>
                  <a:srgbClr val="141E2A"/>
                </a:solidFill>
                <a:latin typeface="Anova Light"/>
              </a:rPr>
              <a:t>Warranty claims and recalls consume 2% to 4% of gross revenue for global automotive and heavy machinery OEMs.</a:t>
            </a:r>
          </a:p>
          <a:p>
            <a:pPr>
              <a:spcAft>
                <a:spcPts val="1300"/>
              </a:spcAft>
            </a:pPr>
            <a:r>
              <a:rPr b="1" sz="1450">
                <a:solidFill>
                  <a:srgbClr val="012036"/>
                </a:solidFill>
                <a:latin typeface="Anova Light"/>
              </a:rPr>
              <a:t>•  Direct Bottom-Line Loss: </a:t>
            </a:r>
            <a:r>
              <a:rPr b="0" sz="1400">
                <a:solidFill>
                  <a:srgbClr val="141E2A"/>
                </a:solidFill>
                <a:latin typeface="Anova Light"/>
              </a:rPr>
              <a:t>For a large manufacturer, a delayed recall or slow root-cause containment easily exceeds $50M to $100M in unbudgeted warranty reserves.</a:t>
            </a:r>
          </a:p>
          <a:p>
            <a:pPr>
              <a:spcAft>
                <a:spcPts val="1300"/>
              </a:spcAft>
            </a:pPr>
            <a:r>
              <a:rPr b="1" sz="1450">
                <a:solidFill>
                  <a:srgbClr val="012036"/>
                </a:solidFill>
                <a:latin typeface="Anova Light"/>
              </a:rPr>
              <a:t>•  Supplier Recovery Bottlenecks: </a:t>
            </a:r>
            <a:r>
              <a:rPr b="0" sz="1400">
                <a:solidFill>
                  <a:srgbClr val="141E2A"/>
                </a:solidFill>
                <a:latin typeface="Anova Light"/>
              </a:rPr>
              <a:t>Recovering costs from tier-1 suppliers requires indisputable statistical proof that defect spikes correlate to specific production lots.</a:t>
            </a:r>
          </a:p>
          <a:p>
            <a:pPr>
              <a:spcAft>
                <a:spcPts val="1300"/>
              </a:spcAft>
            </a:pPr>
            <a:r>
              <a:rPr b="1" sz="1450">
                <a:solidFill>
                  <a:srgbClr val="012036"/>
                </a:solidFill>
                <a:latin typeface="Anova Light"/>
              </a:rPr>
              <a:t>•  Regulatory &amp; Safety Stakes: </a:t>
            </a:r>
            <a:r>
              <a:rPr b="0" sz="1400">
                <a:solidFill>
                  <a:srgbClr val="141E2A"/>
                </a:solidFill>
                <a:latin typeface="Anova Light"/>
              </a:rPr>
              <a:t>Late detection of critical brake, steering, or thermal issues risks regulatory fines and catastrophic safety events.</a:t>
            </a:r>
          </a:p>
        </p:txBody>
      </p:sp>
      <p:sp>
        <p:nvSpPr>
          <p:cNvPr id="7" name="Rounded Rectangle 6"/>
          <p:cNvSpPr/>
          <p:nvPr/>
        </p:nvSpPr>
        <p:spPr>
          <a:xfrm>
            <a:off x="6656832" y="2331720"/>
            <a:ext cx="4956048" cy="6675120"/>
          </a:xfrm>
          <a:prstGeom prst="roundRect">
            <a:avLst/>
          </a:prstGeom>
          <a:solidFill>
            <a:srgbClr val="FAFCFE"/>
          </a:solidFill>
          <a:ln w="15240">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656832" y="2331720"/>
            <a:ext cx="4956048" cy="109728"/>
          </a:xfrm>
          <a:prstGeom prst="roundRect">
            <a:avLst/>
          </a:prstGeom>
          <a:solidFill>
            <a:srgbClr val="FFC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76288" y="2551176"/>
            <a:ext cx="4517136" cy="6236208"/>
          </a:xfrm>
          <a:prstGeom prst="rect">
            <a:avLst/>
          </a:prstGeom>
          <a:noFill/>
        </p:spPr>
        <p:txBody>
          <a:bodyPr wrap="square" lIns="0" rIns="0" tIns="0" bIns="0">
            <a:spAutoFit/>
          </a:bodyPr>
          <a:lstStyle/>
          <a:p>
            <a:pPr>
              <a:spcAft>
                <a:spcPts val="400"/>
              </a:spcAft>
              <a:defRPr b="1" sz="2100">
                <a:solidFill>
                  <a:srgbClr val="012036"/>
                </a:solidFill>
                <a:latin typeface="Anova Light"/>
              </a:defRPr>
            </a:pPr>
            <a:r>
              <a:t>The Analytical Firehose</a:t>
            </a:r>
          </a:p>
          <a:p>
            <a:pPr>
              <a:spcAft>
                <a:spcPts val="1400"/>
              </a:spcAft>
              <a:defRPr sz="1400" b="0">
                <a:solidFill>
                  <a:srgbClr val="FFCC32"/>
                </a:solidFill>
                <a:latin typeface="Anova Light"/>
              </a:defRPr>
            </a:pPr>
            <a:r>
              <a:t>The Operational Bottleneck</a:t>
            </a:r>
          </a:p>
          <a:p>
            <a:pPr>
              <a:spcAft>
                <a:spcPts val="1300"/>
              </a:spcAft>
            </a:pPr>
            <a:r>
              <a:rPr b="1" sz="1450">
                <a:solidFill>
                  <a:srgbClr val="012036"/>
                </a:solidFill>
                <a:latin typeface="Anova Light"/>
              </a:rPr>
              <a:t>•  Millions of Claims: </a:t>
            </a:r>
            <a:r>
              <a:rPr b="0" sz="1400">
                <a:solidFill>
                  <a:srgbClr val="141E2A"/>
                </a:solidFill>
                <a:latin typeface="Anova Light"/>
              </a:rPr>
              <a:t>Quality teams are overwhelmed by hundreds of thousands of monthly warranty records spanning multiple vehicle series and geographies.</a:t>
            </a:r>
          </a:p>
          <a:p>
            <a:pPr>
              <a:spcAft>
                <a:spcPts val="1300"/>
              </a:spcAft>
            </a:pPr>
            <a:r>
              <a:rPr b="1" sz="1450">
                <a:solidFill>
                  <a:srgbClr val="012036"/>
                </a:solidFill>
                <a:latin typeface="Anova Light"/>
              </a:rPr>
              <a:t>•  Noisy Diagnostic Codes: </a:t>
            </a:r>
            <a:r>
              <a:rPr b="0" sz="1400">
                <a:solidFill>
                  <a:srgbClr val="141E2A"/>
                </a:solidFill>
                <a:latin typeface="Anova Light"/>
              </a:rPr>
              <a:t>Technicians submit inconsistent DTCs, overlapping labor codes, and varied part numbers for the identical mechanical failure.</a:t>
            </a:r>
          </a:p>
          <a:p>
            <a:pPr>
              <a:spcAft>
                <a:spcPts val="1300"/>
              </a:spcAft>
            </a:pPr>
            <a:r>
              <a:rPr b="1" sz="1450">
                <a:solidFill>
                  <a:srgbClr val="012036"/>
                </a:solidFill>
                <a:latin typeface="Anova Light"/>
              </a:rPr>
              <a:t>•  Reporting Lag &amp; Censoring: </a:t>
            </a:r>
            <a:r>
              <a:rPr b="0" sz="1400">
                <a:solidFill>
                  <a:srgbClr val="141E2A"/>
                </a:solidFill>
                <a:latin typeface="Anova Light"/>
              </a:rPr>
              <a:t>Claims take 30 to 90 days to filter from dealerships into the data lake, disguising emerging defects as healthy cohorts.</a:t>
            </a:r>
          </a:p>
          <a:p>
            <a:pPr>
              <a:spcAft>
                <a:spcPts val="1300"/>
              </a:spcAft>
            </a:pPr>
            <a:r>
              <a:rPr b="1" sz="1450">
                <a:solidFill>
                  <a:srgbClr val="012036"/>
                </a:solidFill>
                <a:latin typeface="Anova Light"/>
              </a:rPr>
              <a:t>•  Analyst Fatigue: </a:t>
            </a:r>
            <a:r>
              <a:rPr b="0" sz="1400">
                <a:solidFill>
                  <a:srgbClr val="141E2A"/>
                </a:solidFill>
                <a:latin typeface="Anova Light"/>
              </a:rPr>
              <a:t>Engineers spend 80% of their workday building repetitive data selections and filtering out false alarms instead of investigating root causes.</a:t>
            </a:r>
          </a:p>
        </p:txBody>
      </p:sp>
      <p:sp>
        <p:nvSpPr>
          <p:cNvPr id="10" name="Rounded Rectangle 9"/>
          <p:cNvSpPr/>
          <p:nvPr/>
        </p:nvSpPr>
        <p:spPr>
          <a:xfrm>
            <a:off x="12051792" y="2331720"/>
            <a:ext cx="4956048" cy="6675120"/>
          </a:xfrm>
          <a:prstGeom prst="roundRect">
            <a:avLst/>
          </a:prstGeom>
          <a:solidFill>
            <a:srgbClr val="FAFCFE"/>
          </a:solidFill>
          <a:ln w="15240">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2051792" y="2331720"/>
            <a:ext cx="4956048" cy="109728"/>
          </a:xfrm>
          <a:prstGeom prst="roundRect">
            <a:avLst/>
          </a:prstGeom>
          <a:solidFill>
            <a:srgbClr val="33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271248" y="2551176"/>
            <a:ext cx="4517136" cy="6236208"/>
          </a:xfrm>
          <a:prstGeom prst="rect">
            <a:avLst/>
          </a:prstGeom>
          <a:noFill/>
        </p:spPr>
        <p:txBody>
          <a:bodyPr wrap="square" lIns="0" rIns="0" tIns="0" bIns="0">
            <a:spAutoFit/>
          </a:bodyPr>
          <a:lstStyle/>
          <a:p>
            <a:pPr>
              <a:spcAft>
                <a:spcPts val="400"/>
              </a:spcAft>
              <a:defRPr b="1" sz="2100">
                <a:solidFill>
                  <a:srgbClr val="012036"/>
                </a:solidFill>
                <a:latin typeface="Anova Light"/>
              </a:defRPr>
            </a:pPr>
            <a:r>
              <a:t>The Autonomous FQA Agent</a:t>
            </a:r>
          </a:p>
          <a:p>
            <a:pPr>
              <a:spcAft>
                <a:spcPts val="1400"/>
              </a:spcAft>
              <a:defRPr sz="1400" b="0">
                <a:solidFill>
                  <a:srgbClr val="33A3FF"/>
                </a:solidFill>
                <a:latin typeface="Anova Light"/>
              </a:defRPr>
            </a:pPr>
            <a:r>
              <a:t>The Agent-Driven Solution</a:t>
            </a:r>
          </a:p>
          <a:p>
            <a:pPr>
              <a:spcAft>
                <a:spcPts val="1300"/>
              </a:spcAft>
            </a:pPr>
            <a:r>
              <a:rPr b="1" sz="1450">
                <a:solidFill>
                  <a:srgbClr val="012036"/>
                </a:solidFill>
                <a:latin typeface="Anova Light"/>
              </a:rPr>
              <a:t>•  Automated Alert Triage: </a:t>
            </a:r>
            <a:r>
              <a:rPr b="0" sz="1400">
                <a:solidFill>
                  <a:srgbClr val="141E2A"/>
                </a:solidFill>
                <a:latin typeface="Anova Light"/>
              </a:rPr>
              <a:t>Scans Emerging Issues runs continuously, detecting statistically significant production-period and event-month spikes.</a:t>
            </a:r>
          </a:p>
          <a:p>
            <a:pPr>
              <a:spcAft>
                <a:spcPts val="1300"/>
              </a:spcAft>
            </a:pPr>
            <a:r>
              <a:rPr b="1" sz="1450">
                <a:solidFill>
                  <a:srgbClr val="012036"/>
                </a:solidFill>
                <a:latin typeface="Anova Light"/>
              </a:rPr>
              <a:t>•  Senior Engineer Heuristics: </a:t>
            </a:r>
            <a:r>
              <a:rPr b="0" sz="1400">
                <a:solidFill>
                  <a:srgbClr val="141E2A"/>
                </a:solidFill>
                <a:latin typeface="Anova Light"/>
              </a:rPr>
              <a:t>Encapsulates decades of reliability engineering expertise into a systematic 4-phase investigation playbook.</a:t>
            </a:r>
          </a:p>
          <a:p>
            <a:pPr>
              <a:spcAft>
                <a:spcPts val="1300"/>
              </a:spcAft>
            </a:pPr>
            <a:r>
              <a:rPr b="1" sz="1450">
                <a:solidFill>
                  <a:srgbClr val="012036"/>
                </a:solidFill>
                <a:latin typeface="Anova Light"/>
              </a:rPr>
              <a:t>•  Rapid Root Cause Isolation: </a:t>
            </a:r>
            <a:r>
              <a:rPr b="0" sz="1400">
                <a:solidFill>
                  <a:srgbClr val="141E2A"/>
                </a:solidFill>
                <a:latin typeface="Anova Light"/>
              </a:rPr>
              <a:t>Executes Pareto, Exposure, Weibull, and Decision Tree analyses to isolate responsible component lots within minutes.</a:t>
            </a:r>
          </a:p>
          <a:p>
            <a:pPr>
              <a:spcAft>
                <a:spcPts val="1300"/>
              </a:spcAft>
            </a:pPr>
            <a:r>
              <a:rPr b="1" sz="1450">
                <a:solidFill>
                  <a:srgbClr val="012036"/>
                </a:solidFill>
                <a:latin typeface="Anova Light"/>
              </a:rPr>
              <a:t>•  Verified Audit Trail: </a:t>
            </a:r>
            <a:r>
              <a:rPr b="0" sz="1400">
                <a:solidFill>
                  <a:srgbClr val="141E2A"/>
                </a:solidFill>
                <a:latin typeface="Anova Light"/>
              </a:rPr>
              <a:t>Generates executive-ready technical briefs complete with verified statistics and supplier containment boundaries.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defRPr b="1" sz="3600">
                <a:solidFill>
                  <a:srgbClr val="012036"/>
                </a:solidFill>
                <a:latin typeface="Anova Light"/>
              </a:defRPr>
            </a:pPr>
            <a:r>
              <a:t>FQA Guided Investigation Funnel: From Alert to Root Cause</a:t>
            </a:r>
          </a:p>
        </p:txBody>
      </p:sp>
      <p:sp>
        <p:nvSpPr>
          <p:cNvPr id="3" name="Text Placeholder 2"/>
          <p:cNvSpPr>
            <a:spLocks noGrp="1"/>
          </p:cNvSpPr>
          <p:nvPr>
            <p:ph type="body" idx="10" sz="quarter"/>
          </p:nvPr>
        </p:nvSpPr>
        <p:spPr/>
        <p:txBody>
          <a:bodyPr wrap="square"/>
          <a:lstStyle/>
          <a:p>
            <a:pPr>
              <a:defRPr sz="1700">
                <a:solidFill>
                  <a:srgbClr val="556473"/>
                </a:solidFill>
                <a:latin typeface="Anova Light"/>
              </a:defRPr>
            </a:pPr>
            <a:r>
              <a:t>Codified Senior Reliability Engineering Heuristics Enforced by the FQA Agent Skill</a:t>
            </a:r>
          </a:p>
        </p:txBody>
      </p:sp>
      <p:sp>
        <p:nvSpPr>
          <p:cNvPr id="4" name="Rounded Rectangle 3"/>
          <p:cNvSpPr/>
          <p:nvPr/>
        </p:nvSpPr>
        <p:spPr>
          <a:xfrm>
            <a:off x="914400" y="2331720"/>
            <a:ext cx="3840480" cy="6675120"/>
          </a:xfrm>
          <a:prstGeom prst="roundRect">
            <a:avLst/>
          </a:prstGeom>
          <a:solidFill>
            <a:srgbClr val="FAFCFE"/>
          </a:solidFill>
          <a:ln w="15240">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2331720"/>
            <a:ext cx="3840480" cy="109728"/>
          </a:xfrm>
          <a:prstGeom prst="roundRect">
            <a:avLst/>
          </a:prstGeom>
          <a:solidFill>
            <a:srgbClr val="33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2514600"/>
            <a:ext cx="3474720" cy="6309360"/>
          </a:xfrm>
          <a:prstGeom prst="rect">
            <a:avLst/>
          </a:prstGeom>
          <a:noFill/>
        </p:spPr>
        <p:txBody>
          <a:bodyPr wrap="square" lIns="0" rIns="0" tIns="0" bIns="0">
            <a:spAutoFit/>
          </a:bodyPr>
          <a:lstStyle/>
          <a:p>
            <a:pPr>
              <a:spcAft>
                <a:spcPts val="400"/>
              </a:spcAft>
              <a:defRPr b="1" sz="1850">
                <a:solidFill>
                  <a:srgbClr val="012036"/>
                </a:solidFill>
                <a:latin typeface="Anova Light"/>
              </a:defRPr>
            </a:pPr>
            <a:r>
              <a:t>Phase 0: Triage</a:t>
            </a:r>
          </a:p>
          <a:p>
            <a:pPr>
              <a:spcAft>
                <a:spcPts val="1100"/>
              </a:spcAft>
              <a:defRPr sz="1300" b="0">
                <a:solidFill>
                  <a:srgbClr val="33A3FF"/>
                </a:solidFill>
                <a:latin typeface="Anova Light"/>
              </a:defRPr>
            </a:pPr>
            <a:r>
              <a:t>Filter the Noise</a:t>
            </a:r>
          </a:p>
          <a:p>
            <a:pPr>
              <a:spcAft>
                <a:spcPts val="900"/>
              </a:spcAft>
            </a:pPr>
            <a:r>
              <a:rPr b="1" sz="1350">
                <a:solidFill>
                  <a:srgbClr val="012036"/>
                </a:solidFill>
                <a:latin typeface="Anova Light"/>
              </a:rPr>
              <a:t>•  Alert Grid Screening: </a:t>
            </a:r>
            <a:r>
              <a:rPr b="0" sz="1300">
                <a:solidFill>
                  <a:srgbClr val="141E2A"/>
                </a:solidFill>
                <a:latin typeface="Anova Light"/>
              </a:rPr>
              <a:t>Evaluates Emerging Issues runs across build-month and event-month matrices.</a:t>
            </a:r>
          </a:p>
          <a:p>
            <a:pPr>
              <a:spcAft>
                <a:spcPts val="900"/>
              </a:spcAft>
            </a:pPr>
            <a:r>
              <a:rPr b="1" sz="1350">
                <a:solidFill>
                  <a:srgbClr val="012036"/>
                </a:solidFill>
                <a:latin typeface="Anova Light"/>
              </a:rPr>
              <a:t>•  Cluster Detection: </a:t>
            </a:r>
            <a:r>
              <a:rPr b="0" sz="1300">
                <a:solidFill>
                  <a:srgbClr val="141E2A"/>
                </a:solidFill>
                <a:latin typeface="Anova Light"/>
              </a:rPr>
              <a:t>Identifies diagonal (calendar-time) vs. horizontal (build-period defect) failure signatures.</a:t>
            </a:r>
          </a:p>
          <a:p>
            <a:pPr>
              <a:spcAft>
                <a:spcPts val="900"/>
              </a:spcAft>
            </a:pPr>
            <a:r>
              <a:rPr b="1" sz="1350">
                <a:solidFill>
                  <a:srgbClr val="012036"/>
                </a:solidFill>
                <a:latin typeface="Anova Light"/>
              </a:rPr>
              <a:t>•  Priority Ranking: </a:t>
            </a:r>
            <a:r>
              <a:rPr b="0" sz="1300">
                <a:solidFill>
                  <a:srgbClr val="141E2A"/>
                </a:solidFill>
                <a:latin typeface="Anova Light"/>
              </a:rPr>
              <a:t>Ranks alerts by unit volume, excess claim rate, and growth velocity to surface high-risk issues.</a:t>
            </a:r>
          </a:p>
        </p:txBody>
      </p:sp>
      <p:sp>
        <p:nvSpPr>
          <p:cNvPr id="7" name="Rounded Rectangle 6"/>
          <p:cNvSpPr/>
          <p:nvPr/>
        </p:nvSpPr>
        <p:spPr>
          <a:xfrm>
            <a:off x="5120640" y="2331720"/>
            <a:ext cx="3840480" cy="6675120"/>
          </a:xfrm>
          <a:prstGeom prst="roundRect">
            <a:avLst/>
          </a:prstGeom>
          <a:solidFill>
            <a:srgbClr val="FAFCFE"/>
          </a:solidFill>
          <a:ln w="15240">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120640" y="2331720"/>
            <a:ext cx="3840480" cy="109728"/>
          </a:xfrm>
          <a:prstGeom prst="roundRect">
            <a:avLst/>
          </a:prstGeom>
          <a:solidFill>
            <a:srgbClr val="29D6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303520" y="2514600"/>
            <a:ext cx="3474720" cy="6309360"/>
          </a:xfrm>
          <a:prstGeom prst="rect">
            <a:avLst/>
          </a:prstGeom>
          <a:noFill/>
        </p:spPr>
        <p:txBody>
          <a:bodyPr wrap="square" lIns="0" rIns="0" tIns="0" bIns="0">
            <a:spAutoFit/>
          </a:bodyPr>
          <a:lstStyle/>
          <a:p>
            <a:pPr>
              <a:spcAft>
                <a:spcPts val="400"/>
              </a:spcAft>
              <a:defRPr b="1" sz="1850">
                <a:solidFill>
                  <a:srgbClr val="012036"/>
                </a:solidFill>
                <a:latin typeface="Anova Light"/>
              </a:defRPr>
            </a:pPr>
            <a:r>
              <a:t>Phase 1: Descriptive</a:t>
            </a:r>
          </a:p>
          <a:p>
            <a:pPr>
              <a:spcAft>
                <a:spcPts val="1100"/>
              </a:spcAft>
              <a:defRPr sz="1300" b="0">
                <a:solidFill>
                  <a:srgbClr val="29D6CD"/>
                </a:solidFill>
                <a:latin typeface="Anova Light"/>
              </a:defRPr>
            </a:pPr>
            <a:r>
              <a:t>Where &amp; What</a:t>
            </a:r>
          </a:p>
          <a:p>
            <a:pPr>
              <a:spcAft>
                <a:spcPts val="900"/>
              </a:spcAft>
            </a:pPr>
            <a:r>
              <a:rPr b="1" sz="1350">
                <a:solidFill>
                  <a:srgbClr val="012036"/>
                </a:solidFill>
                <a:latin typeface="Anova Light"/>
              </a:rPr>
              <a:t>•  Pareto Analysis: </a:t>
            </a:r>
            <a:r>
              <a:rPr b="0" sz="1300">
                <a:solidFill>
                  <a:srgbClr val="141E2A"/>
                </a:solidFill>
                <a:latin typeface="Anova Light"/>
              </a:rPr>
              <a:t>Ranks top labor operation codes and replaced part numbers to identify the failing sub-assembly.</a:t>
            </a:r>
          </a:p>
          <a:p>
            <a:pPr>
              <a:spcAft>
                <a:spcPts val="900"/>
              </a:spcAft>
            </a:pPr>
            <a:r>
              <a:rPr b="1" sz="1350">
                <a:solidFill>
                  <a:srgbClr val="012036"/>
                </a:solidFill>
                <a:latin typeface="Anova Light"/>
              </a:rPr>
              <a:t>•  Summary Tables: </a:t>
            </a:r>
            <a:r>
              <a:rPr b="0" sz="1300">
                <a:solidFill>
                  <a:srgbClr val="141E2A"/>
                </a:solidFill>
                <a:latin typeface="Anova Light"/>
              </a:rPr>
              <a:t>Cross-tabulates failure rates across vehicle chassis, engine types, and assembly plants.</a:t>
            </a:r>
          </a:p>
          <a:p>
            <a:pPr>
              <a:spcAft>
                <a:spcPts val="900"/>
              </a:spcAft>
            </a:pPr>
            <a:r>
              <a:rPr b="1" sz="1350">
                <a:solidFill>
                  <a:srgbClr val="012036"/>
                </a:solidFill>
                <a:latin typeface="Anova Light"/>
              </a:rPr>
              <a:t>•  Geographic Heatmaps: </a:t>
            </a:r>
            <a:r>
              <a:rPr b="0" sz="1300">
                <a:solidFill>
                  <a:srgbClr val="141E2A"/>
                </a:solidFill>
                <a:latin typeface="Anova Light"/>
              </a:rPr>
              <a:t>Detects regional clustering to determine if climate, terrain, or fuel quality contributes to failure.</a:t>
            </a:r>
          </a:p>
        </p:txBody>
      </p:sp>
      <p:sp>
        <p:nvSpPr>
          <p:cNvPr id="10" name="Rounded Rectangle 9"/>
          <p:cNvSpPr/>
          <p:nvPr/>
        </p:nvSpPr>
        <p:spPr>
          <a:xfrm>
            <a:off x="9326880" y="2331720"/>
            <a:ext cx="3840480" cy="6675120"/>
          </a:xfrm>
          <a:prstGeom prst="roundRect">
            <a:avLst/>
          </a:prstGeom>
          <a:solidFill>
            <a:srgbClr val="FAFCFE"/>
          </a:solidFill>
          <a:ln w="15240">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9326880" y="2331720"/>
            <a:ext cx="3840480" cy="109728"/>
          </a:xfrm>
          <a:prstGeom prst="roundRect">
            <a:avLst/>
          </a:prstGeom>
          <a:solidFill>
            <a:srgbClr val="FFC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509760" y="2514600"/>
            <a:ext cx="3474720" cy="6309360"/>
          </a:xfrm>
          <a:prstGeom prst="rect">
            <a:avLst/>
          </a:prstGeom>
          <a:noFill/>
        </p:spPr>
        <p:txBody>
          <a:bodyPr wrap="square" lIns="0" rIns="0" tIns="0" bIns="0">
            <a:spAutoFit/>
          </a:bodyPr>
          <a:lstStyle/>
          <a:p>
            <a:pPr>
              <a:spcAft>
                <a:spcPts val="400"/>
              </a:spcAft>
              <a:defRPr b="1" sz="1850">
                <a:solidFill>
                  <a:srgbClr val="012036"/>
                </a:solidFill>
                <a:latin typeface="Anova Light"/>
              </a:defRPr>
            </a:pPr>
            <a:r>
              <a:t>Phase 4: Normalization</a:t>
            </a:r>
          </a:p>
          <a:p>
            <a:pPr>
              <a:spcAft>
                <a:spcPts val="1100"/>
              </a:spcAft>
              <a:defRPr sz="1300" b="0">
                <a:solidFill>
                  <a:srgbClr val="FFCC32"/>
                </a:solidFill>
                <a:latin typeface="Anova Light"/>
              </a:defRPr>
            </a:pPr>
            <a:r>
              <a:t>Normalize Early!</a:t>
            </a:r>
          </a:p>
          <a:p>
            <a:pPr>
              <a:spcAft>
                <a:spcPts val="900"/>
              </a:spcAft>
            </a:pPr>
            <a:r>
              <a:rPr b="1" sz="1350">
                <a:solidFill>
                  <a:srgbClr val="012036"/>
                </a:solidFill>
                <a:latin typeface="Anova Light"/>
              </a:rPr>
              <a:t>•  Exposure Adjustment: </a:t>
            </a:r>
            <a:r>
              <a:rPr b="0" sz="1300">
                <a:solidFill>
                  <a:srgbClr val="141E2A"/>
                </a:solidFill>
                <a:latin typeface="Anova Light"/>
              </a:rPr>
              <a:t>Normalizes claim rates by Time in Service (TIS) at 30, 60, and 90-day intervals, eliminating mileage bias.</a:t>
            </a:r>
          </a:p>
          <a:p>
            <a:pPr>
              <a:spcAft>
                <a:spcPts val="900"/>
              </a:spcAft>
            </a:pPr>
            <a:r>
              <a:rPr b="1" sz="1350">
                <a:solidFill>
                  <a:srgbClr val="012036"/>
                </a:solidFill>
                <a:latin typeface="Anova Light"/>
              </a:rPr>
              <a:t>•  Weibull Shape Beta: </a:t>
            </a:r>
            <a:r>
              <a:rPr b="0" sz="1300">
                <a:solidFill>
                  <a:srgbClr val="141E2A"/>
                </a:solidFill>
                <a:latin typeface="Anova Light"/>
              </a:rPr>
              <a:t>Calculates β: β &lt; 1 indicates infant mortality (manufacturing defect); β &gt; 1 indicates wear-out.</a:t>
            </a:r>
          </a:p>
          <a:p>
            <a:pPr>
              <a:spcAft>
                <a:spcPts val="900"/>
              </a:spcAft>
            </a:pPr>
            <a:r>
              <a:rPr b="1" sz="1350">
                <a:solidFill>
                  <a:srgbClr val="012036"/>
                </a:solidFill>
                <a:latin typeface="Anova Light"/>
              </a:rPr>
              <a:t>•  Build Period Cutoff: </a:t>
            </a:r>
            <a:r>
              <a:rPr b="0" sz="1300">
                <a:solidFill>
                  <a:srgbClr val="141E2A"/>
                </a:solidFill>
                <a:latin typeface="Anova Light"/>
              </a:rPr>
              <a:t>Determines exact production start date where the failure rate diverged from baseline.</a:t>
            </a:r>
          </a:p>
        </p:txBody>
      </p:sp>
      <p:sp>
        <p:nvSpPr>
          <p:cNvPr id="13" name="Rounded Rectangle 12"/>
          <p:cNvSpPr/>
          <p:nvPr/>
        </p:nvSpPr>
        <p:spPr>
          <a:xfrm>
            <a:off x="13533120" y="2331720"/>
            <a:ext cx="3840480" cy="6675120"/>
          </a:xfrm>
          <a:prstGeom prst="roundRect">
            <a:avLst/>
          </a:prstGeom>
          <a:solidFill>
            <a:srgbClr val="FAFCFE"/>
          </a:solidFill>
          <a:ln w="15240">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13533120" y="2331720"/>
            <a:ext cx="3840480" cy="109728"/>
          </a:xfrm>
          <a:prstGeom prst="roundRect">
            <a:avLst/>
          </a:prstGeom>
          <a:solidFill>
            <a:srgbClr val="15B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3716000" y="2514600"/>
            <a:ext cx="3474720" cy="6309360"/>
          </a:xfrm>
          <a:prstGeom prst="rect">
            <a:avLst/>
          </a:prstGeom>
          <a:noFill/>
        </p:spPr>
        <p:txBody>
          <a:bodyPr wrap="square" lIns="0" rIns="0" tIns="0" bIns="0">
            <a:spAutoFit/>
          </a:bodyPr>
          <a:lstStyle/>
          <a:p>
            <a:pPr>
              <a:spcAft>
                <a:spcPts val="400"/>
              </a:spcAft>
              <a:defRPr b="1" sz="1850">
                <a:solidFill>
                  <a:srgbClr val="012036"/>
                </a:solidFill>
                <a:latin typeface="Anova Light"/>
              </a:defRPr>
            </a:pPr>
            <a:r>
              <a:t>Phase 2: Segmentation</a:t>
            </a:r>
          </a:p>
          <a:p>
            <a:pPr>
              <a:spcAft>
                <a:spcPts val="1100"/>
              </a:spcAft>
              <a:defRPr sz="1300" b="0">
                <a:solidFill>
                  <a:srgbClr val="15B57B"/>
                </a:solidFill>
                <a:latin typeface="Anova Light"/>
              </a:defRPr>
            </a:pPr>
            <a:r>
              <a:t>Isolate Root Cause</a:t>
            </a:r>
          </a:p>
          <a:p>
            <a:pPr>
              <a:spcAft>
                <a:spcPts val="900"/>
              </a:spcAft>
            </a:pPr>
            <a:r>
              <a:rPr b="1" sz="1350">
                <a:solidFill>
                  <a:srgbClr val="012036"/>
                </a:solidFill>
                <a:latin typeface="Anova Light"/>
              </a:rPr>
              <a:t>•  Statistical Drivers: </a:t>
            </a:r>
            <a:r>
              <a:rPr b="0" sz="1300">
                <a:solidFill>
                  <a:srgbClr val="141E2A"/>
                </a:solidFill>
                <a:latin typeface="Anova Light"/>
              </a:rPr>
              <a:t>Identifies variables that exhibit statistically significant divergence between failed and healthy units.</a:t>
            </a:r>
          </a:p>
          <a:p>
            <a:pPr>
              <a:spcAft>
                <a:spcPts val="900"/>
              </a:spcAft>
            </a:pPr>
            <a:r>
              <a:rPr b="1" sz="1350">
                <a:solidFill>
                  <a:srgbClr val="012036"/>
                </a:solidFill>
                <a:latin typeface="Anova Light"/>
              </a:rPr>
              <a:t>•  Decision Tree Splits: </a:t>
            </a:r>
            <a:r>
              <a:rPr b="0" sz="1300">
                <a:solidFill>
                  <a:srgbClr val="141E2A"/>
                </a:solidFill>
                <a:latin typeface="Anova Light"/>
              </a:rPr>
              <a:t>Generates high-purity cohort splits (e.g., Supplier Lot X + Plant Y + Software Version Z).</a:t>
            </a:r>
          </a:p>
          <a:p>
            <a:pPr>
              <a:spcAft>
                <a:spcPts val="900"/>
              </a:spcAft>
            </a:pPr>
            <a:r>
              <a:rPr b="1" sz="1350">
                <a:solidFill>
                  <a:srgbClr val="012036"/>
                </a:solidFill>
                <a:latin typeface="Anova Light"/>
              </a:rPr>
              <a:t>•  Containment Package: </a:t>
            </a:r>
            <a:r>
              <a:rPr b="0" sz="1300">
                <a:solidFill>
                  <a:srgbClr val="141E2A"/>
                </a:solidFill>
                <a:latin typeface="Anova Light"/>
              </a:rPr>
              <a:t>Outputs exact VIN boundary lists for immediate manufacturing quarantine and supplier chargeback.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defRPr b="1" sz="3600">
                <a:solidFill>
                  <a:srgbClr val="012036"/>
                </a:solidFill>
                <a:latin typeface="Anova Light"/>
              </a:defRPr>
            </a:pPr>
            <a:r>
              <a:t>CPG Hierarchical Forecasting: Beyond GUI Model Studio</a:t>
            </a:r>
          </a:p>
        </p:txBody>
      </p:sp>
      <p:sp>
        <p:nvSpPr>
          <p:cNvPr id="3" name="Text Placeholder 2"/>
          <p:cNvSpPr>
            <a:spLocks noGrp="1"/>
          </p:cNvSpPr>
          <p:nvPr>
            <p:ph type="body" idx="10" sz="quarter"/>
          </p:nvPr>
        </p:nvSpPr>
        <p:spPr/>
        <p:txBody>
          <a:bodyPr wrap="square"/>
          <a:lstStyle/>
          <a:p>
            <a:pPr>
              <a:defRPr sz="1700">
                <a:solidFill>
                  <a:srgbClr val="556473"/>
                </a:solidFill>
                <a:latin typeface="Anova Light"/>
              </a:defRPr>
            </a:pPr>
            <a:r>
              <a:t>Distributed Hybrid Tournament Pitting SAS Visual Forecasting Against Modern Open-Source Stacks</a:t>
            </a:r>
          </a:p>
        </p:txBody>
      </p:sp>
      <p:sp>
        <p:nvSpPr>
          <p:cNvPr id="4" name="Rounded Rectangle 3"/>
          <p:cNvSpPr/>
          <p:nvPr/>
        </p:nvSpPr>
        <p:spPr>
          <a:xfrm>
            <a:off x="1261872" y="2331720"/>
            <a:ext cx="4956048" cy="6675120"/>
          </a:xfrm>
          <a:prstGeom prst="roundRect">
            <a:avLst/>
          </a:prstGeom>
          <a:solidFill>
            <a:srgbClr val="FAFCFE"/>
          </a:solidFill>
          <a:ln w="15240">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261872" y="2331720"/>
            <a:ext cx="4956048" cy="109728"/>
          </a:xfrm>
          <a:prstGeom prst="roundRect">
            <a:avLst/>
          </a:prstGeom>
          <a:solidFill>
            <a:srgbClr val="33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481328" y="2551176"/>
            <a:ext cx="4517136" cy="6236208"/>
          </a:xfrm>
          <a:prstGeom prst="rect">
            <a:avLst/>
          </a:prstGeom>
          <a:noFill/>
        </p:spPr>
        <p:txBody>
          <a:bodyPr wrap="square" lIns="0" rIns="0" tIns="0" bIns="0">
            <a:spAutoFit/>
          </a:bodyPr>
          <a:lstStyle/>
          <a:p>
            <a:pPr>
              <a:spcAft>
                <a:spcPts val="400"/>
              </a:spcAft>
              <a:defRPr b="1" sz="2100">
                <a:solidFill>
                  <a:srgbClr val="012036"/>
                </a:solidFill>
                <a:latin typeface="Anova Light"/>
              </a:defRPr>
            </a:pPr>
            <a:r>
              <a:t>The Enterprise Forecasting Challenge</a:t>
            </a:r>
          </a:p>
          <a:p>
            <a:pPr>
              <a:spcAft>
                <a:spcPts val="1400"/>
              </a:spcAft>
              <a:defRPr sz="1400" b="0">
                <a:solidFill>
                  <a:srgbClr val="33A3FF"/>
                </a:solidFill>
                <a:latin typeface="Anova Light"/>
              </a:defRPr>
            </a:pPr>
            <a:r>
              <a:t>Retail Scale &amp; Complexity</a:t>
            </a:r>
          </a:p>
          <a:p>
            <a:pPr>
              <a:spcAft>
                <a:spcPts val="1300"/>
              </a:spcAft>
            </a:pPr>
            <a:r>
              <a:rPr b="1" sz="1450">
                <a:solidFill>
                  <a:srgbClr val="012036"/>
                </a:solidFill>
                <a:latin typeface="Anova Light"/>
              </a:rPr>
              <a:t>•  Walmart M5 Dataset: </a:t>
            </a:r>
            <a:r>
              <a:rPr b="0" sz="1400">
                <a:solidFill>
                  <a:srgbClr val="141E2A"/>
                </a:solidFill>
                <a:latin typeface="Anova Light"/>
              </a:rPr>
              <a:t>Forecasting retail hierarchies: thousands of items nested within departments, categories, stores, and states.</a:t>
            </a:r>
          </a:p>
          <a:p>
            <a:pPr>
              <a:spcAft>
                <a:spcPts val="1300"/>
              </a:spcAft>
            </a:pPr>
            <a:r>
              <a:rPr b="1" sz="1450">
                <a:solidFill>
                  <a:srgbClr val="012036"/>
                </a:solidFill>
                <a:latin typeface="Anova Light"/>
              </a:rPr>
              <a:t>•  Intermittent &amp; Lumpy Demand: </a:t>
            </a:r>
            <a:r>
              <a:rPr b="0" sz="1400">
                <a:solidFill>
                  <a:srgbClr val="141E2A"/>
                </a:solidFill>
                <a:latin typeface="Anova Light"/>
              </a:rPr>
              <a:t>High prevalence of zero-demand periods requiring Syntetos-Boylan intermittency categorization (ADI/CV²).</a:t>
            </a:r>
          </a:p>
          <a:p>
            <a:pPr>
              <a:spcAft>
                <a:spcPts val="1300"/>
              </a:spcAft>
            </a:pPr>
            <a:r>
              <a:rPr b="1" sz="1450">
                <a:solidFill>
                  <a:srgbClr val="012036"/>
                </a:solidFill>
                <a:latin typeface="Anova Light"/>
              </a:rPr>
              <a:t>•  Multi-Level Coherence: </a:t>
            </a:r>
            <a:r>
              <a:rPr b="0" sz="1400">
                <a:solidFill>
                  <a:srgbClr val="141E2A"/>
                </a:solidFill>
                <a:latin typeface="Anova Light"/>
              </a:rPr>
              <a:t>Forecasts generated at the item level must mathematically reconcile with store, regional, and national demand totals.</a:t>
            </a:r>
          </a:p>
          <a:p>
            <a:pPr>
              <a:spcAft>
                <a:spcPts val="1300"/>
              </a:spcAft>
            </a:pPr>
            <a:r>
              <a:rPr b="1" sz="1450">
                <a:solidFill>
                  <a:srgbClr val="012036"/>
                </a:solidFill>
                <a:latin typeface="Anova Light"/>
              </a:rPr>
              <a:t>•  Supply Chain Volatility: </a:t>
            </a:r>
            <a:r>
              <a:rPr b="0" sz="1400">
                <a:solidFill>
                  <a:srgbClr val="141E2A"/>
                </a:solidFill>
                <a:latin typeface="Anova Light"/>
              </a:rPr>
              <a:t>Stockouts and promotional spikes require robust models capable of handling price elasticity and calendar events.</a:t>
            </a:r>
          </a:p>
        </p:txBody>
      </p:sp>
      <p:sp>
        <p:nvSpPr>
          <p:cNvPr id="7" name="Rounded Rectangle 6"/>
          <p:cNvSpPr/>
          <p:nvPr/>
        </p:nvSpPr>
        <p:spPr>
          <a:xfrm>
            <a:off x="6656832" y="2331720"/>
            <a:ext cx="4956048" cy="6675120"/>
          </a:xfrm>
          <a:prstGeom prst="roundRect">
            <a:avLst/>
          </a:prstGeom>
          <a:solidFill>
            <a:srgbClr val="FAFCFE"/>
          </a:solidFill>
          <a:ln w="15240">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656832" y="2331720"/>
            <a:ext cx="4956048" cy="109728"/>
          </a:xfrm>
          <a:prstGeom prst="roundRect">
            <a:avLst/>
          </a:prstGeom>
          <a:solidFill>
            <a:srgbClr val="8613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76288" y="2551176"/>
            <a:ext cx="4517136" cy="6236208"/>
          </a:xfrm>
          <a:prstGeom prst="rect">
            <a:avLst/>
          </a:prstGeom>
          <a:noFill/>
        </p:spPr>
        <p:txBody>
          <a:bodyPr wrap="square" lIns="0" rIns="0" tIns="0" bIns="0">
            <a:spAutoFit/>
          </a:bodyPr>
          <a:lstStyle/>
          <a:p>
            <a:pPr>
              <a:spcAft>
                <a:spcPts val="400"/>
              </a:spcAft>
              <a:defRPr b="1" sz="2100">
                <a:solidFill>
                  <a:srgbClr val="012036"/>
                </a:solidFill>
                <a:latin typeface="Anova Light"/>
              </a:defRPr>
            </a:pPr>
            <a:r>
              <a:t>Breaking Free from the GUI</a:t>
            </a:r>
          </a:p>
          <a:p>
            <a:pPr>
              <a:spcAft>
                <a:spcPts val="1400"/>
              </a:spcAft>
              <a:defRPr sz="1400" b="0">
                <a:solidFill>
                  <a:srgbClr val="86134F"/>
                </a:solidFill>
                <a:latin typeface="Anova Light"/>
              </a:defRPr>
            </a:pPr>
            <a:r>
              <a:t>Automated Code-First Architecture</a:t>
            </a:r>
          </a:p>
          <a:p>
            <a:pPr>
              <a:spcAft>
                <a:spcPts val="1300"/>
              </a:spcAft>
            </a:pPr>
            <a:r>
              <a:rPr b="1" sz="1450">
                <a:solidFill>
                  <a:srgbClr val="012036"/>
                </a:solidFill>
                <a:latin typeface="Anova Light"/>
              </a:rPr>
              <a:t>•  The Model Studio Bottleneck: </a:t>
            </a:r>
            <a:r>
              <a:rPr b="0" sz="1400">
                <a:solidFill>
                  <a:srgbClr val="141E2A"/>
                </a:solidFill>
                <a:latin typeface="Anova Light"/>
              </a:rPr>
              <a:t>GUI-based drag-and-drop forecasting tools limit automation, impede version control, and cannot integrate into automated CI/CD pipelines.</a:t>
            </a:r>
          </a:p>
          <a:p>
            <a:pPr>
              <a:spcAft>
                <a:spcPts val="1300"/>
              </a:spcAft>
            </a:pPr>
            <a:r>
              <a:rPr b="1" sz="1450">
                <a:solidFill>
                  <a:srgbClr val="012036"/>
                </a:solidFill>
                <a:latin typeface="Anova Light"/>
              </a:rPr>
              <a:t>•  Pure-Code Headless Pipeline: </a:t>
            </a:r>
            <a:r>
              <a:rPr b="0" sz="1400">
                <a:solidFill>
                  <a:srgbClr val="141E2A"/>
                </a:solidFill>
                <a:latin typeface="Anova Light"/>
              </a:rPr>
              <a:t>Orchestrated end-to-end via Python CLI (submit_viya_extlang.py) communicating with the SAS Viya Compute Server API.</a:t>
            </a:r>
          </a:p>
          <a:p>
            <a:pPr>
              <a:spcAft>
                <a:spcPts val="1300"/>
              </a:spcAft>
            </a:pPr>
            <a:r>
              <a:rPr b="1" sz="1450">
                <a:solidFill>
                  <a:srgbClr val="012036"/>
                </a:solidFill>
                <a:latin typeface="Anova Light"/>
              </a:rPr>
              <a:t>•  Reproducible Batch Execution: </a:t>
            </a:r>
            <a:r>
              <a:rPr b="0" sz="1400">
                <a:solidFill>
                  <a:srgbClr val="141E2A"/>
                </a:solidFill>
                <a:latin typeface="Anova Light"/>
              </a:rPr>
              <a:t>Fully scriptable parameter tuning, data prep, model fitting, and validation without human manual clicking.</a:t>
            </a:r>
          </a:p>
          <a:p>
            <a:pPr>
              <a:spcAft>
                <a:spcPts val="1300"/>
              </a:spcAft>
            </a:pPr>
            <a:r>
              <a:rPr b="1" sz="1450">
                <a:solidFill>
                  <a:srgbClr val="012036"/>
                </a:solidFill>
                <a:latin typeface="Anova Light"/>
              </a:rPr>
              <a:t>•  Automated Champion Selection: </a:t>
            </a:r>
            <a:r>
              <a:rPr b="0" sz="1400">
                <a:solidFill>
                  <a:srgbClr val="141E2A"/>
                </a:solidFill>
                <a:latin typeface="Anova Light"/>
              </a:rPr>
              <a:t>Systematic evaluation over 9 industry metrics (MASE, RMSSE, WAPE, Bias, FA) to crown the winning model per node.</a:t>
            </a:r>
          </a:p>
        </p:txBody>
      </p:sp>
      <p:sp>
        <p:nvSpPr>
          <p:cNvPr id="10" name="Rounded Rectangle 9"/>
          <p:cNvSpPr/>
          <p:nvPr/>
        </p:nvSpPr>
        <p:spPr>
          <a:xfrm>
            <a:off x="12051792" y="2331720"/>
            <a:ext cx="4956048" cy="6675120"/>
          </a:xfrm>
          <a:prstGeom prst="roundRect">
            <a:avLst/>
          </a:prstGeom>
          <a:solidFill>
            <a:srgbClr val="FAFCFE"/>
          </a:solidFill>
          <a:ln w="15240">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2051792" y="2331720"/>
            <a:ext cx="4956048" cy="109728"/>
          </a:xfrm>
          <a:prstGeom prst="roundRect">
            <a:avLst/>
          </a:prstGeom>
          <a:solidFill>
            <a:srgbClr val="15B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271248" y="2551176"/>
            <a:ext cx="4517136" cy="6236208"/>
          </a:xfrm>
          <a:prstGeom prst="rect">
            <a:avLst/>
          </a:prstGeom>
          <a:noFill/>
        </p:spPr>
        <p:txBody>
          <a:bodyPr wrap="square" lIns="0" rIns="0" tIns="0" bIns="0">
            <a:spAutoFit/>
          </a:bodyPr>
          <a:lstStyle/>
          <a:p>
            <a:pPr>
              <a:spcAft>
                <a:spcPts val="400"/>
              </a:spcAft>
              <a:defRPr b="1" sz="2100">
                <a:solidFill>
                  <a:srgbClr val="012036"/>
                </a:solidFill>
                <a:latin typeface="Anova Light"/>
              </a:defRPr>
            </a:pPr>
            <a:r>
              <a:t>The Hybrid Model Tournament</a:t>
            </a:r>
          </a:p>
          <a:p>
            <a:pPr>
              <a:spcAft>
                <a:spcPts val="1400"/>
              </a:spcAft>
              <a:defRPr sz="1400" b="0">
                <a:solidFill>
                  <a:srgbClr val="15B57B"/>
                </a:solidFill>
                <a:latin typeface="Anova Light"/>
              </a:defRPr>
            </a:pPr>
            <a:r>
              <a:t>SAS Visual Forecasting vs. OSS</a:t>
            </a:r>
          </a:p>
          <a:p>
            <a:pPr>
              <a:spcAft>
                <a:spcPts val="1300"/>
              </a:spcAft>
            </a:pPr>
            <a:r>
              <a:rPr b="1" sz="1450">
                <a:solidFill>
                  <a:srgbClr val="012036"/>
                </a:solidFill>
                <a:latin typeface="Anova Light"/>
              </a:rPr>
              <a:t>•  SAS ATSM Engine: </a:t>
            </a:r>
            <a:r>
              <a:rPr b="0" sz="1400">
                <a:solidFill>
                  <a:srgbClr val="141E2A"/>
                </a:solidFill>
                <a:latin typeface="Anova Light"/>
              </a:rPr>
              <a:t>Industrial-grade Automatic Time Series Modeling: automated ARIMA, Exponential Smoothing (ESM), and Unobserved Components (UCM).</a:t>
            </a:r>
          </a:p>
          <a:p>
            <a:pPr>
              <a:spcAft>
                <a:spcPts val="1300"/>
              </a:spcAft>
            </a:pPr>
            <a:r>
              <a:rPr b="1" sz="1450">
                <a:solidFill>
                  <a:srgbClr val="012036"/>
                </a:solidFill>
                <a:latin typeface="Anova Light"/>
              </a:rPr>
              <a:t>•  Nixtla Open-Source Stack: </a:t>
            </a:r>
            <a:r>
              <a:rPr b="0" sz="1400">
                <a:solidFill>
                  <a:srgbClr val="141E2A"/>
                </a:solidFill>
                <a:latin typeface="Anova Light"/>
              </a:rPr>
              <a:t>Benchmarked against state-of-the-art Python algorithms: StatsForecast (AutoARIMA, CES), MLForecast (LightGBM), and NeuralForecast.</a:t>
            </a:r>
          </a:p>
          <a:p>
            <a:pPr>
              <a:spcAft>
                <a:spcPts val="1300"/>
              </a:spcAft>
            </a:pPr>
            <a:r>
              <a:rPr b="1" sz="1450">
                <a:solidFill>
                  <a:srgbClr val="012036"/>
                </a:solidFill>
                <a:latin typeface="Anova Light"/>
              </a:rPr>
              <a:t>•  Prophet &amp; Foundation Models: </a:t>
            </a:r>
            <a:r>
              <a:rPr b="0" sz="1400">
                <a:solidFill>
                  <a:srgbClr val="141E2A"/>
                </a:solidFill>
                <a:latin typeface="Anova Light"/>
              </a:rPr>
              <a:t>Cross-benchmarked with Meta's Prophet and zero-shot foundation models like Amazon Chronos.</a:t>
            </a:r>
          </a:p>
          <a:p>
            <a:pPr>
              <a:spcAft>
                <a:spcPts val="1300"/>
              </a:spcAft>
            </a:pPr>
            <a:r>
              <a:rPr b="1" sz="1450">
                <a:solidFill>
                  <a:srgbClr val="012036"/>
                </a:solidFill>
                <a:latin typeface="Anova Light"/>
              </a:rPr>
              <a:t>•  Objective Bake-Off: </a:t>
            </a:r>
            <a:r>
              <a:rPr b="0" sz="1400">
                <a:solidFill>
                  <a:srgbClr val="141E2A"/>
                </a:solidFill>
                <a:latin typeface="Anova Light"/>
              </a:rPr>
              <a:t>Pits proprietary SAS algorithms directly against open-source contenders on identical cross-validation folds.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defRPr b="1" sz="3600">
                <a:solidFill>
                  <a:srgbClr val="012036"/>
                </a:solidFill>
                <a:latin typeface="Anova Light"/>
              </a:defRPr>
            </a:pPr>
            <a:r>
              <a:t>Distributed CAS EXTLANG, MinT Reconciliation &amp; K8s Resilience</a:t>
            </a:r>
          </a:p>
        </p:txBody>
      </p:sp>
      <p:sp>
        <p:nvSpPr>
          <p:cNvPr id="3" name="Text Placeholder 2"/>
          <p:cNvSpPr>
            <a:spLocks noGrp="1"/>
          </p:cNvSpPr>
          <p:nvPr>
            <p:ph type="body" idx="10" sz="quarter"/>
          </p:nvPr>
        </p:nvSpPr>
        <p:spPr/>
        <p:txBody>
          <a:bodyPr wrap="square"/>
          <a:lstStyle/>
          <a:p>
            <a:pPr>
              <a:defRPr sz="1700">
                <a:solidFill>
                  <a:srgbClr val="556473"/>
                </a:solidFill>
                <a:latin typeface="Anova Light"/>
              </a:defRPr>
            </a:pPr>
            <a:r>
              <a:t>Massively Parallel In-Memory Execution under Strict 32Gi Kubernetes Pod Constraints</a:t>
            </a:r>
          </a:p>
        </p:txBody>
      </p:sp>
      <p:sp>
        <p:nvSpPr>
          <p:cNvPr id="4" name="Rounded Rectangle 3"/>
          <p:cNvSpPr/>
          <p:nvPr/>
        </p:nvSpPr>
        <p:spPr>
          <a:xfrm>
            <a:off x="1261872" y="2331720"/>
            <a:ext cx="4956048" cy="6675120"/>
          </a:xfrm>
          <a:prstGeom prst="roundRect">
            <a:avLst/>
          </a:prstGeom>
          <a:solidFill>
            <a:srgbClr val="FAFCFE"/>
          </a:solidFill>
          <a:ln w="15240">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261872" y="2331720"/>
            <a:ext cx="4956048" cy="109728"/>
          </a:xfrm>
          <a:prstGeom prst="roundRect">
            <a:avLst/>
          </a:prstGeom>
          <a:solidFill>
            <a:srgbClr val="29D6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481328" y="2551176"/>
            <a:ext cx="4517136" cy="6236208"/>
          </a:xfrm>
          <a:prstGeom prst="rect">
            <a:avLst/>
          </a:prstGeom>
          <a:noFill/>
        </p:spPr>
        <p:txBody>
          <a:bodyPr wrap="square" lIns="0" rIns="0" tIns="0" bIns="0">
            <a:spAutoFit/>
          </a:bodyPr>
          <a:lstStyle/>
          <a:p>
            <a:pPr>
              <a:spcAft>
                <a:spcPts val="400"/>
              </a:spcAft>
              <a:defRPr b="1" sz="2100">
                <a:solidFill>
                  <a:srgbClr val="012036"/>
                </a:solidFill>
                <a:latin typeface="Anova Light"/>
              </a:defRPr>
            </a:pPr>
            <a:r>
              <a:t>CAS EXTLANG Distributed Python</a:t>
            </a:r>
          </a:p>
          <a:p>
            <a:pPr>
              <a:spcAft>
                <a:spcPts val="1400"/>
              </a:spcAft>
              <a:defRPr sz="1400" b="0">
                <a:solidFill>
                  <a:srgbClr val="29D6CD"/>
                </a:solidFill>
                <a:latin typeface="Anova Light"/>
              </a:defRPr>
            </a:pPr>
            <a:r>
              <a:t>High-Throughput Execution</a:t>
            </a:r>
          </a:p>
          <a:p>
            <a:pPr>
              <a:spcAft>
                <a:spcPts val="1300"/>
              </a:spcAft>
            </a:pPr>
            <a:r>
              <a:rPr b="1" sz="1450">
                <a:solidFill>
                  <a:srgbClr val="012036"/>
                </a:solidFill>
                <a:latin typeface="Anova Light"/>
              </a:rPr>
              <a:t>•  Parallel Worker Execution: </a:t>
            </a:r>
            <a:r>
              <a:rPr b="0" sz="1400">
                <a:solidFill>
                  <a:srgbClr val="141E2A"/>
                </a:solidFill>
                <a:latin typeface="Anova Light"/>
              </a:rPr>
              <a:t>Uses PROC TSMODEL with EXTLANG to dispatch Python worker scripts directly onto distributed CAS in-memory worker nodes.</a:t>
            </a:r>
          </a:p>
          <a:p>
            <a:pPr>
              <a:spcAft>
                <a:spcPts val="1300"/>
              </a:spcAft>
            </a:pPr>
            <a:r>
              <a:rPr b="1" sz="1450">
                <a:solidFill>
                  <a:srgbClr val="012036"/>
                </a:solidFill>
                <a:latin typeface="Anova Light"/>
              </a:rPr>
              <a:t>•  Zero Data Shuffling: </a:t>
            </a:r>
            <a:r>
              <a:rPr b="0" sz="1400">
                <a:solidFill>
                  <a:srgbClr val="141E2A"/>
                </a:solidFill>
                <a:latin typeface="Anova Light"/>
              </a:rPr>
              <a:t>Data partitions remain in CAS RAM; Python processes execute locally against each time series chunk in parallel.</a:t>
            </a:r>
          </a:p>
          <a:p>
            <a:pPr>
              <a:spcAft>
                <a:spcPts val="1300"/>
              </a:spcAft>
            </a:pPr>
            <a:r>
              <a:rPr b="1" sz="1450">
                <a:solidFill>
                  <a:srgbClr val="012036"/>
                </a:solidFill>
                <a:latin typeface="Anova Light"/>
              </a:rPr>
              <a:t>•  PROC PYTHON &amp; MP-CONNECT: </a:t>
            </a:r>
            <a:r>
              <a:rPr b="0" sz="1400">
                <a:solidFill>
                  <a:srgbClr val="141E2A"/>
                </a:solidFill>
                <a:latin typeface="Anova Light"/>
              </a:rPr>
              <a:t>Global panel models (NeuralForecast) execute in Compute Server pods using asynchronous SAS MP-CONNECT sessions.</a:t>
            </a:r>
          </a:p>
          <a:p>
            <a:pPr>
              <a:spcAft>
                <a:spcPts val="1300"/>
              </a:spcAft>
            </a:pPr>
            <a:r>
              <a:rPr b="1" sz="1450">
                <a:solidFill>
                  <a:srgbClr val="012036"/>
                </a:solidFill>
                <a:latin typeface="Anova Light"/>
              </a:rPr>
              <a:t>•  Hybrid Telemetry Logging: </a:t>
            </a:r>
            <a:r>
              <a:rPr b="0" sz="1400">
                <a:solidFill>
                  <a:srgbClr val="141E2A"/>
                </a:solidFill>
                <a:latin typeface="Anova Light"/>
              </a:rPr>
              <a:t>Captures per-series training and scoring durations via OUTSCALAR to profile exact algorithm computational cost.</a:t>
            </a:r>
          </a:p>
        </p:txBody>
      </p:sp>
      <p:sp>
        <p:nvSpPr>
          <p:cNvPr id="7" name="Rounded Rectangle 6"/>
          <p:cNvSpPr/>
          <p:nvPr/>
        </p:nvSpPr>
        <p:spPr>
          <a:xfrm>
            <a:off x="6656832" y="2331720"/>
            <a:ext cx="4956048" cy="6675120"/>
          </a:xfrm>
          <a:prstGeom prst="roundRect">
            <a:avLst/>
          </a:prstGeom>
          <a:solidFill>
            <a:srgbClr val="FAFCFE"/>
          </a:solidFill>
          <a:ln w="15240">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656832" y="2331720"/>
            <a:ext cx="4956048" cy="109728"/>
          </a:xfrm>
          <a:prstGeom prst="roundRect">
            <a:avLst/>
          </a:prstGeom>
          <a:solidFill>
            <a:srgbClr val="33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76288" y="2551176"/>
            <a:ext cx="4517136" cy="6236208"/>
          </a:xfrm>
          <a:prstGeom prst="rect">
            <a:avLst/>
          </a:prstGeom>
          <a:noFill/>
        </p:spPr>
        <p:txBody>
          <a:bodyPr wrap="square" lIns="0" rIns="0" tIns="0" bIns="0">
            <a:spAutoFit/>
          </a:bodyPr>
          <a:lstStyle/>
          <a:p>
            <a:pPr>
              <a:spcAft>
                <a:spcPts val="400"/>
              </a:spcAft>
              <a:defRPr b="1" sz="2100">
                <a:solidFill>
                  <a:srgbClr val="012036"/>
                </a:solidFill>
                <a:latin typeface="Anova Light"/>
              </a:defRPr>
            </a:pPr>
            <a:r>
              <a:t>Optimal MinT Reconciliation</a:t>
            </a:r>
          </a:p>
          <a:p>
            <a:pPr>
              <a:spcAft>
                <a:spcPts val="1400"/>
              </a:spcAft>
              <a:defRPr sz="1400" b="0">
                <a:solidFill>
                  <a:srgbClr val="33A3FF"/>
                </a:solidFill>
                <a:latin typeface="Anova Light"/>
              </a:defRPr>
            </a:pPr>
            <a:r>
              <a:t>PROC IML Optimization</a:t>
            </a:r>
          </a:p>
          <a:p>
            <a:pPr>
              <a:spcAft>
                <a:spcPts val="1300"/>
              </a:spcAft>
            </a:pPr>
            <a:r>
              <a:rPr b="1" sz="1450">
                <a:solidFill>
                  <a:srgbClr val="012036"/>
                </a:solidFill>
                <a:latin typeface="Anova Light"/>
              </a:rPr>
              <a:t>•  Hierarchical Incoherence: </a:t>
            </a:r>
            <a:r>
              <a:rPr b="0" sz="1400">
                <a:solidFill>
                  <a:srgbClr val="141E2A"/>
                </a:solidFill>
                <a:latin typeface="Anova Light"/>
              </a:rPr>
              <a:t>Independently generated forecasts at item, department, and state levels never add up, creating supply chain chaos.</a:t>
            </a:r>
          </a:p>
          <a:p>
            <a:pPr>
              <a:spcAft>
                <a:spcPts val="1300"/>
              </a:spcAft>
            </a:pPr>
            <a:r>
              <a:rPr b="1" sz="1450">
                <a:solidFill>
                  <a:srgbClr val="012036"/>
                </a:solidFill>
                <a:latin typeface="Anova Light"/>
              </a:rPr>
              <a:t>•  Trace Minimization (MinT): </a:t>
            </a:r>
            <a:r>
              <a:rPr b="0" sz="1400">
                <a:solidFill>
                  <a:srgbClr val="141E2A"/>
                </a:solidFill>
                <a:latin typeface="Anova Light"/>
              </a:rPr>
              <a:t>Implemented optimal forecast shrinkage in PROC IML using sample error covariance matrices.</a:t>
            </a:r>
          </a:p>
          <a:p>
            <a:pPr>
              <a:spcAft>
                <a:spcPts val="1300"/>
              </a:spcAft>
            </a:pPr>
            <a:r>
              <a:rPr b="1" sz="1450">
                <a:solidFill>
                  <a:srgbClr val="012036"/>
                </a:solidFill>
                <a:latin typeface="Anova Light"/>
              </a:rPr>
              <a:t>•  Mathematical Optimality: </a:t>
            </a:r>
            <a:r>
              <a:rPr b="0" sz="1400">
                <a:solidFill>
                  <a:srgbClr val="141E2A"/>
                </a:solidFill>
                <a:latin typeface="Anova Light"/>
              </a:rPr>
              <a:t>MinT provably produces unbiased, coherent forecasts with minimal error variance across all hierarchy levels.</a:t>
            </a:r>
          </a:p>
          <a:p>
            <a:pPr>
              <a:spcAft>
                <a:spcPts val="1300"/>
              </a:spcAft>
            </a:pPr>
            <a:r>
              <a:rPr b="1" sz="1450">
                <a:solidFill>
                  <a:srgbClr val="012036"/>
                </a:solidFill>
                <a:latin typeface="Anova Light"/>
              </a:rPr>
              <a:t>•  Automated Dashboard Export: </a:t>
            </a:r>
            <a:r>
              <a:rPr b="0" sz="1400">
                <a:solidFill>
                  <a:srgbClr val="141E2A"/>
                </a:solidFill>
                <a:latin typeface="Anova Light"/>
              </a:rPr>
              <a:t>Outputs reconciled hierarchical leaderboards and confidence intervals for visual inspection.</a:t>
            </a:r>
          </a:p>
        </p:txBody>
      </p:sp>
      <p:sp>
        <p:nvSpPr>
          <p:cNvPr id="10" name="Rounded Rectangle 9"/>
          <p:cNvSpPr/>
          <p:nvPr/>
        </p:nvSpPr>
        <p:spPr>
          <a:xfrm>
            <a:off x="12051792" y="2331720"/>
            <a:ext cx="4956048" cy="6675120"/>
          </a:xfrm>
          <a:prstGeom prst="roundRect">
            <a:avLst/>
          </a:prstGeom>
          <a:solidFill>
            <a:srgbClr val="FAFCFE"/>
          </a:solidFill>
          <a:ln w="15240">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2051792" y="2331720"/>
            <a:ext cx="4956048" cy="109728"/>
          </a:xfrm>
          <a:prstGeom prst="roundRect">
            <a:avLst/>
          </a:prstGeom>
          <a:solidFill>
            <a:srgbClr val="FFC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271248" y="2551176"/>
            <a:ext cx="4517136" cy="6236208"/>
          </a:xfrm>
          <a:prstGeom prst="rect">
            <a:avLst/>
          </a:prstGeom>
          <a:noFill/>
        </p:spPr>
        <p:txBody>
          <a:bodyPr wrap="square" lIns="0" rIns="0" tIns="0" bIns="0">
            <a:spAutoFit/>
          </a:bodyPr>
          <a:lstStyle/>
          <a:p>
            <a:pPr>
              <a:spcAft>
                <a:spcPts val="400"/>
              </a:spcAft>
              <a:defRPr b="1" sz="2100">
                <a:solidFill>
                  <a:srgbClr val="012036"/>
                </a:solidFill>
                <a:latin typeface="Anova Light"/>
              </a:defRPr>
            </a:pPr>
            <a:r>
              <a:t>Resilience on Constrained K8s</a:t>
            </a:r>
          </a:p>
          <a:p>
            <a:pPr>
              <a:spcAft>
                <a:spcPts val="1400"/>
              </a:spcAft>
              <a:defRPr sz="1400" b="0">
                <a:solidFill>
                  <a:srgbClr val="FFCC32"/>
                </a:solidFill>
                <a:latin typeface="Anova Light"/>
              </a:defRPr>
            </a:pPr>
            <a:r>
              <a:t>Production Engineering</a:t>
            </a:r>
          </a:p>
          <a:p>
            <a:pPr>
              <a:spcAft>
                <a:spcPts val="1300"/>
              </a:spcAft>
            </a:pPr>
            <a:r>
              <a:rPr b="1" sz="1450">
                <a:solidFill>
                  <a:srgbClr val="012036"/>
                </a:solidFill>
                <a:latin typeface="Anova Light"/>
              </a:rPr>
              <a:t>•  Strict Hardware Ceilings: </a:t>
            </a:r>
            <a:r>
              <a:rPr b="0" sz="1400">
                <a:solidFill>
                  <a:srgbClr val="141E2A"/>
                </a:solidFill>
                <a:latin typeface="Anova Light"/>
              </a:rPr>
              <a:t>Viya Compute Server pods running with tight limits: 4 CPUs and a strict 32Gi memory ceiling.</a:t>
            </a:r>
          </a:p>
          <a:p>
            <a:pPr>
              <a:spcAft>
                <a:spcPts val="1300"/>
              </a:spcAft>
            </a:pPr>
            <a:r>
              <a:rPr b="1" sz="1450">
                <a:solidFill>
                  <a:srgbClr val="012036"/>
                </a:solidFill>
                <a:latin typeface="Anova Light"/>
              </a:rPr>
              <a:t>•  Bypassing REST Limits: </a:t>
            </a:r>
            <a:r>
              <a:rPr b="0" sz="1400">
                <a:solidFill>
                  <a:srgbClr val="141E2A"/>
                </a:solidFill>
                <a:latin typeface="Anova Light"/>
              </a:rPr>
              <a:t>Viya Compute HTTP APIs fail on files &gt;30MB; solved by uploading compressed .zip payloads and extracting via SAS ZIP engine.</a:t>
            </a:r>
          </a:p>
          <a:p>
            <a:pPr>
              <a:spcAft>
                <a:spcPts val="1300"/>
              </a:spcAft>
            </a:pPr>
            <a:r>
              <a:rPr b="1" sz="1450">
                <a:solidFill>
                  <a:srgbClr val="012036"/>
                </a:solidFill>
                <a:latin typeface="Anova Light"/>
              </a:rPr>
              <a:t>•  Binary fcopy Protocol: </a:t>
            </a:r>
            <a:r>
              <a:rPr b="0" sz="1400">
                <a:solidFill>
                  <a:srgbClr val="141E2A"/>
                </a:solidFill>
                <a:latin typeface="Anova Light"/>
              </a:rPr>
              <a:t>Transfers files from filesrvc virtual storage to physical WORK directories using binary fcopy(RECFM=N).</a:t>
            </a:r>
          </a:p>
          <a:p>
            <a:pPr>
              <a:spcAft>
                <a:spcPts val="1300"/>
              </a:spcAft>
            </a:pPr>
            <a:r>
              <a:rPr b="1" sz="1450">
                <a:solidFill>
                  <a:srgbClr val="012036"/>
                </a:solidFill>
                <a:latin typeface="Anova Light"/>
              </a:rPr>
              <a:t>•  OOM Prevention Guardrails: </a:t>
            </a:r>
            <a:r>
              <a:rPr b="0" sz="1400">
                <a:solidFill>
                  <a:srgbClr val="141E2A"/>
                </a:solidFill>
                <a:latin typeface="Anova Light"/>
              </a:rPr>
              <a:t>Runtime telemetry in mycas.runtime_report detects memory spikes before pods trigger Kubernetes OOMKills.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defRPr b="1" sz="3600">
                <a:solidFill>
                  <a:srgbClr val="012036"/>
                </a:solidFill>
                <a:latin typeface="Anova Light"/>
              </a:defRPr>
            </a:pPr>
            <a:r>
              <a:t>The Unified Industrial AI Loop: Chaining SAS Capabilities</a:t>
            </a:r>
          </a:p>
        </p:txBody>
      </p:sp>
      <p:sp>
        <p:nvSpPr>
          <p:cNvPr id="3" name="Text Placeholder 2"/>
          <p:cNvSpPr>
            <a:spLocks noGrp="1"/>
          </p:cNvSpPr>
          <p:nvPr>
            <p:ph type="body" idx="10" sz="quarter"/>
          </p:nvPr>
        </p:nvSpPr>
        <p:spPr/>
        <p:txBody>
          <a:bodyPr wrap="square"/>
          <a:lstStyle/>
          <a:p>
            <a:pPr>
              <a:defRPr sz="1700">
                <a:solidFill>
                  <a:srgbClr val="556473"/>
                </a:solidFill>
                <a:latin typeface="Anova Light"/>
              </a:defRPr>
            </a:pPr>
            <a:r>
              <a:t>How an Autonomous Agent Coordinates Streaming, Custom IoT, Quality, and Supply Chain Forecasting</a:t>
            </a:r>
          </a:p>
        </p:txBody>
      </p:sp>
      <p:sp>
        <p:nvSpPr>
          <p:cNvPr id="4" name="Rounded Rectangle 3"/>
          <p:cNvSpPr/>
          <p:nvPr/>
        </p:nvSpPr>
        <p:spPr>
          <a:xfrm>
            <a:off x="914400" y="2331720"/>
            <a:ext cx="3840480" cy="6675120"/>
          </a:xfrm>
          <a:prstGeom prst="roundRect">
            <a:avLst/>
          </a:prstGeom>
          <a:solidFill>
            <a:srgbClr val="FAFCFE"/>
          </a:solidFill>
          <a:ln w="15240">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2331720"/>
            <a:ext cx="3840480" cy="109728"/>
          </a:xfrm>
          <a:prstGeom prst="roundRect">
            <a:avLst/>
          </a:prstGeom>
          <a:solidFill>
            <a:srgbClr val="33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2514600"/>
            <a:ext cx="3474720" cy="6309360"/>
          </a:xfrm>
          <a:prstGeom prst="rect">
            <a:avLst/>
          </a:prstGeom>
          <a:noFill/>
        </p:spPr>
        <p:txBody>
          <a:bodyPr wrap="square" lIns="0" rIns="0" tIns="0" bIns="0">
            <a:spAutoFit/>
          </a:bodyPr>
          <a:lstStyle/>
          <a:p>
            <a:pPr>
              <a:spcAft>
                <a:spcPts val="400"/>
              </a:spcAft>
              <a:defRPr b="1" sz="1850">
                <a:solidFill>
                  <a:srgbClr val="012036"/>
                </a:solidFill>
                <a:latin typeface="Anova Light"/>
              </a:defRPr>
            </a:pPr>
            <a:r>
              <a:t>1. Real-Time Detection</a:t>
            </a:r>
          </a:p>
          <a:p>
            <a:pPr>
              <a:spcAft>
                <a:spcPts val="1100"/>
              </a:spcAft>
              <a:defRPr sz="1300" b="0">
                <a:solidFill>
                  <a:srgbClr val="33A3FF"/>
                </a:solidFill>
                <a:latin typeface="Anova Light"/>
              </a:defRPr>
            </a:pPr>
            <a:r>
              <a:t>Edge Streaming (ESP)</a:t>
            </a:r>
          </a:p>
          <a:p>
            <a:pPr>
              <a:spcAft>
                <a:spcPts val="900"/>
              </a:spcAft>
            </a:pPr>
            <a:r>
              <a:rPr b="1" sz="1350">
                <a:solidFill>
                  <a:srgbClr val="012036"/>
                </a:solidFill>
                <a:latin typeface="Anova Light"/>
              </a:rPr>
              <a:t>•  ESP Ingestion: </a:t>
            </a:r>
            <a:r>
              <a:rPr b="0" sz="1300">
                <a:solidFill>
                  <a:srgbClr val="141E2A"/>
                </a:solidFill>
                <a:latin typeface="Anova Light"/>
              </a:rPr>
              <a:t>Continuous Kafka telemetry streams through SAS ESP.</a:t>
            </a:r>
          </a:p>
          <a:p>
            <a:pPr>
              <a:spcAft>
                <a:spcPts val="900"/>
              </a:spcAft>
            </a:pPr>
            <a:r>
              <a:rPr b="1" sz="1350">
                <a:solidFill>
                  <a:srgbClr val="012036"/>
                </a:solidFill>
                <a:latin typeface="Anova Light"/>
              </a:rPr>
              <a:t>•  Edge Outlier Trigger: </a:t>
            </a:r>
            <a:r>
              <a:rPr b="0" sz="1300">
                <a:solidFill>
                  <a:srgbClr val="141E2A"/>
                </a:solidFill>
                <a:latin typeface="Anova Light"/>
              </a:rPr>
              <a:t>ESP pattern matching flags abnormal multi-sensor vibration or thermal signature in production unit.</a:t>
            </a:r>
          </a:p>
        </p:txBody>
      </p:sp>
      <p:sp>
        <p:nvSpPr>
          <p:cNvPr id="7" name="Rounded Rectangle 6"/>
          <p:cNvSpPr/>
          <p:nvPr/>
        </p:nvSpPr>
        <p:spPr>
          <a:xfrm>
            <a:off x="5120640" y="2331720"/>
            <a:ext cx="3840480" cy="6675120"/>
          </a:xfrm>
          <a:prstGeom prst="roundRect">
            <a:avLst/>
          </a:prstGeom>
          <a:solidFill>
            <a:srgbClr val="FAFCFE"/>
          </a:solidFill>
          <a:ln w="15240">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120640" y="2331720"/>
            <a:ext cx="3840480" cy="109728"/>
          </a:xfrm>
          <a:prstGeom prst="roundRect">
            <a:avLst/>
          </a:prstGeom>
          <a:solidFill>
            <a:srgbClr val="29D6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303520" y="2514600"/>
            <a:ext cx="3474720" cy="6309360"/>
          </a:xfrm>
          <a:prstGeom prst="rect">
            <a:avLst/>
          </a:prstGeom>
          <a:noFill/>
        </p:spPr>
        <p:txBody>
          <a:bodyPr wrap="square" lIns="0" rIns="0" tIns="0" bIns="0">
            <a:spAutoFit/>
          </a:bodyPr>
          <a:lstStyle/>
          <a:p>
            <a:pPr>
              <a:spcAft>
                <a:spcPts val="400"/>
              </a:spcAft>
              <a:defRPr b="1" sz="1850">
                <a:solidFill>
                  <a:srgbClr val="012036"/>
                </a:solidFill>
                <a:latin typeface="Anova Light"/>
              </a:defRPr>
            </a:pPr>
            <a:r>
              <a:t>2. Custom ML Isolation</a:t>
            </a:r>
          </a:p>
          <a:p>
            <a:pPr>
              <a:spcAft>
                <a:spcPts val="1100"/>
              </a:spcAft>
              <a:defRPr sz="1300" b="0">
                <a:solidFill>
                  <a:srgbClr val="29D6CD"/>
                </a:solidFill>
                <a:latin typeface="Anova Light"/>
              </a:defRPr>
            </a:pPr>
            <a:r>
              <a:t>Custom IoT (CAF)</a:t>
            </a:r>
          </a:p>
          <a:p>
            <a:pPr>
              <a:spcAft>
                <a:spcPts val="900"/>
              </a:spcAft>
            </a:pPr>
            <a:r>
              <a:rPr b="1" sz="1350">
                <a:solidFill>
                  <a:srgbClr val="012036"/>
                </a:solidFill>
                <a:latin typeface="Anova Light"/>
              </a:rPr>
              <a:t>•  CAF Model Execution: </a:t>
            </a:r>
            <a:r>
              <a:rPr b="0" sz="1300">
                <a:solidFill>
                  <a:srgbClr val="141E2A"/>
                </a:solidFill>
                <a:latin typeface="Anova Light"/>
              </a:rPr>
              <a:t>Agent launches SVDD anomaly detection analysis type via MCP Tier 13.</a:t>
            </a:r>
          </a:p>
          <a:p>
            <a:pPr>
              <a:spcAft>
                <a:spcPts val="900"/>
              </a:spcAft>
            </a:pPr>
            <a:r>
              <a:rPr b="1" sz="1350">
                <a:solidFill>
                  <a:srgbClr val="012036"/>
                </a:solidFill>
                <a:latin typeface="Anova Light"/>
              </a:rPr>
              <a:t>•  Multi-Sensor Isolation: </a:t>
            </a:r>
            <a:r>
              <a:rPr b="0" sz="1300">
                <a:solidFill>
                  <a:srgbClr val="141E2A"/>
                </a:solidFill>
                <a:latin typeface="Anova Light"/>
              </a:rPr>
              <a:t>Confirms multivariate boundary deviation and isolates failing sensor tags.</a:t>
            </a:r>
          </a:p>
        </p:txBody>
      </p:sp>
      <p:sp>
        <p:nvSpPr>
          <p:cNvPr id="10" name="Rounded Rectangle 9"/>
          <p:cNvSpPr/>
          <p:nvPr/>
        </p:nvSpPr>
        <p:spPr>
          <a:xfrm>
            <a:off x="9326880" y="2331720"/>
            <a:ext cx="3840480" cy="6675120"/>
          </a:xfrm>
          <a:prstGeom prst="roundRect">
            <a:avLst/>
          </a:prstGeom>
          <a:solidFill>
            <a:srgbClr val="FAFCFE"/>
          </a:solidFill>
          <a:ln w="15240">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9326880" y="2331720"/>
            <a:ext cx="3840480" cy="109728"/>
          </a:xfrm>
          <a:prstGeom prst="roundRect">
            <a:avLst/>
          </a:prstGeom>
          <a:solidFill>
            <a:srgbClr val="FFC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509760" y="2514600"/>
            <a:ext cx="3474720" cy="6309360"/>
          </a:xfrm>
          <a:prstGeom prst="rect">
            <a:avLst/>
          </a:prstGeom>
          <a:noFill/>
        </p:spPr>
        <p:txBody>
          <a:bodyPr wrap="square" lIns="0" rIns="0" tIns="0" bIns="0">
            <a:spAutoFit/>
          </a:bodyPr>
          <a:lstStyle/>
          <a:p>
            <a:pPr>
              <a:spcAft>
                <a:spcPts val="400"/>
              </a:spcAft>
              <a:defRPr b="1" sz="1850">
                <a:solidFill>
                  <a:srgbClr val="012036"/>
                </a:solidFill>
                <a:latin typeface="Anova Light"/>
              </a:defRPr>
            </a:pPr>
            <a:r>
              <a:t>3. Warranty Investigation</a:t>
            </a:r>
          </a:p>
          <a:p>
            <a:pPr>
              <a:spcAft>
                <a:spcPts val="1100"/>
              </a:spcAft>
              <a:defRPr sz="1300" b="0">
                <a:solidFill>
                  <a:srgbClr val="FFCC32"/>
                </a:solidFill>
                <a:latin typeface="Anova Light"/>
              </a:defRPr>
            </a:pPr>
            <a:r>
              <a:t>Quality Analytics (FQA)</a:t>
            </a:r>
          </a:p>
          <a:p>
            <a:pPr>
              <a:spcAft>
                <a:spcPts val="900"/>
              </a:spcAft>
            </a:pPr>
            <a:r>
              <a:rPr b="1" sz="1350">
                <a:solidFill>
                  <a:srgbClr val="012036"/>
                </a:solidFill>
                <a:latin typeface="Anova Light"/>
              </a:rPr>
              <a:t>•  FQA Funnel Execution: </a:t>
            </a:r>
            <a:r>
              <a:rPr b="0" sz="1300">
                <a:solidFill>
                  <a:srgbClr val="141E2A"/>
                </a:solidFill>
                <a:latin typeface="Anova Light"/>
              </a:rPr>
              <a:t>FQA Agent checks fleet warranty claims for the flagged component.</a:t>
            </a:r>
          </a:p>
          <a:p>
            <a:pPr>
              <a:spcAft>
                <a:spcPts val="900"/>
              </a:spcAft>
            </a:pPr>
            <a:r>
              <a:rPr b="1" sz="1350">
                <a:solidFill>
                  <a:srgbClr val="012036"/>
                </a:solidFill>
                <a:latin typeface="Anova Light"/>
              </a:rPr>
              <a:t>•  Supplier Containment: </a:t>
            </a:r>
            <a:r>
              <a:rPr b="0" sz="1300">
                <a:solidFill>
                  <a:srgbClr val="141E2A"/>
                </a:solidFill>
                <a:latin typeface="Anova Light"/>
              </a:rPr>
              <a:t>Isolates the defective build lot (Weibull β &lt; 1) and generates supplier recovery brief.</a:t>
            </a:r>
          </a:p>
        </p:txBody>
      </p:sp>
      <p:sp>
        <p:nvSpPr>
          <p:cNvPr id="13" name="Rounded Rectangle 12"/>
          <p:cNvSpPr/>
          <p:nvPr/>
        </p:nvSpPr>
        <p:spPr>
          <a:xfrm>
            <a:off x="13533120" y="2331720"/>
            <a:ext cx="3840480" cy="6675120"/>
          </a:xfrm>
          <a:prstGeom prst="roundRect">
            <a:avLst/>
          </a:prstGeom>
          <a:solidFill>
            <a:srgbClr val="FAFCFE"/>
          </a:solidFill>
          <a:ln w="15240">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13533120" y="2331720"/>
            <a:ext cx="3840480" cy="109728"/>
          </a:xfrm>
          <a:prstGeom prst="roundRect">
            <a:avLst/>
          </a:prstGeom>
          <a:solidFill>
            <a:srgbClr val="15B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3716000" y="2514600"/>
            <a:ext cx="3474720" cy="6309360"/>
          </a:xfrm>
          <a:prstGeom prst="rect">
            <a:avLst/>
          </a:prstGeom>
          <a:noFill/>
        </p:spPr>
        <p:txBody>
          <a:bodyPr wrap="square" lIns="0" rIns="0" tIns="0" bIns="0">
            <a:spAutoFit/>
          </a:bodyPr>
          <a:lstStyle/>
          <a:p>
            <a:pPr>
              <a:spcAft>
                <a:spcPts val="400"/>
              </a:spcAft>
              <a:defRPr b="1" sz="1850">
                <a:solidFill>
                  <a:srgbClr val="012036"/>
                </a:solidFill>
                <a:latin typeface="Anova Light"/>
              </a:defRPr>
            </a:pPr>
            <a:r>
              <a:t>4. Supply Adjustment</a:t>
            </a:r>
          </a:p>
          <a:p>
            <a:pPr>
              <a:spcAft>
                <a:spcPts val="1100"/>
              </a:spcAft>
              <a:defRPr sz="1300" b="0">
                <a:solidFill>
                  <a:srgbClr val="15B57B"/>
                </a:solidFill>
                <a:latin typeface="Anova Light"/>
              </a:defRPr>
            </a:pPr>
            <a:r>
              <a:t>Forecasting (ATSM)</a:t>
            </a:r>
          </a:p>
          <a:p>
            <a:pPr>
              <a:spcAft>
                <a:spcPts val="900"/>
              </a:spcAft>
            </a:pPr>
            <a:r>
              <a:rPr b="1" sz="1350">
                <a:solidFill>
                  <a:srgbClr val="012036"/>
                </a:solidFill>
                <a:latin typeface="Anova Light"/>
              </a:rPr>
              <a:t>•  Hierarchical ATSM: </a:t>
            </a:r>
            <a:r>
              <a:rPr b="0" sz="1300">
                <a:solidFill>
                  <a:srgbClr val="141E2A"/>
                </a:solidFill>
                <a:latin typeface="Anova Light"/>
              </a:rPr>
              <a:t>Agent re-runs supply chain forecasting tournament via ATSM.</a:t>
            </a:r>
          </a:p>
          <a:p>
            <a:pPr>
              <a:spcAft>
                <a:spcPts val="900"/>
              </a:spcAft>
            </a:pPr>
            <a:r>
              <a:rPr b="1" sz="1350">
                <a:solidFill>
                  <a:srgbClr val="012036"/>
                </a:solidFill>
                <a:latin typeface="Anova Light"/>
              </a:rPr>
              <a:t>•  Spares Reallocation: </a:t>
            </a:r>
            <a:r>
              <a:rPr b="0" sz="1300">
                <a:solidFill>
                  <a:srgbClr val="141E2A"/>
                </a:solidFill>
                <a:latin typeface="Anova Light"/>
              </a:rPr>
              <a:t>Automatically recalculates spare parts demand and updates regional distribution quotas.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defRPr b="1" sz="3600">
                <a:solidFill>
                  <a:srgbClr val="012036"/>
                </a:solidFill>
                <a:latin typeface="Anova Light"/>
              </a:defRPr>
            </a:pPr>
            <a:r>
              <a:t>Live Agent Demonstration: The 4-Act Operational Walkthrough</a:t>
            </a:r>
          </a:p>
        </p:txBody>
      </p:sp>
      <p:sp>
        <p:nvSpPr>
          <p:cNvPr id="3" name="Text Placeholder 2"/>
          <p:cNvSpPr>
            <a:spLocks noGrp="1"/>
          </p:cNvSpPr>
          <p:nvPr>
            <p:ph type="body" idx="10" sz="quarter"/>
          </p:nvPr>
        </p:nvSpPr>
        <p:spPr/>
        <p:txBody>
          <a:bodyPr wrap="square"/>
          <a:lstStyle/>
          <a:p>
            <a:pPr>
              <a:defRPr sz="1700">
                <a:solidFill>
                  <a:srgbClr val="556473"/>
                </a:solidFill>
                <a:latin typeface="Anova Light"/>
              </a:defRPr>
            </a:pPr>
            <a:r>
              <a:t>Real-Time MCP Interaction Demonstrating Autonomous Analytics on Live SAS Viya Backends</a:t>
            </a:r>
          </a:p>
        </p:txBody>
      </p:sp>
      <p:sp>
        <p:nvSpPr>
          <p:cNvPr id="4" name="Rounded Rectangle 3"/>
          <p:cNvSpPr/>
          <p:nvPr/>
        </p:nvSpPr>
        <p:spPr>
          <a:xfrm>
            <a:off x="914400" y="2331720"/>
            <a:ext cx="3840480" cy="6675120"/>
          </a:xfrm>
          <a:prstGeom prst="roundRect">
            <a:avLst/>
          </a:prstGeom>
          <a:solidFill>
            <a:srgbClr val="FAFCFE"/>
          </a:solidFill>
          <a:ln w="15240">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2331720"/>
            <a:ext cx="3840480" cy="109728"/>
          </a:xfrm>
          <a:prstGeom prst="roundRect">
            <a:avLst/>
          </a:prstGeom>
          <a:solidFill>
            <a:srgbClr val="33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2514600"/>
            <a:ext cx="3474720" cy="6309360"/>
          </a:xfrm>
          <a:prstGeom prst="rect">
            <a:avLst/>
          </a:prstGeom>
          <a:noFill/>
        </p:spPr>
        <p:txBody>
          <a:bodyPr wrap="square" lIns="0" rIns="0" tIns="0" bIns="0">
            <a:spAutoFit/>
          </a:bodyPr>
          <a:lstStyle/>
          <a:p>
            <a:pPr>
              <a:spcAft>
                <a:spcPts val="400"/>
              </a:spcAft>
              <a:defRPr b="1" sz="1850">
                <a:solidFill>
                  <a:srgbClr val="012036"/>
                </a:solidFill>
                <a:latin typeface="Anova Light"/>
              </a:defRPr>
            </a:pPr>
            <a:r>
              <a:t>Act 1: Environment Discovery</a:t>
            </a:r>
          </a:p>
          <a:p>
            <a:pPr>
              <a:spcAft>
                <a:spcPts val="1100"/>
              </a:spcAft>
              <a:defRPr sz="1300" b="0">
                <a:solidFill>
                  <a:srgbClr val="33A3FF"/>
                </a:solidFill>
                <a:latin typeface="Anova Light"/>
              </a:defRPr>
            </a:pPr>
            <a:r>
              <a:t>Zero-Click Discovery</a:t>
            </a:r>
          </a:p>
          <a:p>
            <a:pPr>
              <a:spcAft>
                <a:spcPts val="900"/>
              </a:spcAft>
            </a:pPr>
            <a:r>
              <a:rPr b="1" sz="1350">
                <a:solidFill>
                  <a:srgbClr val="012036"/>
                </a:solidFill>
                <a:latin typeface="Anova Light"/>
              </a:rPr>
              <a:t>•  Agent Prompt: </a:t>
            </a:r>
            <a:r>
              <a:rPr b="0" sz="1300">
                <a:solidFill>
                  <a:srgbClr val="141E2A"/>
                </a:solidFill>
                <a:latin typeface="Anova Light"/>
              </a:rPr>
              <a:t>'Inspect the current Viya environment, list active CAS tables, and check recent FQA data selections.'</a:t>
            </a:r>
          </a:p>
          <a:p>
            <a:pPr>
              <a:spcAft>
                <a:spcPts val="900"/>
              </a:spcAft>
            </a:pPr>
            <a:r>
              <a:rPr b="1" sz="1350">
                <a:solidFill>
                  <a:srgbClr val="012036"/>
                </a:solidFill>
                <a:latin typeface="Anova Light"/>
              </a:rPr>
              <a:t>•  Tools Executed: </a:t>
            </a:r>
            <a:r>
              <a:rPr b="0" sz="1300">
                <a:solidFill>
                  <a:srgbClr val="141E2A"/>
                </a:solidFill>
                <a:latin typeface="Anova Light"/>
              </a:rPr>
              <a:t>list_castables, list_data_selections_tool, get_castable_info.</a:t>
            </a:r>
          </a:p>
          <a:p>
            <a:pPr>
              <a:spcAft>
                <a:spcPts val="900"/>
              </a:spcAft>
            </a:pPr>
            <a:r>
              <a:rPr b="1" sz="1350">
                <a:solidFill>
                  <a:srgbClr val="012036"/>
                </a:solidFill>
                <a:latin typeface="Anova Light"/>
              </a:rPr>
              <a:t>•  Result: </a:t>
            </a:r>
            <a:r>
              <a:rPr b="0" sz="1300">
                <a:solidFill>
                  <a:srgbClr val="141E2A"/>
                </a:solidFill>
                <a:latin typeface="Anova Light"/>
              </a:rPr>
              <a:t>Agent returns structured summary of active bioreactor and warranty cohorts in seconds.</a:t>
            </a:r>
          </a:p>
        </p:txBody>
      </p:sp>
      <p:sp>
        <p:nvSpPr>
          <p:cNvPr id="7" name="Rounded Rectangle 6"/>
          <p:cNvSpPr/>
          <p:nvPr/>
        </p:nvSpPr>
        <p:spPr>
          <a:xfrm>
            <a:off x="5120640" y="2331720"/>
            <a:ext cx="3840480" cy="6675120"/>
          </a:xfrm>
          <a:prstGeom prst="roundRect">
            <a:avLst/>
          </a:prstGeom>
          <a:solidFill>
            <a:srgbClr val="FAFCFE"/>
          </a:solidFill>
          <a:ln w="15240">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120640" y="2331720"/>
            <a:ext cx="3840480" cy="109728"/>
          </a:xfrm>
          <a:prstGeom prst="roundRect">
            <a:avLst/>
          </a:prstGeom>
          <a:solidFill>
            <a:srgbClr val="29D6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303520" y="2514600"/>
            <a:ext cx="3474720" cy="6309360"/>
          </a:xfrm>
          <a:prstGeom prst="rect">
            <a:avLst/>
          </a:prstGeom>
          <a:noFill/>
        </p:spPr>
        <p:txBody>
          <a:bodyPr wrap="square" lIns="0" rIns="0" tIns="0" bIns="0">
            <a:spAutoFit/>
          </a:bodyPr>
          <a:lstStyle/>
          <a:p>
            <a:pPr>
              <a:spcAft>
                <a:spcPts val="400"/>
              </a:spcAft>
              <a:defRPr b="1" sz="1850">
                <a:solidFill>
                  <a:srgbClr val="012036"/>
                </a:solidFill>
                <a:latin typeface="Anova Light"/>
              </a:defRPr>
            </a:pPr>
            <a:r>
              <a:t>Act 2: Warranty Triage</a:t>
            </a:r>
          </a:p>
          <a:p>
            <a:pPr>
              <a:spcAft>
                <a:spcPts val="1100"/>
              </a:spcAft>
              <a:defRPr sz="1300" b="0">
                <a:solidFill>
                  <a:srgbClr val="29D6CD"/>
                </a:solidFill>
                <a:latin typeface="Anova Light"/>
              </a:defRPr>
            </a:pPr>
            <a:r>
              <a:t>Automated Triage</a:t>
            </a:r>
          </a:p>
          <a:p>
            <a:pPr>
              <a:spcAft>
                <a:spcPts val="900"/>
              </a:spcAft>
            </a:pPr>
            <a:r>
              <a:rPr b="1" sz="1350">
                <a:solidFill>
                  <a:srgbClr val="012036"/>
                </a:solidFill>
                <a:latin typeface="Anova Light"/>
              </a:rPr>
              <a:t>•  Agent Prompt: </a:t>
            </a:r>
            <a:r>
              <a:rPr b="0" sz="1300">
                <a:solidFill>
                  <a:srgbClr val="141E2A"/>
                </a:solidFill>
                <a:latin typeface="Anova Light"/>
              </a:rPr>
              <a:t>'Check the latest Emerging Issues run and investigate any alert with excess claims &gt; 25%.'</a:t>
            </a:r>
          </a:p>
          <a:p>
            <a:pPr>
              <a:spcAft>
                <a:spcPts val="900"/>
              </a:spcAft>
            </a:pPr>
            <a:r>
              <a:rPr b="1" sz="1350">
                <a:solidFill>
                  <a:srgbClr val="012036"/>
                </a:solidFill>
                <a:latin typeface="Anova Light"/>
              </a:rPr>
              <a:t>•  Tools Executed: </a:t>
            </a:r>
            <a:r>
              <a:rPr b="0" sz="1300">
                <a:solidFill>
                  <a:srgbClr val="141E2A"/>
                </a:solidFill>
                <a:latin typeface="Anova Light"/>
              </a:rPr>
              <a:t>list_emerging_issue_runs_tool, list_alerts_for_run_tool, run_pareto_analysis_tool.</a:t>
            </a:r>
          </a:p>
          <a:p>
            <a:pPr>
              <a:spcAft>
                <a:spcPts val="900"/>
              </a:spcAft>
            </a:pPr>
            <a:r>
              <a:rPr b="1" sz="1350">
                <a:solidFill>
                  <a:srgbClr val="012036"/>
                </a:solidFill>
                <a:latin typeface="Anova Light"/>
              </a:rPr>
              <a:t>•  Result: </a:t>
            </a:r>
            <a:r>
              <a:rPr b="0" sz="1300">
                <a:solidFill>
                  <a:srgbClr val="141E2A"/>
                </a:solidFill>
                <a:latin typeface="Anova Light"/>
              </a:rPr>
              <a:t>Agent identifies an active defect spike, verifies preflights, and generates an exposure-adjusted Pareto.</a:t>
            </a:r>
          </a:p>
        </p:txBody>
      </p:sp>
      <p:sp>
        <p:nvSpPr>
          <p:cNvPr id="10" name="Rounded Rectangle 9"/>
          <p:cNvSpPr/>
          <p:nvPr/>
        </p:nvSpPr>
        <p:spPr>
          <a:xfrm>
            <a:off x="9326880" y="2331720"/>
            <a:ext cx="3840480" cy="6675120"/>
          </a:xfrm>
          <a:prstGeom prst="roundRect">
            <a:avLst/>
          </a:prstGeom>
          <a:solidFill>
            <a:srgbClr val="FAFCFE"/>
          </a:solidFill>
          <a:ln w="15240">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9326880" y="2331720"/>
            <a:ext cx="3840480" cy="109728"/>
          </a:xfrm>
          <a:prstGeom prst="roundRect">
            <a:avLst/>
          </a:prstGeom>
          <a:solidFill>
            <a:srgbClr val="FFC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509760" y="2514600"/>
            <a:ext cx="3474720" cy="6309360"/>
          </a:xfrm>
          <a:prstGeom prst="rect">
            <a:avLst/>
          </a:prstGeom>
          <a:noFill/>
        </p:spPr>
        <p:txBody>
          <a:bodyPr wrap="square" lIns="0" rIns="0" tIns="0" bIns="0">
            <a:spAutoFit/>
          </a:bodyPr>
          <a:lstStyle/>
          <a:p>
            <a:pPr>
              <a:spcAft>
                <a:spcPts val="400"/>
              </a:spcAft>
              <a:defRPr b="1" sz="1850">
                <a:solidFill>
                  <a:srgbClr val="012036"/>
                </a:solidFill>
                <a:latin typeface="Anova Light"/>
              </a:defRPr>
            </a:pPr>
            <a:r>
              <a:t>Act 3: CAF Deployment</a:t>
            </a:r>
          </a:p>
          <a:p>
            <a:pPr>
              <a:spcAft>
                <a:spcPts val="1100"/>
              </a:spcAft>
              <a:defRPr sz="1300" b="0">
                <a:solidFill>
                  <a:srgbClr val="FFCC32"/>
                </a:solidFill>
                <a:latin typeface="Anova Light"/>
              </a:defRPr>
            </a:pPr>
            <a:r>
              <a:t>Analysis-as-Code</a:t>
            </a:r>
          </a:p>
          <a:p>
            <a:pPr>
              <a:spcAft>
                <a:spcPts val="900"/>
              </a:spcAft>
            </a:pPr>
            <a:r>
              <a:rPr b="1" sz="1350">
                <a:solidFill>
                  <a:srgbClr val="012036"/>
                </a:solidFill>
                <a:latin typeface="Anova Light"/>
              </a:rPr>
              <a:t>•  Agent Prompt: </a:t>
            </a:r>
            <a:r>
              <a:rPr b="0" sz="1300">
                <a:solidFill>
                  <a:srgbClr val="141E2A"/>
                </a:solidFill>
                <a:latin typeface="Anova Light"/>
              </a:rPr>
              <a:t>'Validate the new SVDD anomaly detection package and deploy it to AIoT.'</a:t>
            </a:r>
          </a:p>
          <a:p>
            <a:pPr>
              <a:spcAft>
                <a:spcPts val="900"/>
              </a:spcAft>
            </a:pPr>
            <a:r>
              <a:rPr b="1" sz="1350">
                <a:solidFill>
                  <a:srgbClr val="012036"/>
                </a:solidFill>
                <a:latin typeface="Anova Light"/>
              </a:rPr>
              <a:t>•  Tools Executed: </a:t>
            </a:r>
            <a:r>
              <a:rPr b="0" sz="1300">
                <a:solidFill>
                  <a:srgbClr val="141E2A"/>
                </a:solidFill>
                <a:latin typeface="Anova Light"/>
              </a:rPr>
              <a:t>describe_caf_schema, validate_analysis_type_spec, create_analysis_type.</a:t>
            </a:r>
          </a:p>
          <a:p>
            <a:pPr>
              <a:spcAft>
                <a:spcPts val="900"/>
              </a:spcAft>
            </a:pPr>
            <a:r>
              <a:rPr b="1" sz="1350">
                <a:solidFill>
                  <a:srgbClr val="012036"/>
                </a:solidFill>
                <a:latin typeface="Anova Light"/>
              </a:rPr>
              <a:t>•  Result: </a:t>
            </a:r>
            <a:r>
              <a:rPr b="0" sz="1300">
                <a:solidFill>
                  <a:srgbClr val="141E2A"/>
                </a:solidFill>
                <a:latin typeface="Anova Light"/>
              </a:rPr>
              <a:t>Agent lints XML tokens, checks BIRD bindings, and registers the custom analytic in Viya.</a:t>
            </a:r>
          </a:p>
        </p:txBody>
      </p:sp>
      <p:sp>
        <p:nvSpPr>
          <p:cNvPr id="13" name="Rounded Rectangle 12"/>
          <p:cNvSpPr/>
          <p:nvPr/>
        </p:nvSpPr>
        <p:spPr>
          <a:xfrm>
            <a:off x="13533120" y="2331720"/>
            <a:ext cx="3840480" cy="6675120"/>
          </a:xfrm>
          <a:prstGeom prst="roundRect">
            <a:avLst/>
          </a:prstGeom>
          <a:solidFill>
            <a:srgbClr val="FAFCFE"/>
          </a:solidFill>
          <a:ln w="15240">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13533120" y="2331720"/>
            <a:ext cx="3840480" cy="109728"/>
          </a:xfrm>
          <a:prstGeom prst="roundRect">
            <a:avLst/>
          </a:prstGeom>
          <a:solidFill>
            <a:srgbClr val="15B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3716000" y="2514600"/>
            <a:ext cx="3474720" cy="6309360"/>
          </a:xfrm>
          <a:prstGeom prst="rect">
            <a:avLst/>
          </a:prstGeom>
          <a:noFill/>
        </p:spPr>
        <p:txBody>
          <a:bodyPr wrap="square" lIns="0" rIns="0" tIns="0" bIns="0">
            <a:spAutoFit/>
          </a:bodyPr>
          <a:lstStyle/>
          <a:p>
            <a:pPr>
              <a:spcAft>
                <a:spcPts val="400"/>
              </a:spcAft>
              <a:defRPr b="1" sz="1850">
                <a:solidFill>
                  <a:srgbClr val="012036"/>
                </a:solidFill>
                <a:latin typeface="Anova Light"/>
              </a:defRPr>
            </a:pPr>
            <a:r>
              <a:t>Act 4: Narrative Synthesis</a:t>
            </a:r>
          </a:p>
          <a:p>
            <a:pPr>
              <a:spcAft>
                <a:spcPts val="1100"/>
              </a:spcAft>
              <a:defRPr sz="1300" b="0">
                <a:solidFill>
                  <a:srgbClr val="15B57B"/>
                </a:solidFill>
                <a:latin typeface="Anova Light"/>
              </a:defRPr>
            </a:pPr>
            <a:r>
              <a:t>Verified Briefing</a:t>
            </a:r>
          </a:p>
          <a:p>
            <a:pPr>
              <a:spcAft>
                <a:spcPts val="900"/>
              </a:spcAft>
            </a:pPr>
            <a:r>
              <a:rPr b="1" sz="1350">
                <a:solidFill>
                  <a:srgbClr val="012036"/>
                </a:solidFill>
                <a:latin typeface="Anova Light"/>
              </a:rPr>
              <a:t>•  Agent Output: </a:t>
            </a:r>
            <a:r>
              <a:rPr b="0" sz="1300">
                <a:solidFill>
                  <a:srgbClr val="141E2A"/>
                </a:solidFill>
                <a:latin typeface="Anova Light"/>
              </a:rPr>
              <a:t>Synthesizes complete engineering root-cause brief with exact VIN boundaries and supplier chargeback numbers.</a:t>
            </a:r>
          </a:p>
          <a:p>
            <a:pPr>
              <a:spcAft>
                <a:spcPts val="900"/>
              </a:spcAft>
            </a:pPr>
            <a:r>
              <a:rPr b="1" sz="1350">
                <a:solidFill>
                  <a:srgbClr val="012036"/>
                </a:solidFill>
                <a:latin typeface="Anova Light"/>
              </a:rPr>
              <a:t>•  Evidence: </a:t>
            </a:r>
            <a:r>
              <a:rPr b="0" sz="1300">
                <a:solidFill>
                  <a:srgbClr val="141E2A"/>
                </a:solidFill>
                <a:latin typeface="Anova Light"/>
              </a:rPr>
              <a:t>Every statistic links to verified CAS tables and procedure logs.</a:t>
            </a:r>
          </a:p>
          <a:p>
            <a:pPr>
              <a:spcAft>
                <a:spcPts val="900"/>
              </a:spcAft>
            </a:pPr>
            <a:r>
              <a:rPr b="1" sz="1350">
                <a:solidFill>
                  <a:srgbClr val="012036"/>
                </a:solidFill>
                <a:latin typeface="Anova Light"/>
              </a:rPr>
              <a:t>•  Zero Hallucinations: </a:t>
            </a:r>
            <a:r>
              <a:rPr b="0" sz="1300">
                <a:solidFill>
                  <a:srgbClr val="141E2A"/>
                </a:solidFill>
                <a:latin typeface="Anova Light"/>
              </a:rPr>
              <a:t>Audit-ready report ready for engineering leadership.</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b="1" sz="4400">
                <a:latin typeface="Anova Light"/>
              </a:defRPr>
            </a:pPr>
            <a:r>
              <a:t>Autonomous Analytics on SAS Viya</a:t>
            </a:r>
          </a:p>
        </p:txBody>
      </p:sp>
      <p:sp>
        <p:nvSpPr>
          <p:cNvPr id="3" name="Text Placeholder 2"/>
          <p:cNvSpPr>
            <a:spLocks noGrp="1"/>
          </p:cNvSpPr>
          <p:nvPr>
            <p:ph type="body" idx="11" sz="quarter"/>
          </p:nvPr>
        </p:nvSpPr>
        <p:spPr/>
        <p:txBody>
          <a:bodyPr/>
          <a:lstStyle/>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DESIGN_ID_1_2020-TEMPLATE-EXTERNAL" val="pdtUH84H"/>
  <p:tag name="ARTICULATE_DESIGN_ID_SAS-EXTERNAL-16X9-2023" val="CJxW6PTk"/>
  <p:tag name="ARTICULATE_DESIGN_ID_1_NDA" val="5KPCLKMf"/>
  <p:tag name="ARTICULATE_DESIGN_ID_1_SAS-EXTERNAL-16X9-2023" val="OvZPFYIY"/>
  <p:tag name="ARTICULATE_DESIGN_ID_SAS - EXTERNAL - 16X9 - 2023" val="iju6vBOG"/>
  <p:tag name="ARTICULATE_DESIGN_ID_SAS - EXTERNAL" val="IZ9bNYet"/>
  <p:tag name="ARTICULATE_DESIGN_ID_SAS - EXTERNAL - NDA" val="RR4fBfJW"/>
  <p:tag name="ARTICULATE_SLIDE_THUMBNAIL_REFRESH" val="1"/>
  <p:tag name="ARTICULATE_DESIGN_ID_CUSTOM DESIGN" val="WASRYxhz"/>
  <p:tag name="ARTICULATE_SLIDE_COUNT" val="12"/>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SAS - EXTERNAL">
  <a:themeElements>
    <a:clrScheme name="SAS-2023">
      <a:dk1>
        <a:srgbClr val="000000"/>
      </a:dk1>
      <a:lt1>
        <a:srgbClr val="FFFFFF"/>
      </a:lt1>
      <a:dk2>
        <a:srgbClr val="032954"/>
      </a:dk2>
      <a:lt2>
        <a:srgbClr val="0766D1"/>
      </a:lt2>
      <a:accent1>
        <a:srgbClr val="0766D1"/>
      </a:accent1>
      <a:accent2>
        <a:srgbClr val="4398F9"/>
      </a:accent2>
      <a:accent3>
        <a:srgbClr val="C4DEFD"/>
      </a:accent3>
      <a:accent4>
        <a:srgbClr val="032954"/>
      </a:accent4>
      <a:accent5>
        <a:srgbClr val="7E889A"/>
      </a:accent5>
      <a:accent6>
        <a:srgbClr val="BAC0C9"/>
      </a:accent6>
      <a:hlink>
        <a:srgbClr val="4398F9"/>
      </a:hlink>
      <a:folHlink>
        <a:srgbClr val="C4DEFD"/>
      </a:folHlink>
    </a:clrScheme>
    <a:fontScheme name="Anova">
      <a:majorFont>
        <a:latin typeface="Anova Bold"/>
        <a:ea typeface=""/>
        <a:cs typeface=""/>
      </a:majorFont>
      <a:minorFont>
        <a:latin typeface="Anova Ligh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25400">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dirty="0" smtClean="0">
            <a:solidFill>
              <a:schemeClr val="tx1"/>
            </a:solidFill>
          </a:defRPr>
        </a:defPPr>
      </a:lstStyle>
    </a:txDef>
  </a:objectDefaults>
  <a:extraClrSchemeLst/>
  <a:extLst>
    <a:ext uri="{05A4C25C-085E-4340-85A3-A5531E510DB2}">
      <thm15:themeFamily xmlns:thm15="http://schemas.microsoft.com/office/thememl/2012/main" name="EXTERNAL_Template.potx" id="{CFA25634-811F-4F16-8A4B-C586189B209A}" vid="{2CB0AE9F-0DE9-4D05-9312-E5954EA5056B}"/>
    </a:ext>
  </a:extLst>
</a:theme>
</file>

<file path=ppt/theme/theme2.xml><?xml version="1.0" encoding="utf-8"?>
<a:theme xmlns:a="http://schemas.openxmlformats.org/drawingml/2006/main" name="SAS - EXTERNAL - NDA">
  <a:themeElements>
    <a:clrScheme name="SAS-2023">
      <a:dk1>
        <a:srgbClr val="000000"/>
      </a:dk1>
      <a:lt1>
        <a:srgbClr val="FFFFFF"/>
      </a:lt1>
      <a:dk2>
        <a:srgbClr val="032954"/>
      </a:dk2>
      <a:lt2>
        <a:srgbClr val="0766D1"/>
      </a:lt2>
      <a:accent1>
        <a:srgbClr val="0766D1"/>
      </a:accent1>
      <a:accent2>
        <a:srgbClr val="4398F9"/>
      </a:accent2>
      <a:accent3>
        <a:srgbClr val="C4DEFD"/>
      </a:accent3>
      <a:accent4>
        <a:srgbClr val="032954"/>
      </a:accent4>
      <a:accent5>
        <a:srgbClr val="7E889A"/>
      </a:accent5>
      <a:accent6>
        <a:srgbClr val="BAC0C9"/>
      </a:accent6>
      <a:hlink>
        <a:srgbClr val="4398F9"/>
      </a:hlink>
      <a:folHlink>
        <a:srgbClr val="C4DEFD"/>
      </a:folHlink>
    </a:clrScheme>
    <a:fontScheme name="Anova">
      <a:majorFont>
        <a:latin typeface="Anova Bold"/>
        <a:ea typeface=""/>
        <a:cs typeface=""/>
      </a:majorFont>
      <a:minorFont>
        <a:latin typeface="Anova Ligh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25400">
          <a:tailEnd type="triangl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dirty="0" smtClean="0">
            <a:solidFill>
              <a:schemeClr val="tx1"/>
            </a:solidFill>
          </a:defRPr>
        </a:defPPr>
      </a:lstStyle>
    </a:txDef>
  </a:objectDefaults>
  <a:extraClrSchemeLst/>
  <a:extLst>
    <a:ext uri="{05A4C25C-085E-4340-85A3-A5531E510DB2}">
      <thm15:themeFamily xmlns:thm15="http://schemas.microsoft.com/office/thememl/2012/main" name="EXTERNAL_Template.potx" id="{CFA25634-811F-4F16-8A4B-C586189B209A}" vid="{D086B00A-9DDF-4BDB-9663-664C12842A9B}"/>
    </a:ext>
  </a:extLst>
</a:theme>
</file>

<file path=ppt/theme/theme3.xml><?xml version="1.0" encoding="utf-8"?>
<a:theme xmlns:a="http://schemas.openxmlformats.org/drawingml/2006/main" name="Office Theme">
  <a:themeElements>
    <a:clrScheme name="SAS-2023">
      <a:dk1>
        <a:srgbClr val="000000"/>
      </a:dk1>
      <a:lt1>
        <a:srgbClr val="FFFFFF"/>
      </a:lt1>
      <a:dk2>
        <a:srgbClr val="032954"/>
      </a:dk2>
      <a:lt2>
        <a:srgbClr val="0766D1"/>
      </a:lt2>
      <a:accent1>
        <a:srgbClr val="0766D1"/>
      </a:accent1>
      <a:accent2>
        <a:srgbClr val="4398F9"/>
      </a:accent2>
      <a:accent3>
        <a:srgbClr val="C4DEFD"/>
      </a:accent3>
      <a:accent4>
        <a:srgbClr val="032954"/>
      </a:accent4>
      <a:accent5>
        <a:srgbClr val="7E889A"/>
      </a:accent5>
      <a:accent6>
        <a:srgbClr val="BAC0C9"/>
      </a:accent6>
      <a:hlink>
        <a:srgbClr val="4398F9"/>
      </a:hlink>
      <a:folHlink>
        <a:srgbClr val="C4DEFD"/>
      </a:folHlink>
    </a:clrScheme>
    <a:fontScheme name="Anova">
      <a:majorFont>
        <a:latin typeface="Anova Bold"/>
        <a:ea typeface=""/>
        <a:cs typeface=""/>
      </a:majorFont>
      <a:minorFont>
        <a:latin typeface="A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SAS-2023">
      <a:dk1>
        <a:srgbClr val="000000"/>
      </a:dk1>
      <a:lt1>
        <a:srgbClr val="FFFFFF"/>
      </a:lt1>
      <a:dk2>
        <a:srgbClr val="032954"/>
      </a:dk2>
      <a:lt2>
        <a:srgbClr val="0766D1"/>
      </a:lt2>
      <a:accent1>
        <a:srgbClr val="0766D1"/>
      </a:accent1>
      <a:accent2>
        <a:srgbClr val="4398F9"/>
      </a:accent2>
      <a:accent3>
        <a:srgbClr val="C4DEFD"/>
      </a:accent3>
      <a:accent4>
        <a:srgbClr val="032954"/>
      </a:accent4>
      <a:accent5>
        <a:srgbClr val="7E889A"/>
      </a:accent5>
      <a:accent6>
        <a:srgbClr val="BAC0C9"/>
      </a:accent6>
      <a:hlink>
        <a:srgbClr val="4398F9"/>
      </a:hlink>
      <a:folHlink>
        <a:srgbClr val="C4DEFD"/>
      </a:folHlink>
    </a:clrScheme>
    <a:fontScheme name="Anova">
      <a:majorFont>
        <a:latin typeface="Anova Bold"/>
        <a:ea typeface=""/>
        <a:cs typeface=""/>
      </a:majorFont>
      <a:minorFont>
        <a:latin typeface="A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8252B48C136D414EB12EC6609A2B4A69" ma:contentTypeVersion="8" ma:contentTypeDescription="Create a new document." ma:contentTypeScope="" ma:versionID="2e7a1e4abb333ba512cf18d28f7f8ecc">
  <xsd:schema xmlns:xsd="http://www.w3.org/2001/XMLSchema" xmlns:xs="http://www.w3.org/2001/XMLSchema" xmlns:p="http://schemas.microsoft.com/office/2006/metadata/properties" xmlns:ns1="http://schemas.microsoft.com/sharepoint/v3" xmlns:ns2="d21cdafc-5a3a-425e-9674-4fb06b514c0e" xmlns:ns3="6e647c50-2143-4825-9865-d236e7692e65" targetNamespace="http://schemas.microsoft.com/office/2006/metadata/properties" ma:root="true" ma:fieldsID="1cb95563b7c991e6356f6b6a60898c3b" ns1:_="" ns2:_="" ns3:_="">
    <xsd:import namespace="http://schemas.microsoft.com/sharepoint/v3"/>
    <xsd:import namespace="d21cdafc-5a3a-425e-9674-4fb06b514c0e"/>
    <xsd:import namespace="6e647c50-2143-4825-9865-d236e7692e65"/>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3:SharedWithUsers" minOccurs="0"/>
                <xsd:element ref="ns3:SharedWithDetails" minOccurs="0"/>
                <xsd:element ref="ns2:MediaServiceSearchProperties"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4" nillable="true" ma:displayName="Unified Compliance Policy Properties" ma:hidden="true" ma:internalName="_ip_UnifiedCompliancePolicyProperties">
      <xsd:simpleType>
        <xsd:restriction base="dms:Note"/>
      </xsd:simpleType>
    </xsd:element>
    <xsd:element name="_ip_UnifiedCompliancePolicyUIAction" ma:index="15"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21cdafc-5a3a-425e-9674-4fb06b514c0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3"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e647c50-2143-4825-9865-d236e7692e65"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2663518-7548-4643-8219-608BFF0DFA0C}">
  <ds:schemaRefs>
    <ds:schemaRef ds:uri="http://purl.org/dc/terms/"/>
    <ds:schemaRef ds:uri="http://schemas.openxmlformats.org/package/2006/metadata/core-properties"/>
    <ds:schemaRef ds:uri="d21cdafc-5a3a-425e-9674-4fb06b514c0e"/>
    <ds:schemaRef ds:uri="http://schemas.microsoft.com/office/2006/documentManagement/types"/>
    <ds:schemaRef ds:uri="http://schemas.microsoft.com/office/infopath/2007/PartnerControls"/>
    <ds:schemaRef ds:uri="http://purl.org/dc/elements/1.1/"/>
    <ds:schemaRef ds:uri="http://schemas.microsoft.com/office/2006/metadata/properties"/>
    <ds:schemaRef ds:uri="6e647c50-2143-4825-9865-d236e7692e65"/>
    <ds:schemaRef ds:uri="http://www.w3.org/XML/1998/namespace"/>
    <ds:schemaRef ds:uri="http://purl.org/dc/dcmitype/"/>
    <ds:schemaRef ds:uri="http://schemas.microsoft.com/sharepoint/v3"/>
  </ds:schemaRefs>
</ds:datastoreItem>
</file>

<file path=customXml/itemProps2.xml><?xml version="1.0" encoding="utf-8"?>
<ds:datastoreItem xmlns:ds="http://schemas.openxmlformats.org/officeDocument/2006/customXml" ds:itemID="{A2BE8416-DA23-4920-B2B6-CC929819514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d21cdafc-5a3a-425e-9674-4fb06b514c0e"/>
    <ds:schemaRef ds:uri="6e647c50-2143-4825-9865-d236e7692e6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3E925E4-5239-4639-A029-07B3CFD6A3F1}">
  <ds:schemaRefs>
    <ds:schemaRef ds:uri="http://schemas.microsoft.com/sharepoint/v3/contenttype/forms"/>
  </ds:schemaRefs>
</ds:datastoreItem>
</file>

<file path=docMetadata/LabelInfo.xml><?xml version="1.0" encoding="utf-8"?>
<clbl:labelList xmlns:clbl="http://schemas.microsoft.com/office/2020/mipLabelMetadata">
  <clbl:label id="{e1c8c91a-c872-4000-818b-3383c70fafcf}" enabled="1" method="Privileged" siteId="{b1c14d5c-3625-45b3-a430-9552373a0c2f}" contentBits="0" removed="0"/>
</clbl:labelList>
</file>

<file path=docProps/app.xml><?xml version="1.0" encoding="utf-8"?>
<Properties xmlns="http://schemas.openxmlformats.org/officeDocument/2006/extended-properties" xmlns:vt="http://schemas.openxmlformats.org/officeDocument/2006/docPropsVTypes">
  <Template>EXTERNAL_Template</Template>
  <TotalTime>0</TotalTime>
  <Words>1211</Words>
  <Application>Microsoft Office PowerPoint</Application>
  <PresentationFormat>Custom</PresentationFormat>
  <Paragraphs>184</Paragraphs>
  <Slides>12</Slides>
  <Notes>12</Notes>
  <HiddenSlides>5</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12</vt:i4>
      </vt:variant>
    </vt:vector>
  </HeadingPairs>
  <TitlesOfParts>
    <vt:vector size="18" baseType="lpstr">
      <vt:lpstr>Calibri</vt:lpstr>
      <vt:lpstr>Anova Bold</vt:lpstr>
      <vt:lpstr>Anova Light</vt:lpstr>
      <vt:lpstr>Arial</vt:lpstr>
      <vt:lpstr>SAS - EXTERNAL</vt:lpstr>
      <vt:lpstr>SAS - EXTERNAL - NDA</vt:lpstr>
      <vt:lpstr>SAS External  PowerPoint </vt:lpstr>
      <vt:lpstr>HOW TO INSERT SLIDES</vt:lpstr>
      <vt:lpstr>HOW TO SAVE AS A PDF</vt:lpstr>
      <vt:lpstr>HOW TO LOCATE ICONS</vt:lpstr>
      <vt:lpstr>HOW TO USE ICONS</vt:lpstr>
      <vt:lpstr>HOW TO USE SAS COLORS</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Martin Schütz</dc:creator>
  <cp:lastModifiedBy>Martin Schütz</cp:lastModifiedBy>
  <cp:revision>1</cp:revision>
  <dcterms:created xsi:type="dcterms:W3CDTF">2026-10-12T07:47:46Z</dcterms:created>
  <dcterms:modified xsi:type="dcterms:W3CDTF">2026-10-12T07:48:07Z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451006F2-8E20-4D4E-B05C-4B5D02827FD6</vt:lpwstr>
  </property>
  <property fmtid="{D5CDD505-2E9C-101B-9397-08002B2CF9AE}" pid="3" name="ArticulatePath">
    <vt:lpwstr>2020-Template-External</vt:lpwstr>
  </property>
  <property fmtid="{D5CDD505-2E9C-101B-9397-08002B2CF9AE}" pid="4" name="ContentTypeId">
    <vt:lpwstr>0x0101008252B48C136D414EB12EC6609A2B4A69</vt:lpwstr>
  </property>
</Properties>
</file>